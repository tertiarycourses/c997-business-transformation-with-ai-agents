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7" r:id="rId18"/>
    <p:sldId id="268" r:id="rId19"/>
    <p:sldId id="269" r:id="rId20"/>
    <p:sldId id="270" r:id="rId21"/>
    <p:sldId id="271" r:id="rId22"/>
    <p:sldId id="272" r:id="rId23"/>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2" r:id="rId113"/>
    <p:sldId id="363"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3" Type="http://schemas.openxmlformats.org/officeDocument/2006/relationships/slide" Target="slides/slide98.xml"/><Relationship Id="rId114" Type="http://schemas.openxmlformats.org/officeDocument/2006/relationships/slide" Target="slides/slide9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erplexity.ai" TargetMode="External"/><Relationship Id="rId3" Type="http://schemas.openxmlformats.org/officeDocument/2006/relationships/hyperlink" Target="https://notebooklm.google.com" TargetMode="External"/><Relationship Id="rId4" Type="http://schemas.openxmlformats.org/officeDocument/2006/relationships/hyperlink" Target="https://chat.openai.com" TargetMode="External"/><Relationship Id="rId5" Type="http://schemas.openxmlformats.org/officeDocument/2006/relationships/hyperlink" Target="https://gemini.google.com" TargetMode="External"/><Relationship Id="rId6" Type="http://schemas.openxmlformats.org/officeDocument/2006/relationships/hyperlink" Target="https://copilot.microsoft.com" TargetMode="External"/><Relationship Id="rId7" Type="http://schemas.openxmlformats.org/officeDocument/2006/relationships/hyperlink" Target="https://alfredang.github.io/designthinking/" TargetMode="External"/><Relationship Id="rId8" Type="http://schemas.openxmlformats.org/officeDocument/2006/relationships/hyperlink" Target="https://alfredang.github.io/bc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levenlabs.io" TargetMode="External"/><Relationship Id="rId3" Type="http://schemas.openxmlformats.org/officeDocument/2006/relationships/hyperlink" Target="https://suno.com" TargetMode="External"/><Relationship Id="rId4" Type="http://schemas.openxmlformats.org/officeDocument/2006/relationships/hyperlink" Target="https://klingai.com" TargetMode="External"/><Relationship Id="rId5" Type="http://schemas.openxmlformats.org/officeDocument/2006/relationships/hyperlink" Target="https://www.capcut.com" TargetMode="External"/><Relationship Id="rId6" Type="http://schemas.openxmlformats.org/officeDocument/2006/relationships/hyperlink" Target="https://gamma.app" TargetMode="External"/><Relationship Id="rId7" Type="http://schemas.openxmlformats.org/officeDocument/2006/relationships/hyperlink" Target="https://n8n.i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lfredang.github.io/designthinking/" TargetMode="External"/><Relationship Id="rId3" Type="http://schemas.openxmlformats.org/officeDocument/2006/relationships/hyperlink" Target="https://alfredang.github.io/bcm/" TargetMode="External"/><Relationship Id="rId4" Type="http://schemas.openxmlformats.org/officeDocument/2006/relationships/hyperlink" Target="https://Share the Canvas ID" TargetMode="External"/><Relationship Id="rId5" Type="http://schemas.openxmlformats.org/officeDocument/2006/relationships/hyperlink" Target="https://Real-time sticky notes" TargetMode="External"/><Relationship Id="rId6" Type="http://schemas.openxmlformats.org/officeDocument/2006/relationships/hyperlink" Target="https://Strategyzer prompts built in" TargetMode="External"/><Relationship Id="rId7" Type="http://schemas.openxmlformats.org/officeDocument/2006/relationships/hyperlink" Target="https://Category &#183; priority &#183; status" TargetMode="External"/><Relationship Id="rId8" Type="http://schemas.openxmlformats.org/officeDocument/2006/relationships/hyperlink" Target="https://Screenshot or share link"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12680" y="658368"/>
            <a:ext cx="14630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12680" y="768096"/>
            <a:ext cx="1463040" cy="457200"/>
          </a:xfrm>
          <a:prstGeom prst="rect">
            <a:avLst/>
          </a:prstGeom>
          <a:noFill/>
        </p:spPr>
        <p:txBody>
          <a:bodyPr wrap="square" anchor="t">
            <a:spAutoFit/>
          </a:bodyPr>
          <a:lstStyle/>
          <a:p>
            <a:pPr algn="ctr">
              <a:spcAft>
                <a:spcPts val="400"/>
              </a:spcAft>
            </a:pPr>
            <a:r>
              <a:rPr sz="2000" b="1">
                <a:solidFill>
                  <a:srgbClr val="FFFFFF"/>
                </a:solidFill>
                <a:latin typeface="Arial"/>
              </a:rPr>
              <a:t>GenAI</a:t>
            </a:r>
          </a:p>
        </p:txBody>
      </p:sp>
      <p:sp>
        <p:nvSpPr>
          <p:cNvPr id="8" name="TextBox 7"/>
          <p:cNvSpPr txBox="1"/>
          <p:nvPr/>
        </p:nvSpPr>
        <p:spPr>
          <a:xfrm>
            <a:off x="10012680" y="1188720"/>
            <a:ext cx="1463040" cy="365760"/>
          </a:xfrm>
          <a:prstGeom prst="rect">
            <a:avLst/>
          </a:prstGeom>
          <a:noFill/>
        </p:spPr>
        <p:txBody>
          <a:bodyPr wrap="square" anchor="t">
            <a:spAutoFit/>
          </a:bodyPr>
          <a:lstStyle/>
          <a:p>
            <a:pPr algn="ctr">
              <a:spcAft>
                <a:spcPts val="400"/>
              </a:spcAft>
            </a:pPr>
            <a:r>
              <a:rPr sz="800" b="1">
                <a:solidFill>
                  <a:srgbClr val="FFFFFF"/>
                </a:solidFill>
                <a:latin typeface="Arial"/>
              </a:rPr>
              <a:t>NON-WSQ · 2 DAYS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Business Transformation with AI Agents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C997</a:t>
            </a:r>
          </a:p>
          <a:p>
            <a:r>
              <a:rPr sz="1600" b="0">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 October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Generative AI, digital transformation and data analytics — 20+ years in technology and innovation.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Courses on generative AI, business innovation, automation and data science.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Which generative AI tools you already use, and what for.</a:t>
            </a:r>
          </a:p>
          <a:p>
            <a:pPr>
              <a:spcAft>
                <a:spcPts val="1000"/>
              </a:spcAft>
            </a:pPr>
            <a:r>
              <a:rPr sz="2000" b="0">
                <a:solidFill>
                  <a:srgbClr val="161B26"/>
                </a:solidFill>
                <a:latin typeface="Arial"/>
              </a:rPr>
              <a:t>•  One business problem in your organisation you would like GenAI to solve.</a:t>
            </a:r>
          </a:p>
          <a:p>
            <a:pPr>
              <a:spcAft>
                <a:spcPts val="1000"/>
              </a:spcAft>
            </a:pPr>
            <a:r>
              <a:rPr sz="2000" b="0">
                <a:solidFill>
                  <a:srgbClr val="161B26"/>
                </a:solidFill>
                <a:latin typeface="Arial"/>
              </a:rPr>
              <a:t>•  What you want to be able to do by the end of Day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Attend both days in full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 / TMS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035040" cy="3794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035040" cy="3840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0195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61288" y="190195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90195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65376"/>
            <a:ext cx="4800600" cy="228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47088"/>
            <a:ext cx="4663440" cy="256032"/>
          </a:xfrm>
          <a:prstGeom prst="rect">
            <a:avLst/>
          </a:prstGeom>
          <a:noFill/>
        </p:spPr>
        <p:txBody>
          <a:bodyPr wrap="square" anchor="ctr">
            <a:spAutoFit/>
          </a:bodyPr>
          <a:lstStyle/>
          <a:p>
            <a:pPr algn="l">
              <a:spcAft>
                <a:spcPts val="400"/>
              </a:spcAft>
            </a:pPr>
            <a:r>
              <a:rPr sz="1000" b="0">
                <a:solidFill>
                  <a:srgbClr val="1F6FEB"/>
                </a:solidFill>
                <a:latin typeface="Arial"/>
              </a:rPr>
              <a:t>https://lms-tms.tertiaryinfotech.com</a:t>
            </a:r>
          </a:p>
        </p:txBody>
      </p:sp>
      <p:sp>
        <p:nvSpPr>
          <p:cNvPr id="14" name="TextBox 13"/>
          <p:cNvSpPr txBox="1"/>
          <p:nvPr/>
        </p:nvSpPr>
        <p:spPr>
          <a:xfrm>
            <a:off x="1051560" y="2350008"/>
            <a:ext cx="5486400" cy="365760"/>
          </a:xfrm>
          <a:prstGeom prst="rect">
            <a:avLst/>
          </a:prstGeom>
          <a:noFill/>
        </p:spPr>
        <p:txBody>
          <a:bodyPr wrap="square" anchor="t">
            <a:spAutoFit/>
          </a:bodyPr>
          <a:lstStyle/>
          <a:p>
            <a:pPr algn="l">
              <a:spcAft>
                <a:spcPts val="400"/>
              </a:spcAft>
            </a:pPr>
            <a:r>
              <a:rPr sz="1100" b="0">
                <a:solidFill>
                  <a:srgbClr val="5B6372"/>
                </a:solidFill>
                <a:latin typeface="Arial"/>
              </a:rPr>
              <a:t>My Courses  ›  Business Transformation with AI Agents</a:t>
            </a:r>
            <a:r>
              <a:rPr sz="1100" b="1">
                <a:solidFill>
                  <a:srgbClr val="161B26"/>
                </a:solidFill>
                <a:latin typeface="Arial"/>
              </a:rPr>
              <a:t/>
            </a:r>
          </a:p>
        </p:txBody>
      </p:sp>
      <p:sp>
        <p:nvSpPr>
          <p:cNvPr id="15" name="Rectangle 14"/>
          <p:cNvSpPr/>
          <p:nvPr/>
        </p:nvSpPr>
        <p:spPr>
          <a:xfrm>
            <a:off x="1051560" y="2834640"/>
            <a:ext cx="548640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51560" y="2834640"/>
            <a:ext cx="73152" cy="4937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2834640"/>
            <a:ext cx="3291840" cy="493776"/>
          </a:xfrm>
          <a:prstGeom prst="rect">
            <a:avLst/>
          </a:prstGeom>
          <a:noFill/>
        </p:spPr>
        <p:txBody>
          <a:bodyPr wrap="square" anchor="ctr">
            <a:spAutoFit/>
          </a:bodyPr>
          <a:lstStyle/>
          <a:p>
            <a:pPr algn="l">
              <a:spcAft>
                <a:spcPts val="400"/>
              </a:spcAft>
            </a:pPr>
            <a:r>
              <a:rPr sz="1200" b="0">
                <a:solidFill>
                  <a:srgbClr val="161B26"/>
                </a:solidFill>
                <a:latin typeface="Arial"/>
              </a:rPr>
              <a:t>Trainer Slides (PPT)</a:t>
            </a:r>
          </a:p>
        </p:txBody>
      </p:sp>
      <p:sp>
        <p:nvSpPr>
          <p:cNvPr id="18" name="Rectangle 17"/>
          <p:cNvSpPr/>
          <p:nvPr/>
        </p:nvSpPr>
        <p:spPr>
          <a:xfrm>
            <a:off x="5394960" y="2935224"/>
            <a:ext cx="105156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2935224"/>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20" name="Rectangle 19"/>
          <p:cNvSpPr/>
          <p:nvPr/>
        </p:nvSpPr>
        <p:spPr>
          <a:xfrm>
            <a:off x="1051560" y="3438144"/>
            <a:ext cx="548640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438144"/>
            <a:ext cx="73152" cy="4937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3438144"/>
            <a:ext cx="3291840" cy="493776"/>
          </a:xfrm>
          <a:prstGeom prst="rect">
            <a:avLst/>
          </a:prstGeom>
          <a:noFill/>
        </p:spPr>
        <p:txBody>
          <a:bodyPr wrap="square" anchor="ctr">
            <a:spAutoFit/>
          </a:bodyPr>
          <a:lstStyle/>
          <a:p>
            <a:pPr algn="l">
              <a:spcAft>
                <a:spcPts val="400"/>
              </a:spcAft>
            </a:pPr>
            <a:r>
              <a:rPr sz="1200" b="0">
                <a:solidFill>
                  <a:srgbClr val="161B26"/>
                </a:solidFill>
                <a:latin typeface="Arial"/>
              </a:rPr>
              <a:t>Learner Slides (PDF)</a:t>
            </a:r>
          </a:p>
        </p:txBody>
      </p:sp>
      <p:sp>
        <p:nvSpPr>
          <p:cNvPr id="23" name="Rectangle 22"/>
          <p:cNvSpPr/>
          <p:nvPr/>
        </p:nvSpPr>
        <p:spPr>
          <a:xfrm>
            <a:off x="5394960" y="3538728"/>
            <a:ext cx="1051560" cy="2926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3538728"/>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25" name="Rectangle 24"/>
          <p:cNvSpPr/>
          <p:nvPr/>
        </p:nvSpPr>
        <p:spPr>
          <a:xfrm>
            <a:off x="1051560" y="4041648"/>
            <a:ext cx="548640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4041648"/>
            <a:ext cx="73152" cy="4937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4041648"/>
            <a:ext cx="3291840" cy="493776"/>
          </a:xfrm>
          <a:prstGeom prst="rect">
            <a:avLst/>
          </a:prstGeom>
          <a:noFill/>
        </p:spPr>
        <p:txBody>
          <a:bodyPr wrap="square" anchor="ctr">
            <a:spAutoFit/>
          </a:bodyPr>
          <a:lstStyle/>
          <a:p>
            <a:pPr algn="l">
              <a:spcAft>
                <a:spcPts val="400"/>
              </a:spcAft>
            </a:pPr>
            <a:r>
              <a:rPr sz="1200" b="0">
                <a:solidFill>
                  <a:srgbClr val="161B26"/>
                </a:solidFill>
                <a:latin typeface="Arial"/>
              </a:rPr>
              <a:t>Learner Guide (PDF)</a:t>
            </a:r>
          </a:p>
        </p:txBody>
      </p:sp>
      <p:sp>
        <p:nvSpPr>
          <p:cNvPr id="28" name="Rectangle 27"/>
          <p:cNvSpPr/>
          <p:nvPr/>
        </p:nvSpPr>
        <p:spPr>
          <a:xfrm>
            <a:off x="5394960" y="4142232"/>
            <a:ext cx="1051560" cy="2926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0" y="4142232"/>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30" name="Rectangle 29"/>
          <p:cNvSpPr/>
          <p:nvPr/>
        </p:nvSpPr>
        <p:spPr>
          <a:xfrm>
            <a:off x="1051560" y="4645152"/>
            <a:ext cx="548640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51560" y="4645152"/>
            <a:ext cx="73152"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80160" y="4645152"/>
            <a:ext cx="3291840" cy="493776"/>
          </a:xfrm>
          <a:prstGeom prst="rect">
            <a:avLst/>
          </a:prstGeom>
          <a:noFill/>
        </p:spPr>
        <p:txBody>
          <a:bodyPr wrap="square" anchor="ctr">
            <a:spAutoFit/>
          </a:bodyPr>
          <a:lstStyle/>
          <a:p>
            <a:pPr algn="l">
              <a:spcAft>
                <a:spcPts val="400"/>
              </a:spcAft>
            </a:pPr>
            <a:r>
              <a:rPr sz="1200" b="0">
                <a:solidFill>
                  <a:srgbClr val="161B26"/>
                </a:solidFill>
                <a:latin typeface="Arial"/>
              </a:rPr>
              <a:t>Lesson Plan (PDF)</a:t>
            </a:r>
          </a:p>
        </p:txBody>
      </p:sp>
      <p:sp>
        <p:nvSpPr>
          <p:cNvPr id="33" name="Rectangle 32"/>
          <p:cNvSpPr/>
          <p:nvPr/>
        </p:nvSpPr>
        <p:spPr>
          <a:xfrm>
            <a:off x="5394960" y="4745736"/>
            <a:ext cx="1051560" cy="2926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94960" y="4745736"/>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35" name="Rectangle 34"/>
          <p:cNvSpPr/>
          <p:nvPr/>
        </p:nvSpPr>
        <p:spPr>
          <a:xfrm>
            <a:off x="7086600" y="1783080"/>
            <a:ext cx="432511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1783080"/>
            <a:ext cx="91440"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360920" y="200253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0920" y="200253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39" name="TextBox 38"/>
          <p:cNvSpPr txBox="1"/>
          <p:nvPr/>
        </p:nvSpPr>
        <p:spPr>
          <a:xfrm>
            <a:off x="7927848" y="1783080"/>
            <a:ext cx="3227832" cy="841248"/>
          </a:xfrm>
          <a:prstGeom prst="rect">
            <a:avLst/>
          </a:prstGeom>
          <a:noFill/>
        </p:spPr>
        <p:txBody>
          <a:bodyPr wrap="square" anchor="ctr">
            <a:spAutoFit/>
          </a:bodyPr>
          <a:lstStyle/>
          <a:p>
            <a:pPr algn="l">
              <a:spcAft>
                <a:spcPts val="400"/>
              </a:spcAft>
            </a:pPr>
            <a:r>
              <a:rPr sz="1200" b="0">
                <a:solidFill>
                  <a:srgbClr val="161B26"/>
                </a:solidFill>
                <a:latin typeface="Arial"/>
              </a:rPr>
              <a:t>Sign in to lms-tms.tertiaryinfotech.com with the email you registered with.</a:t>
            </a:r>
          </a:p>
        </p:txBody>
      </p:sp>
      <p:sp>
        <p:nvSpPr>
          <p:cNvPr id="40" name="Rectangle 39"/>
          <p:cNvSpPr/>
          <p:nvPr/>
        </p:nvSpPr>
        <p:spPr>
          <a:xfrm>
            <a:off x="7086600" y="2761488"/>
            <a:ext cx="432511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86600" y="2761488"/>
            <a:ext cx="9144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360920" y="298094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60920" y="298094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4" name="TextBox 43"/>
          <p:cNvSpPr txBox="1"/>
          <p:nvPr/>
        </p:nvSpPr>
        <p:spPr>
          <a:xfrm>
            <a:off x="7927848" y="2761488"/>
            <a:ext cx="3227832" cy="841248"/>
          </a:xfrm>
          <a:prstGeom prst="rect">
            <a:avLst/>
          </a:prstGeom>
          <a:noFill/>
        </p:spPr>
        <p:txBody>
          <a:bodyPr wrap="square" anchor="ctr">
            <a:spAutoFit/>
          </a:bodyPr>
          <a:lstStyle/>
          <a:p>
            <a:pPr algn="l">
              <a:spcAft>
                <a:spcPts val="400"/>
              </a:spcAft>
            </a:pPr>
            <a:r>
              <a:rPr sz="1200" b="0">
                <a:solidFill>
                  <a:srgbClr val="161B26"/>
                </a:solidFill>
                <a:latin typeface="Arial"/>
              </a:rPr>
              <a:t>Open My Courses and select this course.</a:t>
            </a:r>
          </a:p>
        </p:txBody>
      </p:sp>
      <p:sp>
        <p:nvSpPr>
          <p:cNvPr id="45" name="Rectangle 44"/>
          <p:cNvSpPr/>
          <p:nvPr/>
        </p:nvSpPr>
        <p:spPr>
          <a:xfrm>
            <a:off x="7086600" y="3739896"/>
            <a:ext cx="432511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086600" y="3739896"/>
            <a:ext cx="91440"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360920" y="395935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60920" y="39593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49" name="TextBox 48"/>
          <p:cNvSpPr txBox="1"/>
          <p:nvPr/>
        </p:nvSpPr>
        <p:spPr>
          <a:xfrm>
            <a:off x="7927848" y="3739896"/>
            <a:ext cx="3227832" cy="841248"/>
          </a:xfrm>
          <a:prstGeom prst="rect">
            <a:avLst/>
          </a:prstGeom>
          <a:noFill/>
        </p:spPr>
        <p:txBody>
          <a:bodyPr wrap="square" anchor="ctr">
            <a:spAutoFit/>
          </a:bodyPr>
          <a:lstStyle/>
          <a:p>
            <a:pPr algn="l">
              <a:spcAft>
                <a:spcPts val="400"/>
              </a:spcAft>
            </a:pPr>
            <a:r>
              <a:rPr sz="1200" b="0">
                <a:solidFill>
                  <a:srgbClr val="161B26"/>
                </a:solidFill>
                <a:latin typeface="Arial"/>
              </a:rPr>
              <a:t>Download the slides, Learner Guide and Lesson Plan.</a:t>
            </a:r>
          </a:p>
        </p:txBody>
      </p:sp>
      <p:sp>
        <p:nvSpPr>
          <p:cNvPr id="50" name="Rectangle 49"/>
          <p:cNvSpPr/>
          <p:nvPr/>
        </p:nvSpPr>
        <p:spPr>
          <a:xfrm>
            <a:off x="7086600" y="4718304"/>
            <a:ext cx="432511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086600" y="4718304"/>
            <a:ext cx="91440"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360920" y="4937760"/>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60920" y="493776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4" name="TextBox 53"/>
          <p:cNvSpPr txBox="1"/>
          <p:nvPr/>
        </p:nvSpPr>
        <p:spPr>
          <a:xfrm>
            <a:off x="7927848" y="4718304"/>
            <a:ext cx="3227832" cy="841248"/>
          </a:xfrm>
          <a:prstGeom prst="rect">
            <a:avLst/>
          </a:prstGeom>
          <a:noFill/>
        </p:spPr>
        <p:txBody>
          <a:bodyPr wrap="square" anchor="ctr">
            <a:spAutoFit/>
          </a:bodyPr>
          <a:lstStyle/>
          <a:p>
            <a:pPr algn="l">
              <a:spcAft>
                <a:spcPts val="400"/>
              </a:spcAft>
            </a:pPr>
            <a:r>
              <a:rPr sz="1200" b="0">
                <a:solidFill>
                  <a:srgbClr val="161B26"/>
                </a:solidFill>
                <a:latin typeface="Arial"/>
              </a:rPr>
              <a:t>Keep them open — you will refer to them in every lab.</a:t>
            </a:r>
          </a:p>
        </p:txBody>
      </p:sp>
      <p:sp>
        <p:nvSpPr>
          <p:cNvPr id="55" name="TextBox 54"/>
          <p:cNvSpPr txBox="1"/>
          <p:nvPr/>
        </p:nvSpPr>
        <p:spPr>
          <a:xfrm>
            <a:off x="7086600" y="5715000"/>
            <a:ext cx="4325112" cy="365760"/>
          </a:xfrm>
          <a:prstGeom prst="rect">
            <a:avLst/>
          </a:prstGeom>
          <a:noFill/>
        </p:spPr>
        <p:txBody>
          <a:bodyPr wrap="square" anchor="t">
            <a:spAutoFit/>
          </a:bodyPr>
          <a:lstStyle/>
          <a:p>
            <a:pPr algn="l">
              <a:spcAft>
                <a:spcPts val="400"/>
              </a:spcAft>
            </a:pPr>
            <a:r>
              <a:rPr sz="1100" b="1">
                <a:solidFill>
                  <a:srgbClr val="1F6FEB"/>
                </a:solidFill>
                <a:latin typeface="Arial"/>
              </a:rPr>
              <a:t>Portal: https://lms-tms.tertiaryinfotech.com</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 · STAGES 1–7</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Course Pipeline — One Idea, End to 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1393806" cy="384048"/>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1</a:t>
            </a:r>
          </a:p>
        </p:txBody>
      </p:sp>
      <p:sp>
        <p:nvSpPr>
          <p:cNvPr id="10" name="TextBox 9"/>
          <p:cNvSpPr txBox="1"/>
          <p:nvPr/>
        </p:nvSpPr>
        <p:spPr>
          <a:xfrm>
            <a:off x="88696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Research the idea</a:t>
            </a:r>
          </a:p>
        </p:txBody>
      </p:sp>
      <p:sp>
        <p:nvSpPr>
          <p:cNvPr id="11" name="TextBox 10"/>
          <p:cNvSpPr txBox="1"/>
          <p:nvPr/>
        </p:nvSpPr>
        <p:spPr>
          <a:xfrm>
            <a:off x="88696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Perplexity
NotebookLM</a:t>
            </a:r>
          </a:p>
        </p:txBody>
      </p:sp>
      <p:sp>
        <p:nvSpPr>
          <p:cNvPr id="12" name="TextBox 11"/>
          <p:cNvSpPr txBox="1"/>
          <p:nvPr/>
        </p:nvSpPr>
        <p:spPr>
          <a:xfrm>
            <a:off x="2152758" y="3044952"/>
            <a:ext cx="182880" cy="402336"/>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13" name="Rounded Rectangle 12"/>
          <p:cNvSpPr/>
          <p:nvPr/>
        </p:nvSpPr>
        <p:spPr>
          <a:xfrm>
            <a:off x="231735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317350" y="2103120"/>
            <a:ext cx="1393806" cy="384048"/>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1735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2</a:t>
            </a:r>
          </a:p>
        </p:txBody>
      </p:sp>
      <p:sp>
        <p:nvSpPr>
          <p:cNvPr id="16" name="TextBox 15"/>
          <p:cNvSpPr txBox="1"/>
          <p:nvPr/>
        </p:nvSpPr>
        <p:spPr>
          <a:xfrm>
            <a:off x="242707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Evaluate &amp; score</a:t>
            </a:r>
          </a:p>
        </p:txBody>
      </p:sp>
      <p:sp>
        <p:nvSpPr>
          <p:cNvPr id="17" name="TextBox 16"/>
          <p:cNvSpPr txBox="1"/>
          <p:nvPr/>
        </p:nvSpPr>
        <p:spPr>
          <a:xfrm>
            <a:off x="242707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Chat assistant
Sheets</a:t>
            </a:r>
          </a:p>
        </p:txBody>
      </p:sp>
      <p:sp>
        <p:nvSpPr>
          <p:cNvPr id="18" name="TextBox 17"/>
          <p:cNvSpPr txBox="1"/>
          <p:nvPr/>
        </p:nvSpPr>
        <p:spPr>
          <a:xfrm>
            <a:off x="3692868" y="3044952"/>
            <a:ext cx="182880" cy="402336"/>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9" name="Rounded Rectangle 18"/>
          <p:cNvSpPr/>
          <p:nvPr/>
        </p:nvSpPr>
        <p:spPr>
          <a:xfrm>
            <a:off x="385746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857460" y="2103120"/>
            <a:ext cx="1393806" cy="384048"/>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5746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3</a:t>
            </a:r>
          </a:p>
        </p:txBody>
      </p:sp>
      <p:sp>
        <p:nvSpPr>
          <p:cNvPr id="22" name="TextBox 21"/>
          <p:cNvSpPr txBox="1"/>
          <p:nvPr/>
        </p:nvSpPr>
        <p:spPr>
          <a:xfrm>
            <a:off x="396718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Design Thinking
+ Canvas</a:t>
            </a:r>
          </a:p>
        </p:txBody>
      </p:sp>
      <p:sp>
        <p:nvSpPr>
          <p:cNvPr id="23" name="TextBox 22"/>
          <p:cNvSpPr txBox="1"/>
          <p:nvPr/>
        </p:nvSpPr>
        <p:spPr>
          <a:xfrm>
            <a:off x="396718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DT Studio · BMC Studio
(group activities)</a:t>
            </a:r>
          </a:p>
        </p:txBody>
      </p:sp>
      <p:sp>
        <p:nvSpPr>
          <p:cNvPr id="24" name="TextBox 23"/>
          <p:cNvSpPr txBox="1"/>
          <p:nvPr/>
        </p:nvSpPr>
        <p:spPr>
          <a:xfrm>
            <a:off x="5232978" y="3044952"/>
            <a:ext cx="182880" cy="402336"/>
          </a:xfrm>
          <a:prstGeom prst="rect">
            <a:avLst/>
          </a:prstGeom>
          <a:noFill/>
        </p:spPr>
        <p:txBody>
          <a:bodyPr wrap="square" anchor="ctr">
            <a:spAutoFit/>
          </a:bodyPr>
          <a:lstStyle/>
          <a:p>
            <a:pPr algn="ctr">
              <a:spcAft>
                <a:spcPts val="400"/>
              </a:spcAft>
            </a:pPr>
            <a:r>
              <a:rPr sz="1100" b="1">
                <a:solidFill>
                  <a:srgbClr val="7C3AED"/>
                </a:solidFill>
                <a:latin typeface="Arial"/>
              </a:rPr>
              <a:t>▶</a:t>
            </a:r>
          </a:p>
        </p:txBody>
      </p:sp>
      <p:sp>
        <p:nvSpPr>
          <p:cNvPr id="25" name="Rounded Rectangle 24"/>
          <p:cNvSpPr/>
          <p:nvPr/>
        </p:nvSpPr>
        <p:spPr>
          <a:xfrm>
            <a:off x="539757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97570" y="2103120"/>
            <a:ext cx="1393806" cy="384048"/>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757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4</a:t>
            </a:r>
          </a:p>
        </p:txBody>
      </p:sp>
      <p:sp>
        <p:nvSpPr>
          <p:cNvPr id="28" name="TextBox 27"/>
          <p:cNvSpPr txBox="1"/>
          <p:nvPr/>
        </p:nvSpPr>
        <p:spPr>
          <a:xfrm>
            <a:off x="550729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Script the video</a:t>
            </a:r>
          </a:p>
        </p:txBody>
      </p:sp>
      <p:sp>
        <p:nvSpPr>
          <p:cNvPr id="29" name="TextBox 28"/>
          <p:cNvSpPr txBox="1"/>
          <p:nvPr/>
        </p:nvSpPr>
        <p:spPr>
          <a:xfrm>
            <a:off x="550729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ChatGPT · Gemini
Copilot 365</a:t>
            </a:r>
          </a:p>
        </p:txBody>
      </p:sp>
      <p:sp>
        <p:nvSpPr>
          <p:cNvPr id="30" name="TextBox 29"/>
          <p:cNvSpPr txBox="1"/>
          <p:nvPr/>
        </p:nvSpPr>
        <p:spPr>
          <a:xfrm>
            <a:off x="6773088" y="3044952"/>
            <a:ext cx="182880" cy="402336"/>
          </a:xfrm>
          <a:prstGeom prst="rect">
            <a:avLst/>
          </a:prstGeom>
          <a:noFill/>
        </p:spPr>
        <p:txBody>
          <a:bodyPr wrap="square" anchor="ctr">
            <a:spAutoFit/>
          </a:bodyPr>
          <a:lstStyle/>
          <a:p>
            <a:pPr algn="ctr">
              <a:spcAft>
                <a:spcPts val="400"/>
              </a:spcAft>
            </a:pPr>
            <a:r>
              <a:rPr sz="1100" b="1">
                <a:solidFill>
                  <a:srgbClr val="F59E0B"/>
                </a:solidFill>
                <a:latin typeface="Arial"/>
              </a:rPr>
              <a:t>▶</a:t>
            </a:r>
          </a:p>
        </p:txBody>
      </p:sp>
      <p:sp>
        <p:nvSpPr>
          <p:cNvPr id="31" name="Rounded Rectangle 30"/>
          <p:cNvSpPr/>
          <p:nvPr/>
        </p:nvSpPr>
        <p:spPr>
          <a:xfrm>
            <a:off x="693768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37680" y="2103120"/>
            <a:ext cx="1393806" cy="384048"/>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3768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5</a:t>
            </a:r>
          </a:p>
        </p:txBody>
      </p:sp>
      <p:sp>
        <p:nvSpPr>
          <p:cNvPr id="34" name="TextBox 33"/>
          <p:cNvSpPr txBox="1"/>
          <p:nvPr/>
        </p:nvSpPr>
        <p:spPr>
          <a:xfrm>
            <a:off x="704740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Voice + music</a:t>
            </a:r>
          </a:p>
        </p:txBody>
      </p:sp>
      <p:sp>
        <p:nvSpPr>
          <p:cNvPr id="35" name="TextBox 34"/>
          <p:cNvSpPr txBox="1"/>
          <p:nvPr/>
        </p:nvSpPr>
        <p:spPr>
          <a:xfrm>
            <a:off x="704740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ElevenLabs
Suno</a:t>
            </a:r>
          </a:p>
        </p:txBody>
      </p:sp>
      <p:sp>
        <p:nvSpPr>
          <p:cNvPr id="36" name="TextBox 35"/>
          <p:cNvSpPr txBox="1"/>
          <p:nvPr/>
        </p:nvSpPr>
        <p:spPr>
          <a:xfrm>
            <a:off x="8313198" y="3044952"/>
            <a:ext cx="182880" cy="402336"/>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37" name="Rounded Rectangle 36"/>
          <p:cNvSpPr/>
          <p:nvPr/>
        </p:nvSpPr>
        <p:spPr>
          <a:xfrm>
            <a:off x="847779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477790" y="2103120"/>
            <a:ext cx="1393806" cy="384048"/>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79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6</a:t>
            </a:r>
          </a:p>
        </p:txBody>
      </p:sp>
      <p:sp>
        <p:nvSpPr>
          <p:cNvPr id="40" name="TextBox 39"/>
          <p:cNvSpPr txBox="1"/>
          <p:nvPr/>
        </p:nvSpPr>
        <p:spPr>
          <a:xfrm>
            <a:off x="858751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Produce the video</a:t>
            </a:r>
          </a:p>
        </p:txBody>
      </p:sp>
      <p:sp>
        <p:nvSpPr>
          <p:cNvPr id="41" name="TextBox 40"/>
          <p:cNvSpPr txBox="1"/>
          <p:nvPr/>
        </p:nvSpPr>
        <p:spPr>
          <a:xfrm>
            <a:off x="858751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Kling · CapCut</a:t>
            </a:r>
          </a:p>
        </p:txBody>
      </p:sp>
      <p:sp>
        <p:nvSpPr>
          <p:cNvPr id="42" name="TextBox 41"/>
          <p:cNvSpPr txBox="1"/>
          <p:nvPr/>
        </p:nvSpPr>
        <p:spPr>
          <a:xfrm>
            <a:off x="9853308" y="3044952"/>
            <a:ext cx="182880" cy="402336"/>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3" name="Rounded Rectangle 42"/>
          <p:cNvSpPr/>
          <p:nvPr/>
        </p:nvSpPr>
        <p:spPr>
          <a:xfrm>
            <a:off x="1001790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017900" y="2103120"/>
            <a:ext cx="1393806" cy="384048"/>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1790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7</a:t>
            </a:r>
          </a:p>
        </p:txBody>
      </p:sp>
      <p:sp>
        <p:nvSpPr>
          <p:cNvPr id="46" name="TextBox 45"/>
          <p:cNvSpPr txBox="1"/>
          <p:nvPr/>
        </p:nvSpPr>
        <p:spPr>
          <a:xfrm>
            <a:off x="1012762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Pitch &amp; automate</a:t>
            </a:r>
          </a:p>
        </p:txBody>
      </p:sp>
      <p:sp>
        <p:nvSpPr>
          <p:cNvPr id="47" name="TextBox 46"/>
          <p:cNvSpPr txBox="1"/>
          <p:nvPr/>
        </p:nvSpPr>
        <p:spPr>
          <a:xfrm>
            <a:off x="1012762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Gamma · n8n</a:t>
            </a:r>
          </a:p>
        </p:txBody>
      </p:sp>
      <p:sp>
        <p:nvSpPr>
          <p:cNvPr id="48" name="Rounded Rectangle 47"/>
          <p:cNvSpPr/>
          <p:nvPr/>
        </p:nvSpPr>
        <p:spPr>
          <a:xfrm>
            <a:off x="777240" y="4892040"/>
            <a:ext cx="10634472" cy="1234440"/>
          </a:xfrm>
          <a:prstGeom prst="roundRect">
            <a:avLst>
              <a:gd name="adj" fmla="val 60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4892040"/>
            <a:ext cx="9994392" cy="1234440"/>
          </a:xfrm>
          <a:prstGeom prst="rect">
            <a:avLst/>
          </a:prstGeom>
          <a:noFill/>
        </p:spPr>
        <p:txBody>
          <a:bodyPr wrap="square" anchor="ctr">
            <a:spAutoFit/>
          </a:bodyPr>
          <a:lstStyle/>
          <a:p>
            <a:pPr algn="l">
              <a:spcAft>
                <a:spcPts val="400"/>
              </a:spcAft>
            </a:pPr>
            <a:r>
              <a:rPr sz="1300" b="0">
                <a:solidFill>
                  <a:srgbClr val="161B26"/>
                </a:solidFill>
                <a:latin typeface="Arial"/>
              </a:rPr>
              <a:t>You choose ONE business idea in Lab 3 and carry it through every lab to the end of the course. Each lab consumes what the previous one produced — nothing is rebuilt from scratch. The course finishes by automating this entire pipeline as an agentic workflow with a human review gate.</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Eighteen Connected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5256" y="1837944"/>
            <a:ext cx="457200" cy="240792"/>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83794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a:t>
            </a:r>
          </a:p>
        </p:txBody>
      </p:sp>
      <p:sp>
        <p:nvSpPr>
          <p:cNvPr id="10" name="TextBox 9"/>
          <p:cNvSpPr txBox="1"/>
          <p:nvPr/>
        </p:nvSpPr>
        <p:spPr>
          <a:xfrm>
            <a:off x="1490472" y="178308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Predictive vs Generative AI</a:t>
            </a:r>
          </a:p>
          <a:p>
            <a:pPr algn="l">
              <a:spcAft>
                <a:spcPts val="100"/>
              </a:spcAft>
            </a:pPr>
            <a:r>
              <a:rPr sz="1000" b="0">
                <a:solidFill>
                  <a:srgbClr val="5B6372"/>
                </a:solidFill>
                <a:latin typeface="Arial"/>
              </a:rPr>
              <a:t>Same data, two framings</a:t>
            </a:r>
          </a:p>
        </p:txBody>
      </p:sp>
      <p:sp>
        <p:nvSpPr>
          <p:cNvPr id="11" name="Rounded Rectangle 10"/>
          <p:cNvSpPr/>
          <p:nvPr/>
        </p:nvSpPr>
        <p:spPr>
          <a:xfrm>
            <a:off x="777240" y="222504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5256" y="2279904"/>
            <a:ext cx="457200" cy="240792"/>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27990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2</a:t>
            </a:r>
          </a:p>
        </p:txBody>
      </p:sp>
      <p:sp>
        <p:nvSpPr>
          <p:cNvPr id="14" name="TextBox 13"/>
          <p:cNvSpPr txBox="1"/>
          <p:nvPr/>
        </p:nvSpPr>
        <p:spPr>
          <a:xfrm>
            <a:off x="1490472" y="222504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Map the GenAI Tool Landscape</a:t>
            </a:r>
          </a:p>
          <a:p>
            <a:pPr algn="l">
              <a:spcAft>
                <a:spcPts val="100"/>
              </a:spcAft>
            </a:pPr>
            <a:r>
              <a:rPr sz="1000" b="0">
                <a:solidFill>
                  <a:srgbClr val="5B6372"/>
                </a:solidFill>
                <a:latin typeface="Arial"/>
              </a:rPr>
              <a:t>Four modalities, hands-on</a:t>
            </a:r>
          </a:p>
        </p:txBody>
      </p:sp>
      <p:sp>
        <p:nvSpPr>
          <p:cNvPr id="15" name="Rounded Rectangle 14"/>
          <p:cNvSpPr/>
          <p:nvPr/>
        </p:nvSpPr>
        <p:spPr>
          <a:xfrm>
            <a:off x="777240" y="266700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 y="2721864"/>
            <a:ext cx="457200" cy="240792"/>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 y="272186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3</a:t>
            </a:r>
          </a:p>
        </p:txBody>
      </p:sp>
      <p:sp>
        <p:nvSpPr>
          <p:cNvPr id="18" name="TextBox 17"/>
          <p:cNvSpPr txBox="1"/>
          <p:nvPr/>
        </p:nvSpPr>
        <p:spPr>
          <a:xfrm>
            <a:off x="1490472" y="266700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Research Your Idea</a:t>
            </a:r>
          </a:p>
          <a:p>
            <a:pPr algn="l">
              <a:spcAft>
                <a:spcPts val="100"/>
              </a:spcAft>
            </a:pPr>
            <a:r>
              <a:rPr sz="1000" b="0">
                <a:solidFill>
                  <a:srgbClr val="5B6372"/>
                </a:solidFill>
                <a:latin typeface="Arial"/>
              </a:rPr>
              <a:t>Perplexity + NotebookLM</a:t>
            </a:r>
          </a:p>
        </p:txBody>
      </p:sp>
      <p:sp>
        <p:nvSpPr>
          <p:cNvPr id="19" name="Rounded Rectangle 18"/>
          <p:cNvSpPr/>
          <p:nvPr/>
        </p:nvSpPr>
        <p:spPr>
          <a:xfrm>
            <a:off x="777240" y="310896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 y="3163824"/>
            <a:ext cx="457200" cy="240792"/>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316382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4</a:t>
            </a:r>
          </a:p>
        </p:txBody>
      </p:sp>
      <p:sp>
        <p:nvSpPr>
          <p:cNvPr id="22" name="TextBox 21"/>
          <p:cNvSpPr txBox="1"/>
          <p:nvPr/>
        </p:nvSpPr>
        <p:spPr>
          <a:xfrm>
            <a:off x="1490472" y="310896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Evaluate &amp; Prioritise</a:t>
            </a:r>
          </a:p>
          <a:p>
            <a:pPr algn="l">
              <a:spcAft>
                <a:spcPts val="100"/>
              </a:spcAft>
            </a:pPr>
            <a:r>
              <a:rPr sz="1000" b="0">
                <a:solidFill>
                  <a:srgbClr val="5B6372"/>
                </a:solidFill>
                <a:latin typeface="Arial"/>
              </a:rPr>
              <a:t>Weighted scoring rubric</a:t>
            </a:r>
          </a:p>
        </p:txBody>
      </p:sp>
      <p:sp>
        <p:nvSpPr>
          <p:cNvPr id="23" name="Rounded Rectangle 22"/>
          <p:cNvSpPr/>
          <p:nvPr/>
        </p:nvSpPr>
        <p:spPr>
          <a:xfrm>
            <a:off x="777240" y="355092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5256" y="3605784"/>
            <a:ext cx="457200" cy="240792"/>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360578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5</a:t>
            </a:r>
          </a:p>
        </p:txBody>
      </p:sp>
      <p:sp>
        <p:nvSpPr>
          <p:cNvPr id="26" name="TextBox 25"/>
          <p:cNvSpPr txBox="1"/>
          <p:nvPr/>
        </p:nvSpPr>
        <p:spPr>
          <a:xfrm>
            <a:off x="1490472" y="355092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Design Thinking Sprint</a:t>
            </a:r>
          </a:p>
          <a:p>
            <a:pPr algn="l">
              <a:spcAft>
                <a:spcPts val="100"/>
              </a:spcAft>
            </a:pPr>
            <a:r>
              <a:rPr sz="1000" b="0">
                <a:solidFill>
                  <a:srgbClr val="5B6372"/>
                </a:solidFill>
                <a:latin typeface="Arial"/>
              </a:rPr>
              <a:t>GROUP · DT Studio</a:t>
            </a:r>
          </a:p>
        </p:txBody>
      </p:sp>
      <p:sp>
        <p:nvSpPr>
          <p:cNvPr id="27" name="Rounded Rectangle 26"/>
          <p:cNvSpPr/>
          <p:nvPr/>
        </p:nvSpPr>
        <p:spPr>
          <a:xfrm>
            <a:off x="777240" y="399288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5256" y="4047744"/>
            <a:ext cx="457200" cy="240792"/>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 y="404774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6</a:t>
            </a:r>
          </a:p>
        </p:txBody>
      </p:sp>
      <p:sp>
        <p:nvSpPr>
          <p:cNvPr id="30" name="TextBox 29"/>
          <p:cNvSpPr txBox="1"/>
          <p:nvPr/>
        </p:nvSpPr>
        <p:spPr>
          <a:xfrm>
            <a:off x="1490472" y="399288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Business Model Canvas</a:t>
            </a:r>
          </a:p>
          <a:p>
            <a:pPr algn="l">
              <a:spcAft>
                <a:spcPts val="100"/>
              </a:spcAft>
            </a:pPr>
            <a:r>
              <a:rPr sz="1000" b="0">
                <a:solidFill>
                  <a:srgbClr val="5B6372"/>
                </a:solidFill>
                <a:latin typeface="Arial"/>
              </a:rPr>
              <a:t>GROUP · BMC Studio</a:t>
            </a:r>
          </a:p>
        </p:txBody>
      </p:sp>
      <p:sp>
        <p:nvSpPr>
          <p:cNvPr id="31" name="Rounded Rectangle 30"/>
          <p:cNvSpPr/>
          <p:nvPr/>
        </p:nvSpPr>
        <p:spPr>
          <a:xfrm>
            <a:off x="777240" y="443484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05256" y="4489704"/>
            <a:ext cx="457200" cy="240792"/>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48970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7</a:t>
            </a:r>
          </a:p>
        </p:txBody>
      </p:sp>
      <p:sp>
        <p:nvSpPr>
          <p:cNvPr id="34" name="TextBox 33"/>
          <p:cNvSpPr txBox="1"/>
          <p:nvPr/>
        </p:nvSpPr>
        <p:spPr>
          <a:xfrm>
            <a:off x="1490472" y="443484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Digital Architecture</a:t>
            </a:r>
          </a:p>
          <a:p>
            <a:pPr algn="l">
              <a:spcAft>
                <a:spcPts val="100"/>
              </a:spcAft>
            </a:pPr>
            <a:r>
              <a:rPr sz="1000" b="0">
                <a:solidFill>
                  <a:srgbClr val="5B6372"/>
                </a:solidFill>
                <a:latin typeface="Arial"/>
              </a:rPr>
              <a:t>Five layers + governance</a:t>
            </a:r>
          </a:p>
        </p:txBody>
      </p:sp>
      <p:sp>
        <p:nvSpPr>
          <p:cNvPr id="35" name="Rounded Rectangle 34"/>
          <p:cNvSpPr/>
          <p:nvPr/>
        </p:nvSpPr>
        <p:spPr>
          <a:xfrm>
            <a:off x="777240" y="487680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5256" y="4931664"/>
            <a:ext cx="457200" cy="240792"/>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5256" y="493166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8</a:t>
            </a:r>
          </a:p>
        </p:txBody>
      </p:sp>
      <p:sp>
        <p:nvSpPr>
          <p:cNvPr id="38" name="TextBox 37"/>
          <p:cNvSpPr txBox="1"/>
          <p:nvPr/>
        </p:nvSpPr>
        <p:spPr>
          <a:xfrm>
            <a:off x="1490472" y="487680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Script the Video</a:t>
            </a:r>
          </a:p>
          <a:p>
            <a:pPr algn="l">
              <a:spcAft>
                <a:spcPts val="100"/>
              </a:spcAft>
            </a:pPr>
            <a:r>
              <a:rPr sz="1000" b="0">
                <a:solidFill>
                  <a:srgbClr val="5B6372"/>
                </a:solidFill>
                <a:latin typeface="Arial"/>
              </a:rPr>
              <a:t>Three assistants compared</a:t>
            </a:r>
          </a:p>
        </p:txBody>
      </p:sp>
      <p:sp>
        <p:nvSpPr>
          <p:cNvPr id="39" name="Rounded Rectangle 38"/>
          <p:cNvSpPr/>
          <p:nvPr/>
        </p:nvSpPr>
        <p:spPr>
          <a:xfrm>
            <a:off x="777240" y="531876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5256" y="5373624"/>
            <a:ext cx="457200" cy="240792"/>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5256" y="537362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9</a:t>
            </a:r>
          </a:p>
        </p:txBody>
      </p:sp>
      <p:sp>
        <p:nvSpPr>
          <p:cNvPr id="42" name="TextBox 41"/>
          <p:cNvSpPr txBox="1"/>
          <p:nvPr/>
        </p:nvSpPr>
        <p:spPr>
          <a:xfrm>
            <a:off x="1490472" y="531876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AI Voiceover</a:t>
            </a:r>
          </a:p>
          <a:p>
            <a:pPr algn="l">
              <a:spcAft>
                <a:spcPts val="100"/>
              </a:spcAft>
            </a:pPr>
            <a:r>
              <a:rPr sz="1000" b="0">
                <a:solidFill>
                  <a:srgbClr val="5B6372"/>
                </a:solidFill>
                <a:latin typeface="Arial"/>
              </a:rPr>
              <a:t>ElevenLabs, 60 seconds</a:t>
            </a:r>
          </a:p>
        </p:txBody>
      </p:sp>
      <p:sp>
        <p:nvSpPr>
          <p:cNvPr id="43" name="Rounded Rectangle 42"/>
          <p:cNvSpPr/>
          <p:nvPr/>
        </p:nvSpPr>
        <p:spPr>
          <a:xfrm>
            <a:off x="6231636" y="178308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59652" y="1837944"/>
            <a:ext cx="457200" cy="240792"/>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9652" y="183794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10</a:t>
            </a:r>
          </a:p>
        </p:txBody>
      </p:sp>
      <p:sp>
        <p:nvSpPr>
          <p:cNvPr id="46" name="TextBox 45"/>
          <p:cNvSpPr txBox="1"/>
          <p:nvPr/>
        </p:nvSpPr>
        <p:spPr>
          <a:xfrm>
            <a:off x="6944868" y="178308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AI Soundtrack</a:t>
            </a:r>
          </a:p>
          <a:p>
            <a:pPr algn="l">
              <a:spcAft>
                <a:spcPts val="100"/>
              </a:spcAft>
            </a:pPr>
            <a:r>
              <a:rPr sz="1000" b="0">
                <a:solidFill>
                  <a:srgbClr val="5B6372"/>
                </a:solidFill>
                <a:latin typeface="Arial"/>
              </a:rPr>
              <a:t>Suno, licence checked</a:t>
            </a:r>
          </a:p>
        </p:txBody>
      </p:sp>
      <p:sp>
        <p:nvSpPr>
          <p:cNvPr id="47" name="Rounded Rectangle 46"/>
          <p:cNvSpPr/>
          <p:nvPr/>
        </p:nvSpPr>
        <p:spPr>
          <a:xfrm>
            <a:off x="6231636" y="222504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359652" y="2279904"/>
            <a:ext cx="457200" cy="240792"/>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9652" y="227990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11</a:t>
            </a:r>
          </a:p>
        </p:txBody>
      </p:sp>
      <p:sp>
        <p:nvSpPr>
          <p:cNvPr id="50" name="TextBox 49"/>
          <p:cNvSpPr txBox="1"/>
          <p:nvPr/>
        </p:nvSpPr>
        <p:spPr>
          <a:xfrm>
            <a:off x="6944868" y="222504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Produce the Video</a:t>
            </a:r>
          </a:p>
          <a:p>
            <a:pPr algn="l">
              <a:spcAft>
                <a:spcPts val="100"/>
              </a:spcAft>
            </a:pPr>
            <a:r>
              <a:rPr sz="1000" b="0">
                <a:solidFill>
                  <a:srgbClr val="5B6372"/>
                </a:solidFill>
                <a:latin typeface="Arial"/>
              </a:rPr>
              <a:t>Kling + CapCut, captioned</a:t>
            </a:r>
          </a:p>
        </p:txBody>
      </p:sp>
      <p:sp>
        <p:nvSpPr>
          <p:cNvPr id="51" name="Rounded Rectangle 50"/>
          <p:cNvSpPr/>
          <p:nvPr/>
        </p:nvSpPr>
        <p:spPr>
          <a:xfrm>
            <a:off x="6231636" y="266700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359652" y="2721864"/>
            <a:ext cx="457200" cy="240792"/>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59652" y="272186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12</a:t>
            </a:r>
          </a:p>
        </p:txBody>
      </p:sp>
      <p:sp>
        <p:nvSpPr>
          <p:cNvPr id="54" name="TextBox 53"/>
          <p:cNvSpPr txBox="1"/>
          <p:nvPr/>
        </p:nvSpPr>
        <p:spPr>
          <a:xfrm>
            <a:off x="6944868" y="266700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Business Presentation</a:t>
            </a:r>
          </a:p>
          <a:p>
            <a:pPr algn="l">
              <a:spcAft>
                <a:spcPts val="100"/>
              </a:spcAft>
            </a:pPr>
            <a:r>
              <a:rPr sz="1000" b="0">
                <a:solidFill>
                  <a:srgbClr val="5B6372"/>
                </a:solidFill>
                <a:latin typeface="Arial"/>
              </a:rPr>
              <a:t>Gamma, video embedded</a:t>
            </a:r>
          </a:p>
        </p:txBody>
      </p:sp>
      <p:sp>
        <p:nvSpPr>
          <p:cNvPr id="55" name="Rounded Rectangle 54"/>
          <p:cNvSpPr/>
          <p:nvPr/>
        </p:nvSpPr>
        <p:spPr>
          <a:xfrm>
            <a:off x="6231636" y="310896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359652" y="3163824"/>
            <a:ext cx="457200" cy="240792"/>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59652" y="316382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13</a:t>
            </a:r>
          </a:p>
        </p:txBody>
      </p:sp>
      <p:sp>
        <p:nvSpPr>
          <p:cNvPr id="58" name="TextBox 57"/>
          <p:cNvSpPr txBox="1"/>
          <p:nvPr/>
        </p:nvSpPr>
        <p:spPr>
          <a:xfrm>
            <a:off x="6944868" y="310896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Risk-Assess the Pipeline</a:t>
            </a:r>
          </a:p>
          <a:p>
            <a:pPr algn="l">
              <a:spcAft>
                <a:spcPts val="100"/>
              </a:spcAft>
            </a:pPr>
            <a:r>
              <a:rPr sz="1000" b="0">
                <a:solidFill>
                  <a:srgbClr val="5B6372"/>
                </a:solidFill>
                <a:latin typeface="Arial"/>
              </a:rPr>
              <a:t>Your own assets</a:t>
            </a:r>
          </a:p>
        </p:txBody>
      </p:sp>
      <p:sp>
        <p:nvSpPr>
          <p:cNvPr id="59" name="Rounded Rectangle 58"/>
          <p:cNvSpPr/>
          <p:nvPr/>
        </p:nvSpPr>
        <p:spPr>
          <a:xfrm>
            <a:off x="6231636" y="355092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359652" y="3605784"/>
            <a:ext cx="457200" cy="240792"/>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59652" y="360578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14</a:t>
            </a:r>
          </a:p>
        </p:txBody>
      </p:sp>
      <p:sp>
        <p:nvSpPr>
          <p:cNvPr id="62" name="TextBox 61"/>
          <p:cNvSpPr txBox="1"/>
          <p:nvPr/>
        </p:nvSpPr>
        <p:spPr>
          <a:xfrm>
            <a:off x="6944868" y="355092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Guardrails &amp; AI Ethics</a:t>
            </a:r>
          </a:p>
          <a:p>
            <a:pPr algn="l">
              <a:spcAft>
                <a:spcPts val="100"/>
              </a:spcAft>
            </a:pPr>
            <a:r>
              <a:rPr sz="1000" b="0">
                <a:solidFill>
                  <a:srgbClr val="5B6372"/>
                </a:solidFill>
                <a:latin typeface="Arial"/>
              </a:rPr>
              <a:t>8 principles, 4 guardrail types</a:t>
            </a:r>
          </a:p>
        </p:txBody>
      </p:sp>
      <p:sp>
        <p:nvSpPr>
          <p:cNvPr id="63" name="Rounded Rectangle 62"/>
          <p:cNvSpPr/>
          <p:nvPr/>
        </p:nvSpPr>
        <p:spPr>
          <a:xfrm>
            <a:off x="6231636" y="399288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359652" y="4047744"/>
            <a:ext cx="457200" cy="240792"/>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59652" y="404774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15</a:t>
            </a:r>
          </a:p>
        </p:txBody>
      </p:sp>
      <p:sp>
        <p:nvSpPr>
          <p:cNvPr id="66" name="TextBox 65"/>
          <p:cNvSpPr txBox="1"/>
          <p:nvPr/>
        </p:nvSpPr>
        <p:spPr>
          <a:xfrm>
            <a:off x="6944868" y="399288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Action Plan</a:t>
            </a:r>
          </a:p>
          <a:p>
            <a:pPr algn="l">
              <a:spcAft>
                <a:spcPts val="100"/>
              </a:spcAft>
            </a:pPr>
            <a:r>
              <a:rPr sz="1000" b="0">
                <a:solidFill>
                  <a:srgbClr val="5B6372"/>
                </a:solidFill>
                <a:latin typeface="Arial"/>
              </a:rPr>
              <a:t>90 days, go/no-go</a:t>
            </a:r>
          </a:p>
        </p:txBody>
      </p:sp>
      <p:sp>
        <p:nvSpPr>
          <p:cNvPr id="67" name="Rounded Rectangle 66"/>
          <p:cNvSpPr/>
          <p:nvPr/>
        </p:nvSpPr>
        <p:spPr>
          <a:xfrm>
            <a:off x="6231636" y="443484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6359652" y="4489704"/>
            <a:ext cx="457200" cy="240792"/>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59652" y="448970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16</a:t>
            </a:r>
          </a:p>
        </p:txBody>
      </p:sp>
      <p:sp>
        <p:nvSpPr>
          <p:cNvPr id="70" name="TextBox 69"/>
          <p:cNvSpPr txBox="1"/>
          <p:nvPr/>
        </p:nvSpPr>
        <p:spPr>
          <a:xfrm>
            <a:off x="6944868" y="443484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Measure Success</a:t>
            </a:r>
          </a:p>
          <a:p>
            <a:pPr algn="l">
              <a:spcAft>
                <a:spcPts val="100"/>
              </a:spcAft>
            </a:pPr>
            <a:r>
              <a:rPr sz="1000" b="0">
                <a:solidFill>
                  <a:srgbClr val="5B6372"/>
                </a:solidFill>
                <a:latin typeface="Arial"/>
              </a:rPr>
              <a:t>Baseline + counter-metric</a:t>
            </a:r>
          </a:p>
        </p:txBody>
      </p:sp>
      <p:sp>
        <p:nvSpPr>
          <p:cNvPr id="71" name="Rounded Rectangle 70"/>
          <p:cNvSpPr/>
          <p:nvPr/>
        </p:nvSpPr>
        <p:spPr>
          <a:xfrm>
            <a:off x="6231636" y="487680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6359652" y="4931664"/>
            <a:ext cx="457200" cy="240792"/>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59652" y="493166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17</a:t>
            </a:r>
          </a:p>
        </p:txBody>
      </p:sp>
      <p:sp>
        <p:nvSpPr>
          <p:cNvPr id="74" name="TextBox 73"/>
          <p:cNvSpPr txBox="1"/>
          <p:nvPr/>
        </p:nvSpPr>
        <p:spPr>
          <a:xfrm>
            <a:off x="6944868" y="487680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Stakeholder Comms</a:t>
            </a:r>
          </a:p>
          <a:p>
            <a:pPr algn="l">
              <a:spcAft>
                <a:spcPts val="100"/>
              </a:spcAft>
            </a:pPr>
            <a:r>
              <a:rPr sz="1000" b="0">
                <a:solidFill>
                  <a:srgbClr val="5B6372"/>
                </a:solidFill>
                <a:latin typeface="Arial"/>
              </a:rPr>
              <a:t>Map, policy, idea intake</a:t>
            </a:r>
          </a:p>
        </p:txBody>
      </p:sp>
      <p:sp>
        <p:nvSpPr>
          <p:cNvPr id="75" name="Rounded Rectangle 74"/>
          <p:cNvSpPr/>
          <p:nvPr/>
        </p:nvSpPr>
        <p:spPr>
          <a:xfrm>
            <a:off x="6231636" y="5318760"/>
            <a:ext cx="5180076" cy="3505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6359652" y="5373624"/>
            <a:ext cx="457200" cy="240792"/>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359652" y="5373624"/>
            <a:ext cx="457200" cy="240792"/>
          </a:xfrm>
          <a:prstGeom prst="rect">
            <a:avLst/>
          </a:prstGeom>
          <a:noFill/>
        </p:spPr>
        <p:txBody>
          <a:bodyPr wrap="none" anchor="ctr">
            <a:spAutoFit/>
          </a:bodyPr>
          <a:lstStyle/>
          <a:p>
            <a:pPr algn="ctr">
              <a:spcAft>
                <a:spcPts val="400"/>
              </a:spcAft>
            </a:pPr>
            <a:r>
              <a:rPr sz="1200" b="1">
                <a:solidFill>
                  <a:srgbClr val="FFFFFF"/>
                </a:solidFill>
                <a:latin typeface="Arial"/>
              </a:rPr>
              <a:t>18</a:t>
            </a:r>
          </a:p>
        </p:txBody>
      </p:sp>
      <p:sp>
        <p:nvSpPr>
          <p:cNvPr id="78" name="TextBox 77"/>
          <p:cNvSpPr txBox="1"/>
          <p:nvPr/>
        </p:nvSpPr>
        <p:spPr>
          <a:xfrm>
            <a:off x="6944868" y="5318760"/>
            <a:ext cx="4283964" cy="350520"/>
          </a:xfrm>
          <a:prstGeom prst="rect">
            <a:avLst/>
          </a:prstGeom>
          <a:noFill/>
        </p:spPr>
        <p:txBody>
          <a:bodyPr wrap="square" anchor="ctr">
            <a:spAutoFit/>
          </a:bodyPr>
          <a:lstStyle/>
          <a:p>
            <a:pPr algn="l">
              <a:spcAft>
                <a:spcPts val="100"/>
              </a:spcAft>
            </a:pPr>
            <a:r>
              <a:rPr sz="1250" b="1">
                <a:solidFill>
                  <a:srgbClr val="161B26"/>
                </a:solidFill>
                <a:latin typeface="Arial"/>
              </a:rPr>
              <a:t>CAPSTONE — Agentic Workflow</a:t>
            </a:r>
          </a:p>
          <a:p>
            <a:pPr algn="l">
              <a:spcAft>
                <a:spcPts val="100"/>
              </a:spcAft>
            </a:pPr>
            <a:r>
              <a:rPr sz="1000" b="0">
                <a:solidFill>
                  <a:srgbClr val="5B6372"/>
                </a:solidFill>
                <a:latin typeface="Arial"/>
              </a:rPr>
              <a:t>Automated, human-reviewed</a:t>
            </a:r>
          </a:p>
        </p:txBody>
      </p:sp>
      <p:sp>
        <p:nvSpPr>
          <p:cNvPr id="79" name="Rounded Rectangle 78"/>
          <p:cNvSpPr/>
          <p:nvPr/>
        </p:nvSpPr>
        <p:spPr>
          <a:xfrm>
            <a:off x="777240" y="5806440"/>
            <a:ext cx="10634472" cy="566928"/>
          </a:xfrm>
          <a:prstGeom prst="roundRect">
            <a:avLst>
              <a:gd name="adj" fmla="val 60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51560" y="5806440"/>
            <a:ext cx="10085832" cy="566928"/>
          </a:xfrm>
          <a:prstGeom prst="rect">
            <a:avLst/>
          </a:prstGeom>
          <a:noFill/>
        </p:spPr>
        <p:txBody>
          <a:bodyPr wrap="square" anchor="ctr">
            <a:spAutoFit/>
          </a:bodyPr>
          <a:lstStyle/>
          <a:p>
            <a:pPr algn="l">
              <a:spcAft>
                <a:spcPts val="400"/>
              </a:spcAft>
            </a:pPr>
            <a:r>
              <a:rPr sz="1400" b="1">
                <a:solidFill>
                  <a:srgbClr val="161B26"/>
                </a:solidFill>
                <a:latin typeface="Arial"/>
              </a:rPr>
              <a:t>Eighteen labs, each reusing the one before it. Nothing is rebuilt from scratch.</a:t>
            </a:r>
          </a:p>
        </p:txBody>
      </p:sp>
      <p:sp>
        <p:nvSpPr>
          <p:cNvPr id="81" name="TextBox 8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82" name="TextBox 8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3" name="TextBox 8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ALL FREE TIERS · SIGN UP BEFORE LAB 1  (1 OF 2)</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Your AI Toolkit — Research, Thinking &amp; Text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850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74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Perplexity</a:t>
            </a:r>
          </a:p>
        </p:txBody>
      </p:sp>
      <p:sp>
        <p:nvSpPr>
          <p:cNvPr id="10" name="TextBox 9"/>
          <p:cNvSpPr txBox="1"/>
          <p:nvPr/>
        </p:nvSpPr>
        <p:spPr>
          <a:xfrm>
            <a:off x="1033272" y="2167128"/>
            <a:ext cx="4686300" cy="274320"/>
          </a:xfrm>
          <a:prstGeom prst="rect">
            <a:avLst/>
          </a:prstGeom>
          <a:noFill/>
        </p:spPr>
        <p:txBody>
          <a:bodyPr wrap="square">
            <a:spAutoFit/>
          </a:bodyPr>
          <a:lstStyle/>
          <a:p>
            <a:r>
              <a:rPr sz="950" u="sng">
                <a:solidFill>
                  <a:srgbClr val="1F6FEB"/>
                </a:solidFill>
                <a:latin typeface="Arial"/>
                <a:hlinkClick r:id="rId2"/>
              </a:rPr>
              <a:t>www.perplexity.ai</a:t>
            </a:r>
          </a:p>
        </p:txBody>
      </p:sp>
      <p:sp>
        <p:nvSpPr>
          <p:cNvPr id="11" name="TextBox 10"/>
          <p:cNvSpPr txBox="1"/>
          <p:nvPr/>
        </p:nvSpPr>
        <p:spPr>
          <a:xfrm>
            <a:off x="1033272" y="2459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Research with cited sources · Lab 3</a:t>
            </a:r>
          </a:p>
        </p:txBody>
      </p:sp>
      <p:sp>
        <p:nvSpPr>
          <p:cNvPr id="12" name="Rounded Rectangle 11"/>
          <p:cNvSpPr/>
          <p:nvPr/>
        </p:nvSpPr>
        <p:spPr>
          <a:xfrm>
            <a:off x="6213348" y="1783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3348" y="1828800"/>
            <a:ext cx="64008" cy="850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9380" y="1874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NotebookLM</a:t>
            </a:r>
          </a:p>
        </p:txBody>
      </p:sp>
      <p:sp>
        <p:nvSpPr>
          <p:cNvPr id="15" name="TextBox 14"/>
          <p:cNvSpPr txBox="1"/>
          <p:nvPr/>
        </p:nvSpPr>
        <p:spPr>
          <a:xfrm>
            <a:off x="6469380" y="2167128"/>
            <a:ext cx="4686300" cy="274320"/>
          </a:xfrm>
          <a:prstGeom prst="rect">
            <a:avLst/>
          </a:prstGeom>
          <a:noFill/>
        </p:spPr>
        <p:txBody>
          <a:bodyPr wrap="square">
            <a:spAutoFit/>
          </a:bodyPr>
          <a:lstStyle/>
          <a:p>
            <a:r>
              <a:rPr sz="950" u="sng">
                <a:solidFill>
                  <a:srgbClr val="1F6FEB"/>
                </a:solidFill>
                <a:latin typeface="Arial"/>
                <a:hlinkClick r:id="rId3"/>
              </a:rPr>
              <a:t>notebooklm.google.com</a:t>
            </a:r>
          </a:p>
        </p:txBody>
      </p:sp>
      <p:sp>
        <p:nvSpPr>
          <p:cNvPr id="16" name="TextBox 15"/>
          <p:cNvSpPr txBox="1"/>
          <p:nvPr/>
        </p:nvSpPr>
        <p:spPr>
          <a:xfrm>
            <a:off x="6469380" y="2459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Reason over your documents · Lab 3</a:t>
            </a:r>
          </a:p>
        </p:txBody>
      </p:sp>
      <p:sp>
        <p:nvSpPr>
          <p:cNvPr id="17" name="Rounded Rectangle 16"/>
          <p:cNvSpPr/>
          <p:nvPr/>
        </p:nvSpPr>
        <p:spPr>
          <a:xfrm>
            <a:off x="777240" y="2926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71800"/>
            <a:ext cx="64008" cy="8503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017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ChatGPT</a:t>
            </a:r>
          </a:p>
        </p:txBody>
      </p:sp>
      <p:sp>
        <p:nvSpPr>
          <p:cNvPr id="20" name="TextBox 19"/>
          <p:cNvSpPr txBox="1"/>
          <p:nvPr/>
        </p:nvSpPr>
        <p:spPr>
          <a:xfrm>
            <a:off x="1033272" y="3310128"/>
            <a:ext cx="4686300" cy="274320"/>
          </a:xfrm>
          <a:prstGeom prst="rect">
            <a:avLst/>
          </a:prstGeom>
          <a:noFill/>
        </p:spPr>
        <p:txBody>
          <a:bodyPr wrap="square">
            <a:spAutoFit/>
          </a:bodyPr>
          <a:lstStyle/>
          <a:p>
            <a:r>
              <a:rPr sz="950" u="sng">
                <a:solidFill>
                  <a:srgbClr val="1F6FEB"/>
                </a:solidFill>
                <a:latin typeface="Arial"/>
                <a:hlinkClick r:id="rId4"/>
              </a:rPr>
              <a:t>chat.openai.com</a:t>
            </a:r>
          </a:p>
        </p:txBody>
      </p:sp>
      <p:sp>
        <p:nvSpPr>
          <p:cNvPr id="21" name="TextBox 20"/>
          <p:cNvSpPr txBox="1"/>
          <p:nvPr/>
        </p:nvSpPr>
        <p:spPr>
          <a:xfrm>
            <a:off x="1033272" y="3602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Drafting and challenge · Labs 1, 4, 8</a:t>
            </a:r>
          </a:p>
        </p:txBody>
      </p:sp>
      <p:sp>
        <p:nvSpPr>
          <p:cNvPr id="22" name="Rounded Rectangle 21"/>
          <p:cNvSpPr/>
          <p:nvPr/>
        </p:nvSpPr>
        <p:spPr>
          <a:xfrm>
            <a:off x="6213348" y="2926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3348" y="2971800"/>
            <a:ext cx="64008" cy="8503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9380" y="3017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Google Gemini</a:t>
            </a:r>
          </a:p>
        </p:txBody>
      </p:sp>
      <p:sp>
        <p:nvSpPr>
          <p:cNvPr id="25" name="TextBox 24"/>
          <p:cNvSpPr txBox="1"/>
          <p:nvPr/>
        </p:nvSpPr>
        <p:spPr>
          <a:xfrm>
            <a:off x="6469380" y="3310128"/>
            <a:ext cx="4686300" cy="274320"/>
          </a:xfrm>
          <a:prstGeom prst="rect">
            <a:avLst/>
          </a:prstGeom>
          <a:noFill/>
        </p:spPr>
        <p:txBody>
          <a:bodyPr wrap="square">
            <a:spAutoFit/>
          </a:bodyPr>
          <a:lstStyle/>
          <a:p>
            <a:r>
              <a:rPr sz="950" u="sng">
                <a:solidFill>
                  <a:srgbClr val="1F6FEB"/>
                </a:solidFill>
                <a:latin typeface="Arial"/>
                <a:hlinkClick r:id="rId5"/>
              </a:rPr>
              <a:t>gemini.google.com</a:t>
            </a:r>
          </a:p>
        </p:txBody>
      </p:sp>
      <p:sp>
        <p:nvSpPr>
          <p:cNvPr id="26" name="TextBox 25"/>
          <p:cNvSpPr txBox="1"/>
          <p:nvPr/>
        </p:nvSpPr>
        <p:spPr>
          <a:xfrm>
            <a:off x="6469380" y="3602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Current web context · Lab 8</a:t>
            </a:r>
          </a:p>
        </p:txBody>
      </p:sp>
      <p:sp>
        <p:nvSpPr>
          <p:cNvPr id="27" name="Rounded Rectangle 26"/>
          <p:cNvSpPr/>
          <p:nvPr/>
        </p:nvSpPr>
        <p:spPr>
          <a:xfrm>
            <a:off x="777240" y="4069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114800"/>
            <a:ext cx="64008" cy="850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160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Copilot 365</a:t>
            </a:r>
          </a:p>
        </p:txBody>
      </p:sp>
      <p:sp>
        <p:nvSpPr>
          <p:cNvPr id="30" name="TextBox 29"/>
          <p:cNvSpPr txBox="1"/>
          <p:nvPr/>
        </p:nvSpPr>
        <p:spPr>
          <a:xfrm>
            <a:off x="1033272" y="4453128"/>
            <a:ext cx="4686300" cy="274320"/>
          </a:xfrm>
          <a:prstGeom prst="rect">
            <a:avLst/>
          </a:prstGeom>
          <a:noFill/>
        </p:spPr>
        <p:txBody>
          <a:bodyPr wrap="square">
            <a:spAutoFit/>
          </a:bodyPr>
          <a:lstStyle/>
          <a:p>
            <a:r>
              <a:rPr sz="950" u="sng">
                <a:solidFill>
                  <a:srgbClr val="1F6FEB"/>
                </a:solidFill>
                <a:latin typeface="Arial"/>
                <a:hlinkClick r:id="rId6"/>
              </a:rPr>
              <a:t>copilot.microsoft.com</a:t>
            </a:r>
          </a:p>
        </p:txBody>
      </p:sp>
      <p:sp>
        <p:nvSpPr>
          <p:cNvPr id="31" name="TextBox 30"/>
          <p:cNvSpPr txBox="1"/>
          <p:nvPr/>
        </p:nvSpPr>
        <p:spPr>
          <a:xfrm>
            <a:off x="1033272" y="4745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Business documents · Lab 8</a:t>
            </a:r>
          </a:p>
        </p:txBody>
      </p:sp>
      <p:sp>
        <p:nvSpPr>
          <p:cNvPr id="32" name="Rounded Rectangle 31"/>
          <p:cNvSpPr/>
          <p:nvPr/>
        </p:nvSpPr>
        <p:spPr>
          <a:xfrm>
            <a:off x="6213348" y="4069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4114800"/>
            <a:ext cx="64008" cy="850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9380" y="4160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DT Studio</a:t>
            </a:r>
          </a:p>
        </p:txBody>
      </p:sp>
      <p:sp>
        <p:nvSpPr>
          <p:cNvPr id="35" name="TextBox 34"/>
          <p:cNvSpPr txBox="1"/>
          <p:nvPr/>
        </p:nvSpPr>
        <p:spPr>
          <a:xfrm>
            <a:off x="6469380" y="4453128"/>
            <a:ext cx="4686300" cy="274320"/>
          </a:xfrm>
          <a:prstGeom prst="rect">
            <a:avLst/>
          </a:prstGeom>
          <a:noFill/>
        </p:spPr>
        <p:txBody>
          <a:bodyPr wrap="square">
            <a:spAutoFit/>
          </a:bodyPr>
          <a:lstStyle/>
          <a:p>
            <a:r>
              <a:rPr sz="950" u="sng">
                <a:solidFill>
                  <a:srgbClr val="1F6FEB"/>
                </a:solidFill>
                <a:latin typeface="Arial"/>
                <a:hlinkClick r:id="rId7"/>
              </a:rPr>
              <a:t>alfredang.github.io/designthinking</a:t>
            </a:r>
          </a:p>
        </p:txBody>
      </p:sp>
      <p:sp>
        <p:nvSpPr>
          <p:cNvPr id="36" name="TextBox 35"/>
          <p:cNvSpPr txBox="1"/>
          <p:nvPr/>
        </p:nvSpPr>
        <p:spPr>
          <a:xfrm>
            <a:off x="6469380" y="4745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Design Thinking · Lab 5</a:t>
            </a:r>
          </a:p>
        </p:txBody>
      </p:sp>
      <p:sp>
        <p:nvSpPr>
          <p:cNvPr id="37" name="Rounded Rectangle 36"/>
          <p:cNvSpPr/>
          <p:nvPr/>
        </p:nvSpPr>
        <p:spPr>
          <a:xfrm>
            <a:off x="777240" y="5212080"/>
            <a:ext cx="5198364" cy="941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64008" cy="8503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 y="5303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BMC Studio</a:t>
            </a:r>
          </a:p>
        </p:txBody>
      </p:sp>
      <p:sp>
        <p:nvSpPr>
          <p:cNvPr id="40" name="TextBox 39"/>
          <p:cNvSpPr txBox="1"/>
          <p:nvPr/>
        </p:nvSpPr>
        <p:spPr>
          <a:xfrm>
            <a:off x="1033272" y="5596128"/>
            <a:ext cx="4686300" cy="274320"/>
          </a:xfrm>
          <a:prstGeom prst="rect">
            <a:avLst/>
          </a:prstGeom>
          <a:noFill/>
        </p:spPr>
        <p:txBody>
          <a:bodyPr wrap="square">
            <a:spAutoFit/>
          </a:bodyPr>
          <a:lstStyle/>
          <a:p>
            <a:r>
              <a:rPr sz="950" u="sng">
                <a:solidFill>
                  <a:srgbClr val="1F6FEB"/>
                </a:solidFill>
                <a:latin typeface="Arial"/>
                <a:hlinkClick r:id="rId8"/>
              </a:rPr>
              <a:t>alfredang.github.io/bcm</a:t>
            </a:r>
          </a:p>
        </p:txBody>
      </p:sp>
      <p:sp>
        <p:nvSpPr>
          <p:cNvPr id="41" name="TextBox 40"/>
          <p:cNvSpPr txBox="1"/>
          <p:nvPr/>
        </p:nvSpPr>
        <p:spPr>
          <a:xfrm>
            <a:off x="1033272" y="5888736"/>
            <a:ext cx="4686300" cy="192024"/>
          </a:xfrm>
          <a:prstGeom prst="rect">
            <a:avLst/>
          </a:prstGeom>
          <a:noFill/>
        </p:spPr>
        <p:txBody>
          <a:bodyPr wrap="square" anchor="t">
            <a:spAutoFit/>
          </a:bodyPr>
          <a:lstStyle/>
          <a:p>
            <a:pPr algn="l">
              <a:spcAft>
                <a:spcPts val="400"/>
              </a:spcAft>
            </a:pPr>
            <a:r>
              <a:rPr sz="950" b="0">
                <a:solidFill>
                  <a:srgbClr val="5B6372"/>
                </a:solidFill>
                <a:latin typeface="Arial"/>
              </a:rPr>
              <a:t>Business Model Canvas · Lab 6</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ALL FREE TIERS · SIGN UP BEFORE LAB 1  (2 OF 2)</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Your AI Toolkit — Voice, Video &amp;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231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74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ElevenLabs</a:t>
            </a:r>
          </a:p>
        </p:txBody>
      </p:sp>
      <p:sp>
        <p:nvSpPr>
          <p:cNvPr id="10" name="TextBox 9"/>
          <p:cNvSpPr txBox="1"/>
          <p:nvPr/>
        </p:nvSpPr>
        <p:spPr>
          <a:xfrm>
            <a:off x="1033272" y="2167128"/>
            <a:ext cx="4686300" cy="274320"/>
          </a:xfrm>
          <a:prstGeom prst="rect">
            <a:avLst/>
          </a:prstGeom>
          <a:noFill/>
        </p:spPr>
        <p:txBody>
          <a:bodyPr wrap="square">
            <a:spAutoFit/>
          </a:bodyPr>
          <a:lstStyle/>
          <a:p>
            <a:r>
              <a:rPr sz="950" u="sng">
                <a:solidFill>
                  <a:srgbClr val="1F6FEB"/>
                </a:solidFill>
                <a:latin typeface="Arial"/>
                <a:hlinkClick r:id="rId2"/>
              </a:rPr>
              <a:t>elevenlabs.io</a:t>
            </a:r>
          </a:p>
        </p:txBody>
      </p:sp>
      <p:sp>
        <p:nvSpPr>
          <p:cNvPr id="11" name="TextBox 10"/>
          <p:cNvSpPr txBox="1"/>
          <p:nvPr/>
        </p:nvSpPr>
        <p:spPr>
          <a:xfrm>
            <a:off x="1033272" y="2459736"/>
            <a:ext cx="4686300" cy="573024"/>
          </a:xfrm>
          <a:prstGeom prst="rect">
            <a:avLst/>
          </a:prstGeom>
          <a:noFill/>
        </p:spPr>
        <p:txBody>
          <a:bodyPr wrap="square" anchor="t">
            <a:spAutoFit/>
          </a:bodyPr>
          <a:lstStyle/>
          <a:p>
            <a:pPr algn="l">
              <a:spcAft>
                <a:spcPts val="400"/>
              </a:spcAft>
            </a:pPr>
            <a:r>
              <a:rPr sz="950" b="0">
                <a:solidFill>
                  <a:srgbClr val="5B6372"/>
                </a:solidFill>
                <a:latin typeface="Arial"/>
              </a:rPr>
              <a:t>Text-to-speech voiceover · Lab 9</a:t>
            </a:r>
          </a:p>
        </p:txBody>
      </p:sp>
      <p:sp>
        <p:nvSpPr>
          <p:cNvPr id="12" name="Rounded Rectangle 11"/>
          <p:cNvSpPr/>
          <p:nvPr/>
        </p:nvSpPr>
        <p:spPr>
          <a:xfrm>
            <a:off x="6213348" y="1783080"/>
            <a:ext cx="5198364"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3348" y="1828800"/>
            <a:ext cx="64008" cy="1231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9380" y="1874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Suno</a:t>
            </a:r>
          </a:p>
        </p:txBody>
      </p:sp>
      <p:sp>
        <p:nvSpPr>
          <p:cNvPr id="15" name="TextBox 14"/>
          <p:cNvSpPr txBox="1"/>
          <p:nvPr/>
        </p:nvSpPr>
        <p:spPr>
          <a:xfrm>
            <a:off x="6469380" y="2167128"/>
            <a:ext cx="4686300" cy="274320"/>
          </a:xfrm>
          <a:prstGeom prst="rect">
            <a:avLst/>
          </a:prstGeom>
          <a:noFill/>
        </p:spPr>
        <p:txBody>
          <a:bodyPr wrap="square">
            <a:spAutoFit/>
          </a:bodyPr>
          <a:lstStyle/>
          <a:p>
            <a:r>
              <a:rPr sz="950" u="sng">
                <a:solidFill>
                  <a:srgbClr val="1F6FEB"/>
                </a:solidFill>
                <a:latin typeface="Arial"/>
                <a:hlinkClick r:id="rId3"/>
              </a:rPr>
              <a:t>suno.com</a:t>
            </a:r>
          </a:p>
        </p:txBody>
      </p:sp>
      <p:sp>
        <p:nvSpPr>
          <p:cNvPr id="16" name="TextBox 15"/>
          <p:cNvSpPr txBox="1"/>
          <p:nvPr/>
        </p:nvSpPr>
        <p:spPr>
          <a:xfrm>
            <a:off x="6469380" y="2459736"/>
            <a:ext cx="4686300" cy="573024"/>
          </a:xfrm>
          <a:prstGeom prst="rect">
            <a:avLst/>
          </a:prstGeom>
          <a:noFill/>
        </p:spPr>
        <p:txBody>
          <a:bodyPr wrap="square" anchor="t">
            <a:spAutoFit/>
          </a:bodyPr>
          <a:lstStyle/>
          <a:p>
            <a:pPr algn="l">
              <a:spcAft>
                <a:spcPts val="400"/>
              </a:spcAft>
            </a:pPr>
            <a:r>
              <a:rPr sz="950" b="0">
                <a:solidFill>
                  <a:srgbClr val="5B6372"/>
                </a:solidFill>
                <a:latin typeface="Arial"/>
              </a:rPr>
              <a:t>AI background music · Lab 10</a:t>
            </a:r>
          </a:p>
        </p:txBody>
      </p:sp>
      <p:sp>
        <p:nvSpPr>
          <p:cNvPr id="17" name="Rounded Rectangle 16"/>
          <p:cNvSpPr/>
          <p:nvPr/>
        </p:nvSpPr>
        <p:spPr>
          <a:xfrm>
            <a:off x="777240" y="3307080"/>
            <a:ext cx="5198364"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52800"/>
            <a:ext cx="64008" cy="12313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398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Kling AI</a:t>
            </a:r>
          </a:p>
        </p:txBody>
      </p:sp>
      <p:sp>
        <p:nvSpPr>
          <p:cNvPr id="20" name="TextBox 19"/>
          <p:cNvSpPr txBox="1"/>
          <p:nvPr/>
        </p:nvSpPr>
        <p:spPr>
          <a:xfrm>
            <a:off x="1033272" y="3691128"/>
            <a:ext cx="4686300" cy="274320"/>
          </a:xfrm>
          <a:prstGeom prst="rect">
            <a:avLst/>
          </a:prstGeom>
          <a:noFill/>
        </p:spPr>
        <p:txBody>
          <a:bodyPr wrap="square">
            <a:spAutoFit/>
          </a:bodyPr>
          <a:lstStyle/>
          <a:p>
            <a:r>
              <a:rPr sz="950" u="sng">
                <a:solidFill>
                  <a:srgbClr val="1F6FEB"/>
                </a:solidFill>
                <a:latin typeface="Arial"/>
                <a:hlinkClick r:id="rId4"/>
              </a:rPr>
              <a:t>klingai.com</a:t>
            </a:r>
          </a:p>
        </p:txBody>
      </p:sp>
      <p:sp>
        <p:nvSpPr>
          <p:cNvPr id="21" name="TextBox 20"/>
          <p:cNvSpPr txBox="1"/>
          <p:nvPr/>
        </p:nvSpPr>
        <p:spPr>
          <a:xfrm>
            <a:off x="1033272" y="3983736"/>
            <a:ext cx="4686300" cy="573024"/>
          </a:xfrm>
          <a:prstGeom prst="rect">
            <a:avLst/>
          </a:prstGeom>
          <a:noFill/>
        </p:spPr>
        <p:txBody>
          <a:bodyPr wrap="square" anchor="t">
            <a:spAutoFit/>
          </a:bodyPr>
          <a:lstStyle/>
          <a:p>
            <a:pPr algn="l">
              <a:spcAft>
                <a:spcPts val="400"/>
              </a:spcAft>
            </a:pPr>
            <a:r>
              <a:rPr sz="950" b="0">
                <a:solidFill>
                  <a:srgbClr val="5B6372"/>
                </a:solidFill>
                <a:latin typeface="Arial"/>
              </a:rPr>
              <a:t>Text-to-video scenes · Lab 11</a:t>
            </a:r>
          </a:p>
        </p:txBody>
      </p:sp>
      <p:sp>
        <p:nvSpPr>
          <p:cNvPr id="22" name="Rounded Rectangle 21"/>
          <p:cNvSpPr/>
          <p:nvPr/>
        </p:nvSpPr>
        <p:spPr>
          <a:xfrm>
            <a:off x="6213348" y="3307080"/>
            <a:ext cx="5198364"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3348" y="3352800"/>
            <a:ext cx="64008" cy="12313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9380" y="3398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CapCut</a:t>
            </a:r>
          </a:p>
        </p:txBody>
      </p:sp>
      <p:sp>
        <p:nvSpPr>
          <p:cNvPr id="25" name="TextBox 24"/>
          <p:cNvSpPr txBox="1"/>
          <p:nvPr/>
        </p:nvSpPr>
        <p:spPr>
          <a:xfrm>
            <a:off x="6469380" y="3691128"/>
            <a:ext cx="4686300" cy="274320"/>
          </a:xfrm>
          <a:prstGeom prst="rect">
            <a:avLst/>
          </a:prstGeom>
          <a:noFill/>
        </p:spPr>
        <p:txBody>
          <a:bodyPr wrap="square">
            <a:spAutoFit/>
          </a:bodyPr>
          <a:lstStyle/>
          <a:p>
            <a:r>
              <a:rPr sz="950" u="sng">
                <a:solidFill>
                  <a:srgbClr val="1F6FEB"/>
                </a:solidFill>
                <a:latin typeface="Arial"/>
                <a:hlinkClick r:id="rId5"/>
              </a:rPr>
              <a:t>www.capcut.com</a:t>
            </a:r>
          </a:p>
        </p:txBody>
      </p:sp>
      <p:sp>
        <p:nvSpPr>
          <p:cNvPr id="26" name="TextBox 25"/>
          <p:cNvSpPr txBox="1"/>
          <p:nvPr/>
        </p:nvSpPr>
        <p:spPr>
          <a:xfrm>
            <a:off x="6469380" y="3983736"/>
            <a:ext cx="4686300" cy="573024"/>
          </a:xfrm>
          <a:prstGeom prst="rect">
            <a:avLst/>
          </a:prstGeom>
          <a:noFill/>
        </p:spPr>
        <p:txBody>
          <a:bodyPr wrap="square" anchor="t">
            <a:spAutoFit/>
          </a:bodyPr>
          <a:lstStyle/>
          <a:p>
            <a:pPr algn="l">
              <a:spcAft>
                <a:spcPts val="400"/>
              </a:spcAft>
            </a:pPr>
            <a:r>
              <a:rPr sz="950" b="0">
                <a:solidFill>
                  <a:srgbClr val="5B6372"/>
                </a:solidFill>
                <a:latin typeface="Arial"/>
              </a:rPr>
              <a:t>Edit, caption, export · Lab 11</a:t>
            </a:r>
          </a:p>
        </p:txBody>
      </p:sp>
      <p:sp>
        <p:nvSpPr>
          <p:cNvPr id="27" name="Rounded Rectangle 26"/>
          <p:cNvSpPr/>
          <p:nvPr/>
        </p:nvSpPr>
        <p:spPr>
          <a:xfrm>
            <a:off x="777240" y="4831080"/>
            <a:ext cx="5198364"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76800"/>
            <a:ext cx="64008" cy="1231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922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Gamma</a:t>
            </a:r>
          </a:p>
        </p:txBody>
      </p:sp>
      <p:sp>
        <p:nvSpPr>
          <p:cNvPr id="30" name="TextBox 29"/>
          <p:cNvSpPr txBox="1"/>
          <p:nvPr/>
        </p:nvSpPr>
        <p:spPr>
          <a:xfrm>
            <a:off x="1033272" y="5215128"/>
            <a:ext cx="4686300" cy="274320"/>
          </a:xfrm>
          <a:prstGeom prst="rect">
            <a:avLst/>
          </a:prstGeom>
          <a:noFill/>
        </p:spPr>
        <p:txBody>
          <a:bodyPr wrap="square">
            <a:spAutoFit/>
          </a:bodyPr>
          <a:lstStyle/>
          <a:p>
            <a:r>
              <a:rPr sz="950" u="sng">
                <a:solidFill>
                  <a:srgbClr val="1F6FEB"/>
                </a:solidFill>
                <a:latin typeface="Arial"/>
                <a:hlinkClick r:id="rId6"/>
              </a:rPr>
              <a:t>gamma.app</a:t>
            </a:r>
          </a:p>
        </p:txBody>
      </p:sp>
      <p:sp>
        <p:nvSpPr>
          <p:cNvPr id="31" name="TextBox 30"/>
          <p:cNvSpPr txBox="1"/>
          <p:nvPr/>
        </p:nvSpPr>
        <p:spPr>
          <a:xfrm>
            <a:off x="1033272" y="5507736"/>
            <a:ext cx="4686300" cy="573024"/>
          </a:xfrm>
          <a:prstGeom prst="rect">
            <a:avLst/>
          </a:prstGeom>
          <a:noFill/>
        </p:spPr>
        <p:txBody>
          <a:bodyPr wrap="square" anchor="t">
            <a:spAutoFit/>
          </a:bodyPr>
          <a:lstStyle/>
          <a:p>
            <a:pPr algn="l">
              <a:spcAft>
                <a:spcPts val="400"/>
              </a:spcAft>
            </a:pPr>
            <a:r>
              <a:rPr sz="950" b="0">
                <a:solidFill>
                  <a:srgbClr val="5B6372"/>
                </a:solidFill>
                <a:latin typeface="Arial"/>
              </a:rPr>
              <a:t>AI presentations · Lab 12</a:t>
            </a:r>
          </a:p>
        </p:txBody>
      </p:sp>
      <p:sp>
        <p:nvSpPr>
          <p:cNvPr id="32" name="Rounded Rectangle 31"/>
          <p:cNvSpPr/>
          <p:nvPr/>
        </p:nvSpPr>
        <p:spPr>
          <a:xfrm>
            <a:off x="6213348" y="4831080"/>
            <a:ext cx="5198364"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4876800"/>
            <a:ext cx="64008" cy="1231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9380" y="4922520"/>
            <a:ext cx="4686300" cy="292608"/>
          </a:xfrm>
          <a:prstGeom prst="rect">
            <a:avLst/>
          </a:prstGeom>
          <a:noFill/>
        </p:spPr>
        <p:txBody>
          <a:bodyPr wrap="square" anchor="t">
            <a:spAutoFit/>
          </a:bodyPr>
          <a:lstStyle/>
          <a:p>
            <a:pPr algn="l">
              <a:spcAft>
                <a:spcPts val="400"/>
              </a:spcAft>
            </a:pPr>
            <a:r>
              <a:rPr sz="1250" b="1">
                <a:solidFill>
                  <a:srgbClr val="161B26"/>
                </a:solidFill>
                <a:latin typeface="Arial"/>
              </a:rPr>
              <a:t>n8n</a:t>
            </a:r>
          </a:p>
        </p:txBody>
      </p:sp>
      <p:sp>
        <p:nvSpPr>
          <p:cNvPr id="35" name="TextBox 34"/>
          <p:cNvSpPr txBox="1"/>
          <p:nvPr/>
        </p:nvSpPr>
        <p:spPr>
          <a:xfrm>
            <a:off x="6469380" y="5215128"/>
            <a:ext cx="4686300" cy="274320"/>
          </a:xfrm>
          <a:prstGeom prst="rect">
            <a:avLst/>
          </a:prstGeom>
          <a:noFill/>
        </p:spPr>
        <p:txBody>
          <a:bodyPr wrap="square">
            <a:spAutoFit/>
          </a:bodyPr>
          <a:lstStyle/>
          <a:p>
            <a:r>
              <a:rPr sz="950" u="sng">
                <a:solidFill>
                  <a:srgbClr val="1F6FEB"/>
                </a:solidFill>
                <a:latin typeface="Arial"/>
                <a:hlinkClick r:id="rId7"/>
              </a:rPr>
              <a:t>n8n.io</a:t>
            </a:r>
          </a:p>
        </p:txBody>
      </p:sp>
      <p:sp>
        <p:nvSpPr>
          <p:cNvPr id="36" name="TextBox 35"/>
          <p:cNvSpPr txBox="1"/>
          <p:nvPr/>
        </p:nvSpPr>
        <p:spPr>
          <a:xfrm>
            <a:off x="6469380" y="5507736"/>
            <a:ext cx="4686300" cy="573024"/>
          </a:xfrm>
          <a:prstGeom prst="rect">
            <a:avLst/>
          </a:prstGeom>
          <a:noFill/>
        </p:spPr>
        <p:txBody>
          <a:bodyPr wrap="square" anchor="t">
            <a:spAutoFit/>
          </a:bodyPr>
          <a:lstStyle/>
          <a:p>
            <a:pPr algn="l">
              <a:spcAft>
                <a:spcPts val="400"/>
              </a:spcAft>
            </a:pPr>
            <a:r>
              <a:rPr sz="950" b="0">
                <a:solidFill>
                  <a:srgbClr val="5B6372"/>
                </a:solidFill>
                <a:latin typeface="Arial"/>
              </a:rPr>
              <a:t>Agentic workflows · Lab 18</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TOPICS · 18 CONNECTED LABS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146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74264" cy="548640"/>
          </a:xfrm>
          <a:prstGeom prst="rect">
            <a:avLst/>
          </a:prstGeom>
          <a:noFill/>
        </p:spPr>
        <p:txBody>
          <a:bodyPr wrap="square" anchor="t">
            <a:spAutoFit/>
          </a:bodyPr>
          <a:lstStyle/>
          <a:p>
            <a:pPr algn="l">
              <a:spcAft>
                <a:spcPts val="400"/>
              </a:spcAft>
            </a:pPr>
            <a:r>
              <a:rPr sz="1900" b="1">
                <a:solidFill>
                  <a:srgbClr val="1F6FEB"/>
                </a:solidFill>
                <a:latin typeface="Arial"/>
              </a:rPr>
              <a:t>Topic 1</a:t>
            </a:r>
          </a:p>
        </p:txBody>
      </p:sp>
      <p:sp>
        <p:nvSpPr>
          <p:cNvPr id="10" name="TextBox 9"/>
          <p:cNvSpPr txBox="1"/>
          <p:nvPr/>
        </p:nvSpPr>
        <p:spPr>
          <a:xfrm>
            <a:off x="1005840" y="2697480"/>
            <a:ext cx="2874264" cy="3108960"/>
          </a:xfrm>
          <a:prstGeom prst="rect">
            <a:avLst/>
          </a:prstGeom>
          <a:noFill/>
        </p:spPr>
        <p:txBody>
          <a:bodyPr wrap="square">
            <a:spAutoFit/>
          </a:bodyPr>
          <a:lstStyle/>
          <a:p>
            <a:pPr>
              <a:spcAft>
                <a:spcPts val="900"/>
              </a:spcAft>
            </a:pPr>
            <a:r>
              <a:rPr sz="1400" b="0">
                <a:solidFill>
                  <a:srgbClr val="161B26"/>
                </a:solidFill>
                <a:latin typeface="Arial"/>
              </a:rPr>
              <a:t>•  Predictive vs generative AI</a:t>
            </a:r>
          </a:p>
          <a:p>
            <a:pPr>
              <a:spcAft>
                <a:spcPts val="900"/>
              </a:spcAft>
            </a:pPr>
            <a:r>
              <a:rPr sz="1400" b="0">
                <a:solidFill>
                  <a:srgbClr val="161B26"/>
                </a:solidFill>
                <a:latin typeface="Arial"/>
              </a:rPr>
              <a:t>•  The GenAI tool landscape</a:t>
            </a:r>
          </a:p>
          <a:p>
            <a:pPr>
              <a:spcAft>
                <a:spcPts val="900"/>
              </a:spcAft>
            </a:pPr>
            <a:r>
              <a:rPr sz="1400" b="0">
                <a:solidFill>
                  <a:srgbClr val="161B26"/>
                </a:solidFill>
                <a:latin typeface="Arial"/>
              </a:rPr>
              <a:t>•  Business value of GenAI</a:t>
            </a:r>
          </a:p>
          <a:p>
            <a:pPr>
              <a:spcAft>
                <a:spcPts val="900"/>
              </a:spcAft>
            </a:pPr>
            <a:r>
              <a:rPr sz="1400" b="0">
                <a:solidFill>
                  <a:srgbClr val="161B26"/>
                </a:solidFill>
                <a:latin typeface="Arial"/>
              </a:rPr>
              <a:t>•  Investigating opportunities</a:t>
            </a:r>
          </a:p>
          <a:p>
            <a:pPr>
              <a:spcAft>
                <a:spcPts val="900"/>
              </a:spcAft>
            </a:pPr>
            <a:r>
              <a:rPr sz="1400" b="0">
                <a:solidFill>
                  <a:srgbClr val="161B26"/>
                </a:solidFill>
                <a:latin typeface="Arial"/>
              </a:rPr>
              <a:t>•  Evaluating and prioritising</a:t>
            </a:r>
          </a:p>
        </p:txBody>
      </p:sp>
      <p:sp>
        <p:nvSpPr>
          <p:cNvPr id="11" name="Rectangle 10"/>
          <p:cNvSpPr/>
          <p:nvPr/>
        </p:nvSpPr>
        <p:spPr>
          <a:xfrm>
            <a:off x="4428744"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8744" y="1783080"/>
            <a:ext cx="333146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7344" y="2011680"/>
            <a:ext cx="2874264" cy="548640"/>
          </a:xfrm>
          <a:prstGeom prst="rect">
            <a:avLst/>
          </a:prstGeom>
          <a:noFill/>
        </p:spPr>
        <p:txBody>
          <a:bodyPr wrap="square" anchor="t">
            <a:spAutoFit/>
          </a:bodyPr>
          <a:lstStyle/>
          <a:p>
            <a:pPr algn="l">
              <a:spcAft>
                <a:spcPts val="400"/>
              </a:spcAft>
            </a:pPr>
            <a:r>
              <a:rPr sz="1900" b="1">
                <a:solidFill>
                  <a:srgbClr val="10B981"/>
                </a:solidFill>
                <a:latin typeface="Arial"/>
              </a:rPr>
              <a:t>Topic 2</a:t>
            </a:r>
          </a:p>
        </p:txBody>
      </p:sp>
      <p:sp>
        <p:nvSpPr>
          <p:cNvPr id="14" name="TextBox 13"/>
          <p:cNvSpPr txBox="1"/>
          <p:nvPr/>
        </p:nvSpPr>
        <p:spPr>
          <a:xfrm>
            <a:off x="4657344" y="2697480"/>
            <a:ext cx="2874264" cy="3108960"/>
          </a:xfrm>
          <a:prstGeom prst="rect">
            <a:avLst/>
          </a:prstGeom>
          <a:noFill/>
        </p:spPr>
        <p:txBody>
          <a:bodyPr wrap="square">
            <a:spAutoFit/>
          </a:bodyPr>
          <a:lstStyle/>
          <a:p>
            <a:pPr>
              <a:spcAft>
                <a:spcPts val="900"/>
              </a:spcAft>
            </a:pPr>
            <a:r>
              <a:rPr sz="1400" b="0">
                <a:solidFill>
                  <a:srgbClr val="161B26"/>
                </a:solidFill>
                <a:latin typeface="Arial"/>
              </a:rPr>
              <a:t>•  Business Model Canvas</a:t>
            </a:r>
          </a:p>
          <a:p>
            <a:pPr>
              <a:spcAft>
                <a:spcPts val="900"/>
              </a:spcAft>
            </a:pPr>
            <a:r>
              <a:rPr sz="1400" b="0">
                <a:solidFill>
                  <a:srgbClr val="161B26"/>
                </a:solidFill>
                <a:latin typeface="Arial"/>
              </a:rPr>
              <a:t>•  Design Thinking with GenAI</a:t>
            </a:r>
          </a:p>
          <a:p>
            <a:pPr>
              <a:spcAft>
                <a:spcPts val="900"/>
              </a:spcAft>
            </a:pPr>
            <a:r>
              <a:rPr sz="1400" b="0">
                <a:solidFill>
                  <a:srgbClr val="161B26"/>
                </a:solidFill>
                <a:latin typeface="Arial"/>
              </a:rPr>
              <a:t>•  Digital architecture design</a:t>
            </a:r>
          </a:p>
          <a:p>
            <a:pPr>
              <a:spcAft>
                <a:spcPts val="900"/>
              </a:spcAft>
            </a:pPr>
            <a:r>
              <a:rPr sz="1400" b="0">
                <a:solidFill>
                  <a:srgbClr val="161B26"/>
                </a:solidFill>
                <a:latin typeface="Arial"/>
              </a:rPr>
              <a:t>•  Integrating GenAI tools</a:t>
            </a:r>
          </a:p>
          <a:p>
            <a:pPr>
              <a:spcAft>
                <a:spcPts val="900"/>
              </a:spcAft>
            </a:pPr>
            <a:r>
              <a:rPr sz="1400" b="0">
                <a:solidFill>
                  <a:srgbClr val="161B26"/>
                </a:solidFill>
                <a:latin typeface="Arial"/>
              </a:rPr>
              <a:t>•  Building the action plan</a:t>
            </a:r>
          </a:p>
        </p:txBody>
      </p:sp>
      <p:sp>
        <p:nvSpPr>
          <p:cNvPr id="15" name="Rectangle 14"/>
          <p:cNvSpPr/>
          <p:nvPr/>
        </p:nvSpPr>
        <p:spPr>
          <a:xfrm>
            <a:off x="8080248"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0248" y="1783080"/>
            <a:ext cx="333146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8848" y="2011680"/>
            <a:ext cx="2874264" cy="548640"/>
          </a:xfrm>
          <a:prstGeom prst="rect">
            <a:avLst/>
          </a:prstGeom>
          <a:noFill/>
        </p:spPr>
        <p:txBody>
          <a:bodyPr wrap="square" anchor="t">
            <a:spAutoFit/>
          </a:bodyPr>
          <a:lstStyle/>
          <a:p>
            <a:pPr algn="l">
              <a:spcAft>
                <a:spcPts val="400"/>
              </a:spcAft>
            </a:pPr>
            <a:r>
              <a:rPr sz="1900" b="1">
                <a:solidFill>
                  <a:srgbClr val="7C3AED"/>
                </a:solidFill>
                <a:latin typeface="Arial"/>
              </a:rPr>
              <a:t>Topic 3</a:t>
            </a:r>
          </a:p>
        </p:txBody>
      </p:sp>
      <p:sp>
        <p:nvSpPr>
          <p:cNvPr id="18" name="TextBox 17"/>
          <p:cNvSpPr txBox="1"/>
          <p:nvPr/>
        </p:nvSpPr>
        <p:spPr>
          <a:xfrm>
            <a:off x="8308848" y="2697480"/>
            <a:ext cx="2874264" cy="3108960"/>
          </a:xfrm>
          <a:prstGeom prst="rect">
            <a:avLst/>
          </a:prstGeom>
          <a:noFill/>
        </p:spPr>
        <p:txBody>
          <a:bodyPr wrap="square">
            <a:spAutoFit/>
          </a:bodyPr>
          <a:lstStyle/>
          <a:p>
            <a:pPr>
              <a:spcAft>
                <a:spcPts val="900"/>
              </a:spcAft>
            </a:pPr>
            <a:r>
              <a:rPr sz="1400" b="0">
                <a:solidFill>
                  <a:srgbClr val="161B26"/>
                </a:solidFill>
                <a:latin typeface="Arial"/>
              </a:rPr>
              <a:t>•  Implementation best practices</a:t>
            </a:r>
          </a:p>
          <a:p>
            <a:pPr>
              <a:spcAft>
                <a:spcPts val="900"/>
              </a:spcAft>
            </a:pPr>
            <a:r>
              <a:rPr sz="1400" b="0">
                <a:solidFill>
                  <a:srgbClr val="161B26"/>
                </a:solidFill>
                <a:latin typeface="Arial"/>
              </a:rPr>
              <a:t>•  Legal, ethical &amp; security issues</a:t>
            </a:r>
          </a:p>
          <a:p>
            <a:pPr>
              <a:spcAft>
                <a:spcPts val="900"/>
              </a:spcAft>
            </a:pPr>
            <a:r>
              <a:rPr sz="1400" b="0">
                <a:solidFill>
                  <a:srgbClr val="161B26"/>
                </a:solidFill>
                <a:latin typeface="Arial"/>
              </a:rPr>
              <a:t>•  Measuring and reviewing success</a:t>
            </a:r>
          </a:p>
          <a:p>
            <a:pPr>
              <a:spcAft>
                <a:spcPts val="900"/>
              </a:spcAft>
            </a:pPr>
            <a:r>
              <a:rPr sz="1400" b="0">
                <a:solidFill>
                  <a:srgbClr val="161B26"/>
                </a:solidFill>
                <a:latin typeface="Arial"/>
              </a:rPr>
              <a:t>•  Stakeholder communication</a:t>
            </a:r>
          </a:p>
          <a:p>
            <a:pPr>
              <a:spcAft>
                <a:spcPts val="900"/>
              </a:spcAft>
            </a:pPr>
            <a:r>
              <a:rPr sz="1400" b="0">
                <a:solidFill>
                  <a:srgbClr val="161B26"/>
                </a:solidFill>
                <a:latin typeface="Arial"/>
              </a:rPr>
              <a:t>•  The AIM framework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 — 2 Days, 7.5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Understanding GenAI and evaluating business opportunities</a:t>
            </a:r>
          </a:p>
          <a:p>
            <a:pPr>
              <a:spcAft>
                <a:spcPts val="1000"/>
              </a:spcAft>
            </a:pPr>
            <a:r>
              <a:rPr sz="1400" b="0">
                <a:solidFill>
                  <a:srgbClr val="5B6372"/>
                </a:solidFill>
                <a:latin typeface="Arial"/>
              </a:rPr>
              <a:t>–  Introductions · Outcomes · Course outline</a:t>
            </a:r>
          </a:p>
          <a:p>
            <a:pPr>
              <a:spcAft>
                <a:spcPts val="1000"/>
              </a:spcAft>
            </a:pPr>
            <a:r>
              <a:rPr sz="1400" b="0">
                <a:solidFill>
                  <a:srgbClr val="5B6372"/>
                </a:solidFill>
                <a:latin typeface="Arial"/>
              </a:rPr>
              <a:t>–  Topic 1: Introduction to Business Innovation and GenAI</a:t>
            </a:r>
          </a:p>
          <a:p>
            <a:pPr>
              <a:spcAft>
                <a:spcPts val="1000"/>
              </a:spcAft>
            </a:pPr>
            <a:r>
              <a:rPr sz="1400" b="0">
                <a:solidFill>
                  <a:srgbClr val="5B6372"/>
                </a:solidFill>
                <a:latin typeface="Arial"/>
              </a:rPr>
              <a:t>–  Labs 1–4: compare AI types, tool map, research your idea, score it</a:t>
            </a:r>
          </a:p>
          <a:p>
            <a:pPr>
              <a:spcAft>
                <a:spcPts val="1000"/>
              </a:spcAft>
            </a:pPr>
            <a:r>
              <a:rPr sz="1400" b="0">
                <a:solidFill>
                  <a:srgbClr val="5B6372"/>
                </a:solidFill>
                <a:latin typeface="Arial"/>
              </a:rPr>
              <a:t>–  Topic 2 begins: Design Thinking and the Business Model Canvas</a:t>
            </a:r>
          </a:p>
          <a:p>
            <a:pPr>
              <a:spcAft>
                <a:spcPts val="1000"/>
              </a:spcAft>
            </a:pPr>
            <a:r>
              <a:rPr sz="1400" b="0">
                <a:solidFill>
                  <a:srgbClr val="5B6372"/>
                </a:solidFill>
                <a:latin typeface="Arial"/>
              </a:rPr>
              <a:t>–  Labs 5–7: DT Studio sprint, BMC Studio canvas, digital architecture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Designing, implementing and governing GenAI innovation</a:t>
            </a:r>
          </a:p>
          <a:p>
            <a:pPr>
              <a:spcAft>
                <a:spcPts val="1000"/>
              </a:spcAft>
            </a:pPr>
            <a:r>
              <a:rPr sz="1400" b="0">
                <a:solidFill>
                  <a:srgbClr val="5B6372"/>
                </a:solidFill>
                <a:latin typeface="Arial"/>
              </a:rPr>
              <a:t>–  Topic 2 continues: the content production pipeline</a:t>
            </a:r>
          </a:p>
          <a:p>
            <a:pPr>
              <a:spcAft>
                <a:spcPts val="1000"/>
              </a:spcAft>
            </a:pPr>
            <a:r>
              <a:rPr sz="1400" b="0">
                <a:solidFill>
                  <a:srgbClr val="5B6372"/>
                </a:solidFill>
                <a:latin typeface="Arial"/>
              </a:rPr>
              <a:t>–  Labs 8–12: script, voiceover, soundtrack, video, presentation</a:t>
            </a:r>
          </a:p>
          <a:p>
            <a:pPr>
              <a:spcAft>
                <a:spcPts val="1000"/>
              </a:spcAft>
            </a:pPr>
            <a:r>
              <a:rPr sz="1400" b="0">
                <a:solidFill>
                  <a:srgbClr val="5B6372"/>
                </a:solidFill>
                <a:latin typeface="Arial"/>
              </a:rPr>
              <a:t>–  Topic 3: Implementing, governing and automating</a:t>
            </a:r>
          </a:p>
          <a:p>
            <a:pPr>
              <a:spcAft>
                <a:spcPts val="1000"/>
              </a:spcAft>
            </a:pPr>
            <a:r>
              <a:rPr sz="1400" b="0">
                <a:solidFill>
                  <a:srgbClr val="5B6372"/>
                </a:solidFill>
                <a:latin typeface="Arial"/>
              </a:rPr>
              <a:t>–  Labs 13–18: risk, guardrails &amp; ethics, plan, KPIs, comms, CAPSTONE</a:t>
            </a:r>
          </a:p>
          <a:p>
            <a:pPr>
              <a:spcAft>
                <a:spcPts val="1000"/>
              </a:spcAft>
            </a:pPr>
            <a:r>
              <a:rPr sz="1400" b="0">
                <a:solidFill>
                  <a:srgbClr val="5B6372"/>
                </a:solidFill>
                <a:latin typeface="Arial"/>
              </a:rPr>
              <a:t>–  Course summary · Q&amp;A · Course feedback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Business Innovation and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Predictive vs generative AI · GenAI tool landscape · evaluating business opportunities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WHAT THIS TOPIC COVERS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Predictive vs generative AI</a:t>
            </a:r>
          </a:p>
          <a:p>
            <a:pPr algn="l">
              <a:spcAft>
                <a:spcPts val="300"/>
              </a:spcAft>
            </a:pPr>
            <a:r>
              <a:rPr sz="1100" b="0">
                <a:solidFill>
                  <a:srgbClr val="5B6372"/>
                </a:solidFill>
                <a:latin typeface="Arial"/>
              </a:rPr>
              <a:t>Predictive AI scores and forecasts from historical data; generative AI creates new text, image, audio, video and code from a prompt.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How GenAI works</a:t>
            </a:r>
          </a:p>
          <a:p>
            <a:pPr algn="l">
              <a:spcAft>
                <a:spcPts val="300"/>
              </a:spcAft>
            </a:pPr>
            <a:r>
              <a:rPr sz="1100" b="0">
                <a:solidFill>
                  <a:srgbClr val="5B6372"/>
                </a:solidFill>
                <a:latin typeface="Arial"/>
              </a:rPr>
              <a:t>A foundation model is pre-trained on a large corpus, then aligned; at inference a prompt is turned into tokens and completed one token at a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Market momentum</a:t>
            </a:r>
          </a:p>
          <a:p>
            <a:pPr algn="l">
              <a:spcAft>
                <a:spcPts val="300"/>
              </a:spcAft>
            </a:pPr>
            <a:r>
              <a:rPr sz="1100" b="0">
                <a:solidFill>
                  <a:srgbClr val="5B6372"/>
                </a:solidFill>
                <a:latin typeface="Arial"/>
              </a:rPr>
              <a:t>The generative AI market is growing at a &gt;35% CAGR; adoption has moved from experiment to core business process in under three years.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value comes from</a:t>
            </a:r>
          </a:p>
          <a:p>
            <a:pPr algn="l">
              <a:spcAft>
                <a:spcPts val="300"/>
              </a:spcAft>
            </a:pPr>
            <a:r>
              <a:rPr sz="1100" b="0">
                <a:solidFill>
                  <a:srgbClr val="5B6372"/>
                </a:solidFill>
                <a:latin typeface="Arial"/>
              </a:rPr>
              <a:t>Four value levers: revenue growth, cost and productivity, risk mitigation and sustainability.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GenAI tool landscape</a:t>
            </a:r>
          </a:p>
          <a:p>
            <a:pPr algn="l">
              <a:spcAft>
                <a:spcPts val="300"/>
              </a:spcAft>
            </a:pPr>
            <a:r>
              <a:rPr sz="1100" b="0">
                <a:solidFill>
                  <a:srgbClr val="5B6372"/>
                </a:solidFill>
                <a:latin typeface="Arial"/>
              </a:rPr>
              <a:t>Text, image, speech and voice, music, video, digital human, 3D, office productivity, data analysis and IP tooling.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Evaluating an opportunity</a:t>
            </a:r>
          </a:p>
          <a:p>
            <a:pPr algn="l">
              <a:spcAft>
                <a:spcPts val="300"/>
              </a:spcAft>
            </a:pPr>
            <a:r>
              <a:rPr sz="1100" b="0">
                <a:solidFill>
                  <a:srgbClr val="5B6372"/>
                </a:solidFill>
                <a:latin typeface="Arial"/>
              </a:rPr>
              <a:t>Screen each idea for business value, feasibility, data readiness, risk and fit with organisational objectives before committing.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NOW</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Generative AI — The Market Opportunity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336194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06040"/>
            <a:ext cx="2996184" cy="914400"/>
          </a:xfrm>
          <a:prstGeom prst="rect">
            <a:avLst/>
          </a:prstGeom>
          <a:noFill/>
        </p:spPr>
        <p:txBody>
          <a:bodyPr wrap="square" anchor="t">
            <a:spAutoFit/>
          </a:bodyPr>
          <a:lstStyle/>
          <a:p>
            <a:pPr algn="ctr">
              <a:spcAft>
                <a:spcPts val="400"/>
              </a:spcAft>
            </a:pPr>
            <a:r>
              <a:rPr sz="4000" b="1">
                <a:solidFill>
                  <a:srgbClr val="1F6FEB"/>
                </a:solidFill>
                <a:latin typeface="Arial"/>
              </a:rPr>
              <a:t>$1.3T</a:t>
            </a:r>
          </a:p>
        </p:txBody>
      </p:sp>
      <p:sp>
        <p:nvSpPr>
          <p:cNvPr id="10" name="TextBox 9"/>
          <p:cNvSpPr txBox="1"/>
          <p:nvPr/>
        </p:nvSpPr>
        <p:spPr>
          <a:xfrm>
            <a:off x="960120" y="3611880"/>
            <a:ext cx="2996184" cy="731520"/>
          </a:xfrm>
          <a:prstGeom prst="rect">
            <a:avLst/>
          </a:prstGeom>
          <a:noFill/>
        </p:spPr>
        <p:txBody>
          <a:bodyPr wrap="square" anchor="t">
            <a:spAutoFit/>
          </a:bodyPr>
          <a:lstStyle/>
          <a:p>
            <a:pPr algn="ctr">
              <a:spcAft>
                <a:spcPts val="400"/>
              </a:spcAft>
            </a:pPr>
            <a:r>
              <a:rPr sz="1300" b="0">
                <a:solidFill>
                  <a:srgbClr val="5B6372"/>
                </a:solidFill>
                <a:latin typeface="Arial"/>
              </a:rPr>
              <a:t>Projected generative AI market by 2032</a:t>
            </a:r>
          </a:p>
        </p:txBody>
      </p:sp>
      <p:sp>
        <p:nvSpPr>
          <p:cNvPr id="11" name="Rectangle 10"/>
          <p:cNvSpPr/>
          <p:nvPr/>
        </p:nvSpPr>
        <p:spPr>
          <a:xfrm>
            <a:off x="4413504" y="2148840"/>
            <a:ext cx="336194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214884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6384" y="2606040"/>
            <a:ext cx="2996184" cy="914400"/>
          </a:xfrm>
          <a:prstGeom prst="rect">
            <a:avLst/>
          </a:prstGeom>
          <a:noFill/>
        </p:spPr>
        <p:txBody>
          <a:bodyPr wrap="square" anchor="t">
            <a:spAutoFit/>
          </a:bodyPr>
          <a:lstStyle/>
          <a:p>
            <a:pPr algn="ctr">
              <a:spcAft>
                <a:spcPts val="400"/>
              </a:spcAft>
            </a:pPr>
            <a:r>
              <a:rPr sz="4000" b="1">
                <a:solidFill>
                  <a:srgbClr val="10B981"/>
                </a:solidFill>
                <a:latin typeface="Arial"/>
              </a:rPr>
              <a:t>&gt;35%</a:t>
            </a:r>
          </a:p>
        </p:txBody>
      </p:sp>
      <p:sp>
        <p:nvSpPr>
          <p:cNvPr id="14" name="TextBox 13"/>
          <p:cNvSpPr txBox="1"/>
          <p:nvPr/>
        </p:nvSpPr>
        <p:spPr>
          <a:xfrm>
            <a:off x="4596384" y="3611880"/>
            <a:ext cx="2996184" cy="731520"/>
          </a:xfrm>
          <a:prstGeom prst="rect">
            <a:avLst/>
          </a:prstGeom>
          <a:noFill/>
        </p:spPr>
        <p:txBody>
          <a:bodyPr wrap="square" anchor="t">
            <a:spAutoFit/>
          </a:bodyPr>
          <a:lstStyle/>
          <a:p>
            <a:pPr algn="ctr">
              <a:spcAft>
                <a:spcPts val="400"/>
              </a:spcAft>
            </a:pPr>
            <a:r>
              <a:rPr sz="1300" b="0">
                <a:solidFill>
                  <a:srgbClr val="5B6372"/>
                </a:solidFill>
                <a:latin typeface="Arial"/>
              </a:rPr>
              <a:t>Compound annual growth rate</a:t>
            </a:r>
          </a:p>
        </p:txBody>
      </p:sp>
      <p:sp>
        <p:nvSpPr>
          <p:cNvPr id="15" name="Rectangle 14"/>
          <p:cNvSpPr/>
          <p:nvPr/>
        </p:nvSpPr>
        <p:spPr>
          <a:xfrm>
            <a:off x="8049768" y="2148840"/>
            <a:ext cx="336194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214884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2648" y="2606040"/>
            <a:ext cx="2996184" cy="914400"/>
          </a:xfrm>
          <a:prstGeom prst="rect">
            <a:avLst/>
          </a:prstGeom>
          <a:noFill/>
        </p:spPr>
        <p:txBody>
          <a:bodyPr wrap="square" anchor="t">
            <a:spAutoFit/>
          </a:bodyPr>
          <a:lstStyle/>
          <a:p>
            <a:pPr algn="ctr">
              <a:spcAft>
                <a:spcPts val="400"/>
              </a:spcAft>
            </a:pPr>
            <a:r>
              <a:rPr sz="4000" b="1">
                <a:solidFill>
                  <a:srgbClr val="7C3AED"/>
                </a:solidFill>
                <a:latin typeface="Arial"/>
              </a:rPr>
              <a:t>70%</a:t>
            </a:r>
          </a:p>
        </p:txBody>
      </p:sp>
      <p:sp>
        <p:nvSpPr>
          <p:cNvPr id="18" name="TextBox 17"/>
          <p:cNvSpPr txBox="1"/>
          <p:nvPr/>
        </p:nvSpPr>
        <p:spPr>
          <a:xfrm>
            <a:off x="8232648" y="3611880"/>
            <a:ext cx="2996184" cy="731520"/>
          </a:xfrm>
          <a:prstGeom prst="rect">
            <a:avLst/>
          </a:prstGeom>
          <a:noFill/>
        </p:spPr>
        <p:txBody>
          <a:bodyPr wrap="square" anchor="t">
            <a:spAutoFit/>
          </a:bodyPr>
          <a:lstStyle/>
          <a:p>
            <a:pPr algn="ctr">
              <a:spcAft>
                <a:spcPts val="400"/>
              </a:spcAft>
            </a:pPr>
            <a:r>
              <a:rPr sz="1300" b="0">
                <a:solidFill>
                  <a:srgbClr val="5B6372"/>
                </a:solidFill>
                <a:latin typeface="Arial"/>
              </a:rPr>
              <a:t>Of organisations piloting or deploying GenAI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SHIFT</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Predictive AI vs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5212080" cy="566928"/>
          </a:xfrm>
          <a:prstGeom prst="rect">
            <a:avLst/>
          </a:prstGeom>
          <a:noFill/>
        </p:spPr>
        <p:txBody>
          <a:bodyPr wrap="square" anchor="ctr">
            <a:spAutoFit/>
          </a:bodyPr>
          <a:lstStyle/>
          <a:p>
            <a:pPr algn="ctr">
              <a:spcAft>
                <a:spcPts val="400"/>
              </a:spcAft>
            </a:pPr>
            <a:r>
              <a:rPr sz="1700" b="1">
                <a:solidFill>
                  <a:srgbClr val="FFFFFF"/>
                </a:solidFill>
                <a:latin typeface="Arial"/>
              </a:rPr>
              <a:t>PREDICTIVE AI</a:t>
            </a:r>
          </a:p>
        </p:txBody>
      </p:sp>
      <p:sp>
        <p:nvSpPr>
          <p:cNvPr id="10" name="TextBox 9"/>
          <p:cNvSpPr txBox="1"/>
          <p:nvPr/>
        </p:nvSpPr>
        <p:spPr>
          <a:xfrm>
            <a:off x="1051560" y="2606040"/>
            <a:ext cx="4663440" cy="3200400"/>
          </a:xfrm>
          <a:prstGeom prst="rect">
            <a:avLst/>
          </a:prstGeom>
          <a:noFill/>
        </p:spPr>
        <p:txBody>
          <a:bodyPr wrap="square">
            <a:spAutoFit/>
          </a:bodyPr>
          <a:lstStyle/>
          <a:p>
            <a:pPr>
              <a:spcAft>
                <a:spcPts val="1100"/>
              </a:spcAft>
            </a:pPr>
            <a:r>
              <a:rPr sz="1500" b="0">
                <a:solidFill>
                  <a:srgbClr val="161B26"/>
                </a:solidFill>
                <a:latin typeface="Arial"/>
              </a:rPr>
              <a:t>•  Scores, ranks and forecasts.</a:t>
            </a:r>
          </a:p>
          <a:p>
            <a:pPr>
              <a:spcAft>
                <a:spcPts val="1100"/>
              </a:spcAft>
            </a:pPr>
            <a:r>
              <a:rPr sz="1500" b="0">
                <a:solidFill>
                  <a:srgbClr val="161B26"/>
                </a:solidFill>
                <a:latin typeface="Arial"/>
              </a:rPr>
              <a:t>•  Learns from labelled historical data.</a:t>
            </a:r>
          </a:p>
          <a:p>
            <a:pPr>
              <a:spcAft>
                <a:spcPts val="1100"/>
              </a:spcAft>
            </a:pPr>
            <a:r>
              <a:rPr sz="1500" b="0">
                <a:solidFill>
                  <a:srgbClr val="161B26"/>
                </a:solidFill>
                <a:latin typeface="Arial"/>
              </a:rPr>
              <a:t>•  Output: a number, class or probability.</a:t>
            </a:r>
          </a:p>
          <a:p>
            <a:pPr>
              <a:spcAft>
                <a:spcPts val="1100"/>
              </a:spcAft>
            </a:pPr>
            <a:r>
              <a:rPr sz="1500" b="0">
                <a:solidFill>
                  <a:srgbClr val="161B26"/>
                </a:solidFill>
                <a:latin typeface="Arial"/>
              </a:rPr>
              <a:t>•  Churn scoring, demand forecast, fraud detection.</a:t>
            </a:r>
          </a:p>
          <a:p>
            <a:pPr>
              <a:spcAft>
                <a:spcPts val="1100"/>
              </a:spcAft>
            </a:pPr>
            <a:r>
              <a:rPr sz="1500" b="0">
                <a:solidFill>
                  <a:srgbClr val="161B26"/>
                </a:solidFill>
                <a:latin typeface="Arial"/>
              </a:rPr>
              <a:t>•  Mature — in production for a decade.</a:t>
            </a:r>
          </a:p>
        </p:txBody>
      </p:sp>
      <p:sp>
        <p:nvSpPr>
          <p:cNvPr id="11" name="Rectangle 10"/>
          <p:cNvSpPr/>
          <p:nvPr/>
        </p:nvSpPr>
        <p:spPr>
          <a:xfrm>
            <a:off x="6199632"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783080"/>
            <a:ext cx="521208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783080"/>
            <a:ext cx="5212080" cy="566928"/>
          </a:xfrm>
          <a:prstGeom prst="rect">
            <a:avLst/>
          </a:prstGeom>
          <a:noFill/>
        </p:spPr>
        <p:txBody>
          <a:bodyPr wrap="square" anchor="ctr">
            <a:spAutoFit/>
          </a:bodyPr>
          <a:lstStyle/>
          <a:p>
            <a:pPr algn="ctr">
              <a:spcAft>
                <a:spcPts val="400"/>
              </a:spcAft>
            </a:pPr>
            <a:r>
              <a:rPr sz="1700" b="1">
                <a:solidFill>
                  <a:srgbClr val="FFFFFF"/>
                </a:solidFill>
                <a:latin typeface="Arial"/>
              </a:rPr>
              <a:t>GENERATIVE AI</a:t>
            </a:r>
          </a:p>
        </p:txBody>
      </p:sp>
      <p:sp>
        <p:nvSpPr>
          <p:cNvPr id="14" name="TextBox 13"/>
          <p:cNvSpPr txBox="1"/>
          <p:nvPr/>
        </p:nvSpPr>
        <p:spPr>
          <a:xfrm>
            <a:off x="6473952" y="2606040"/>
            <a:ext cx="4663440" cy="3200400"/>
          </a:xfrm>
          <a:prstGeom prst="rect">
            <a:avLst/>
          </a:prstGeom>
          <a:noFill/>
        </p:spPr>
        <p:txBody>
          <a:bodyPr wrap="square">
            <a:spAutoFit/>
          </a:bodyPr>
          <a:lstStyle/>
          <a:p>
            <a:pPr>
              <a:spcAft>
                <a:spcPts val="1100"/>
              </a:spcAft>
            </a:pPr>
            <a:r>
              <a:rPr sz="1500" b="0">
                <a:solidFill>
                  <a:srgbClr val="161B26"/>
                </a:solidFill>
                <a:latin typeface="Arial"/>
              </a:rPr>
              <a:t>•  Creates new content.</a:t>
            </a:r>
          </a:p>
          <a:p>
            <a:pPr>
              <a:spcAft>
                <a:spcPts val="1100"/>
              </a:spcAft>
            </a:pPr>
            <a:r>
              <a:rPr sz="1500" b="0">
                <a:solidFill>
                  <a:srgbClr val="161B26"/>
                </a:solidFill>
                <a:latin typeface="Arial"/>
              </a:rPr>
              <a:t>•  Learns patterns from very large corpora.</a:t>
            </a:r>
          </a:p>
          <a:p>
            <a:pPr>
              <a:spcAft>
                <a:spcPts val="1100"/>
              </a:spcAft>
            </a:pPr>
            <a:r>
              <a:rPr sz="1500" b="0">
                <a:solidFill>
                  <a:srgbClr val="161B26"/>
                </a:solidFill>
                <a:latin typeface="Arial"/>
              </a:rPr>
              <a:t>•  Output: text, image, audio, video, code.</a:t>
            </a:r>
          </a:p>
          <a:p>
            <a:pPr>
              <a:spcAft>
                <a:spcPts val="1100"/>
              </a:spcAft>
            </a:pPr>
            <a:r>
              <a:rPr sz="1500" b="0">
                <a:solidFill>
                  <a:srgbClr val="161B26"/>
                </a:solidFill>
                <a:latin typeface="Arial"/>
              </a:rPr>
              <a:t>•  Drafting, design, summarising, conversation.</a:t>
            </a:r>
          </a:p>
          <a:p>
            <a:pPr>
              <a:spcAft>
                <a:spcPts val="1100"/>
              </a:spcAft>
            </a:pPr>
            <a:r>
              <a:rPr sz="1500" b="0">
                <a:solidFill>
                  <a:srgbClr val="161B26"/>
                </a:solidFill>
                <a:latin typeface="Arial"/>
              </a:rPr>
              <a:t>•  Fast-moving — new capability every quarter.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UNDER THE HOOD</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Generative AI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Pre-train a foundation model on a very large corpus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Align it with human feedback so answers are useful and safe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Learner writes a prompt describing the task and context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Model predicts the most likely next token, repeatedly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Output is generated, then reviewed by a human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WHERE THE VALUE COMES FROM</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Four Business Value Levers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Revenue growth</a:t>
            </a:r>
          </a:p>
          <a:p>
            <a:pPr algn="l">
              <a:spcAft>
                <a:spcPts val="300"/>
              </a:spcAft>
            </a:pPr>
            <a:r>
              <a:rPr sz="1300" b="0">
                <a:solidFill>
                  <a:srgbClr val="5B6372"/>
                </a:solidFill>
                <a:latin typeface="Arial"/>
              </a:rPr>
              <a:t>Faster product development, new revenue channels, personalised offers at scale.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Cost &amp; productivity</a:t>
            </a:r>
          </a:p>
          <a:p>
            <a:pPr algn="l">
              <a:spcAft>
                <a:spcPts val="300"/>
              </a:spcAft>
            </a:pPr>
            <a:r>
              <a:rPr sz="1300" b="0">
                <a:solidFill>
                  <a:srgbClr val="5B6372"/>
                </a:solidFill>
                <a:latin typeface="Arial"/>
              </a:rPr>
              <a:t>Worker augmentation in drafting, summarising, coding and support; long-term talent optimisation.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Risk mitigation</a:t>
            </a:r>
          </a:p>
          <a:p>
            <a:pPr algn="l">
              <a:spcAft>
                <a:spcPts val="300"/>
              </a:spcAft>
            </a:pPr>
            <a:r>
              <a:rPr sz="1300" b="0">
                <a:solidFill>
                  <a:srgbClr val="5B6372"/>
                </a:solidFill>
                <a:latin typeface="Arial"/>
              </a:rPr>
              <a:t>Broader, deeper visibility of data improves pattern recognition and early risk detection.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Sustainability</a:t>
            </a:r>
          </a:p>
          <a:p>
            <a:pPr algn="l">
              <a:spcAft>
                <a:spcPts val="300"/>
              </a:spcAft>
            </a:pPr>
            <a:r>
              <a:rPr sz="1300" b="0">
                <a:solidFill>
                  <a:srgbClr val="5B6372"/>
                </a:solidFill>
                <a:latin typeface="Arial"/>
              </a:rPr>
              <a:t>Supports regulatory compliance and embeds sustainability into design and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TEN MODALITIES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Generative AI Tool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Text</a:t>
            </a:r>
          </a:p>
          <a:p>
            <a:pPr algn="l">
              <a:spcAft>
                <a:spcPts val="300"/>
              </a:spcAft>
            </a:pPr>
            <a:r>
              <a:rPr sz="1000" b="0">
                <a:solidFill>
                  <a:srgbClr val="5B6372"/>
                </a:solidFill>
                <a:latin typeface="Arial"/>
              </a:rPr>
              <a:t>ChatGPT · Gemini · Claude · Copilot · Perplexity</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Image</a:t>
            </a:r>
          </a:p>
          <a:p>
            <a:pPr algn="l">
              <a:spcAft>
                <a:spcPts val="300"/>
              </a:spcAft>
            </a:pPr>
            <a:r>
              <a:rPr sz="1000" b="0">
                <a:solidFill>
                  <a:srgbClr val="5B6372"/>
                </a:solidFill>
                <a:latin typeface="Arial"/>
              </a:rPr>
              <a:t>Firefly · Designer · Canva · Leonardo · Midjourney</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Speech &amp; voice</a:t>
            </a:r>
          </a:p>
          <a:p>
            <a:pPr algn="l">
              <a:spcAft>
                <a:spcPts val="300"/>
              </a:spcAft>
            </a:pPr>
            <a:r>
              <a:rPr sz="1000" b="0">
                <a:solidFill>
                  <a:srgbClr val="5B6372"/>
                </a:solidFill>
                <a:latin typeface="Arial"/>
              </a:rPr>
              <a:t>ElevenLabs · Descript · TTS and voice cloning</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Music</a:t>
            </a:r>
          </a:p>
          <a:p>
            <a:pPr algn="l">
              <a:spcAft>
                <a:spcPts val="300"/>
              </a:spcAft>
            </a:pPr>
            <a:r>
              <a:rPr sz="1000" b="0">
                <a:solidFill>
                  <a:srgbClr val="5B6372"/>
                </a:solidFill>
                <a:latin typeface="Arial"/>
              </a:rPr>
              <a:t>Suno · Udio · AIVA · Soundraw</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Video</a:t>
            </a:r>
          </a:p>
          <a:p>
            <a:pPr algn="l">
              <a:spcAft>
                <a:spcPts val="300"/>
              </a:spcAft>
            </a:pPr>
            <a:r>
              <a:rPr sz="1000" b="0">
                <a:solidFill>
                  <a:srgbClr val="5B6372"/>
                </a:solidFill>
                <a:latin typeface="Arial"/>
              </a:rPr>
              <a:t>Sora · Runway · Kling · CapCut · Veed</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Digital human</a:t>
            </a:r>
          </a:p>
          <a:p>
            <a:pPr algn="l">
              <a:spcAft>
                <a:spcPts val="300"/>
              </a:spcAft>
            </a:pPr>
            <a:r>
              <a:rPr sz="1000" b="0">
                <a:solidFill>
                  <a:srgbClr val="5B6372"/>
                </a:solidFill>
                <a:latin typeface="Arial"/>
              </a:rPr>
              <a:t>HeyGen · D-ID · Synthesia · Descript</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3D models</a:t>
            </a:r>
          </a:p>
          <a:p>
            <a:pPr algn="l">
              <a:spcAft>
                <a:spcPts val="300"/>
              </a:spcAft>
            </a:pPr>
            <a:r>
              <a:rPr sz="1000" b="0">
                <a:solidFill>
                  <a:srgbClr val="5B6372"/>
                </a:solidFill>
                <a:latin typeface="Arial"/>
              </a:rPr>
              <a:t>Luma AI · Meshy · Spline · Tripo</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Office productivity</a:t>
            </a:r>
          </a:p>
          <a:p>
            <a:pPr algn="l">
              <a:spcAft>
                <a:spcPts val="300"/>
              </a:spcAft>
            </a:pPr>
            <a:r>
              <a:rPr sz="1000" b="0">
                <a:solidFill>
                  <a:srgbClr val="5B6372"/>
                </a:solidFill>
                <a:latin typeface="Arial"/>
              </a:rPr>
              <a:t>Microsoft 365 Copilot · Google Workspace Gemini</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Data &amp; analysis</a:t>
            </a:r>
          </a:p>
          <a:p>
            <a:pPr algn="l">
              <a:spcAft>
                <a:spcPts val="300"/>
              </a:spcAft>
            </a:pPr>
            <a:r>
              <a:rPr sz="1000" b="0">
                <a:solidFill>
                  <a:srgbClr val="5B6372"/>
                </a:solidFill>
                <a:latin typeface="Arial"/>
              </a:rPr>
              <a:t>Code interpreter · Copilot in Excel · BI assistants</a:t>
            </a:r>
          </a:p>
        </p:txBody>
      </p:sp>
      <p:sp>
        <p:nvSpPr>
          <p:cNvPr id="52" name="Rectangle 51"/>
          <p:cNvSpPr/>
          <p:nvPr/>
        </p:nvSpPr>
        <p:spPr>
          <a:xfrm>
            <a:off x="6231636"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6994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553760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IP &amp; legal</a:t>
            </a:r>
          </a:p>
          <a:p>
            <a:pPr algn="l">
              <a:spcAft>
                <a:spcPts val="300"/>
              </a:spcAft>
            </a:pPr>
            <a:r>
              <a:rPr sz="1000" b="0">
                <a:solidFill>
                  <a:srgbClr val="5B6372"/>
                </a:solidFill>
                <a:latin typeface="Arial"/>
              </a:rPr>
              <a:t>Patent and trademark search · contract review assistants</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REAL-WORLD ADOPTION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 Cases Across Industries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Food &amp; beverage</a:t>
            </a:r>
          </a:p>
          <a:p>
            <a:pPr algn="l">
              <a:spcAft>
                <a:spcPts val="300"/>
              </a:spcAft>
            </a:pPr>
            <a:r>
              <a:rPr sz="1100" b="0">
                <a:solidFill>
                  <a:srgbClr val="5B6372"/>
                </a:solidFill>
                <a:latin typeface="Arial"/>
              </a:rPr>
              <a:t>McCormick used AI with IBM to develop new flavour combinations under its ONE platform.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Media &amp; entertainment</a:t>
            </a:r>
          </a:p>
          <a:p>
            <a:pPr algn="l">
              <a:spcAft>
                <a:spcPts val="300"/>
              </a:spcAft>
            </a:pPr>
            <a:r>
              <a:rPr sz="1100" b="0">
                <a:solidFill>
                  <a:srgbClr val="5B6372"/>
                </a:solidFill>
                <a:latin typeface="Arial"/>
              </a:rPr>
              <a:t>Script development, storyboarding, dubbing, de-ageing and localised content at scale.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 safety</a:t>
            </a:r>
          </a:p>
          <a:p>
            <a:pPr algn="l">
              <a:spcAft>
                <a:spcPts val="300"/>
              </a:spcAft>
            </a:pPr>
            <a:r>
              <a:rPr sz="1100" b="0">
                <a:solidFill>
                  <a:srgbClr val="5B6372"/>
                </a:solidFill>
                <a:latin typeface="Arial"/>
              </a:rPr>
              <a:t>Analysing historical incident data to allocate resources proactively — with strict oversight.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Financial services</a:t>
            </a:r>
          </a:p>
          <a:p>
            <a:pPr algn="l">
              <a:spcAft>
                <a:spcPts val="300"/>
              </a:spcAft>
            </a:pPr>
            <a:r>
              <a:rPr sz="1100" b="0">
                <a:solidFill>
                  <a:srgbClr val="5B6372"/>
                </a:solidFill>
                <a:latin typeface="Arial"/>
              </a:rPr>
              <a:t>Client reporting, KYC summarisation, adviser copilots and fraud narrative generation.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Healthcare</a:t>
            </a:r>
          </a:p>
          <a:p>
            <a:pPr algn="l">
              <a:spcAft>
                <a:spcPts val="300"/>
              </a:spcAft>
            </a:pPr>
            <a:r>
              <a:rPr sz="1100" b="0">
                <a:solidFill>
                  <a:srgbClr val="5B6372"/>
                </a:solidFill>
                <a:latin typeface="Arial"/>
              </a:rPr>
              <a:t>Clinical note-taking, patient communication drafting and research summarisation.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Retail &amp; e-commerce</a:t>
            </a:r>
          </a:p>
          <a:p>
            <a:pPr algn="l">
              <a:spcAft>
                <a:spcPts val="300"/>
              </a:spcAft>
            </a:pPr>
            <a:r>
              <a:rPr sz="1100" b="0">
                <a:solidFill>
                  <a:srgbClr val="5B6372"/>
                </a:solidFill>
                <a:latin typeface="Arial"/>
              </a:rPr>
              <a:t>Product descriptions, personalised campaigns and conversational shopping assistants.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SCORING RUBRIC</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Evaluating a GenAI Opportunity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value</a:t>
            </a:r>
          </a:p>
          <a:p>
            <a:pPr algn="l">
              <a:spcAft>
                <a:spcPts val="300"/>
              </a:spcAft>
            </a:pPr>
            <a:r>
              <a:rPr sz="1200" b="0">
                <a:solidFill>
                  <a:srgbClr val="5B6372"/>
                </a:solidFill>
                <a:latin typeface="Arial"/>
              </a:rPr>
              <a:t>How much revenue, cost or risk does it actually move?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Feasibility</a:t>
            </a:r>
          </a:p>
          <a:p>
            <a:pPr algn="l">
              <a:spcAft>
                <a:spcPts val="300"/>
              </a:spcAft>
            </a:pPr>
            <a:r>
              <a:rPr sz="1200" b="0">
                <a:solidFill>
                  <a:srgbClr val="5B6372"/>
                </a:solidFill>
                <a:latin typeface="Arial"/>
              </a:rPr>
              <a:t>Can it be built and adopted with the capability we have?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readiness</a:t>
            </a:r>
          </a:p>
          <a:p>
            <a:pPr algn="l">
              <a:spcAft>
                <a:spcPts val="300"/>
              </a:spcAft>
            </a:pPr>
            <a:r>
              <a:rPr sz="1200" b="0">
                <a:solidFill>
                  <a:srgbClr val="5B6372"/>
                </a:solidFill>
                <a:latin typeface="Arial"/>
              </a:rPr>
              <a:t>Does the data exist, and are we permitted to use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What is the legal, ethical, security and reputational exposure?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Strategic fit</a:t>
            </a:r>
          </a:p>
          <a:p>
            <a:pPr algn="l">
              <a:spcAft>
                <a:spcPts val="300"/>
              </a:spcAft>
            </a:pPr>
            <a:r>
              <a:rPr sz="1200" b="0">
                <a:solidFill>
                  <a:srgbClr val="5B6372"/>
                </a:solidFill>
                <a:latin typeface="Arial"/>
              </a:rPr>
              <a:t>Does it advance a stated organisational objective?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Score, weight, rank — then defend the top two and the discards.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Hands-On Labs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146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74264"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874264" cy="3108960"/>
          </a:xfrm>
          <a:prstGeom prst="rect">
            <a:avLst/>
          </a:prstGeom>
          <a:noFill/>
        </p:spPr>
        <p:txBody>
          <a:bodyPr wrap="square">
            <a:spAutoFit/>
          </a:bodyPr>
          <a:lstStyle/>
          <a:p>
            <a:pPr>
              <a:spcAft>
                <a:spcPts val="900"/>
              </a:spcAft>
            </a:pPr>
            <a:r>
              <a:rPr sz="1400" b="0">
                <a:solidFill>
                  <a:srgbClr val="161B26"/>
                </a:solidFill>
                <a:latin typeface="Arial"/>
              </a:rPr>
              <a:t>•  Compare Predictive and Generative AI on a Business Task</a:t>
            </a:r>
          </a:p>
          <a:p>
            <a:pPr>
              <a:spcAft>
                <a:spcPts val="900"/>
              </a:spcAft>
            </a:pPr>
            <a:r>
              <a:rPr sz="1400" b="0">
                <a:solidFill>
                  <a:srgbClr val="161B26"/>
                </a:solidFill>
                <a:latin typeface="Arial"/>
              </a:rPr>
              <a:t>•  Map the Generative AI Tool Landscape</a:t>
            </a:r>
          </a:p>
        </p:txBody>
      </p:sp>
      <p:sp>
        <p:nvSpPr>
          <p:cNvPr id="11" name="Rectangle 10"/>
          <p:cNvSpPr/>
          <p:nvPr/>
        </p:nvSpPr>
        <p:spPr>
          <a:xfrm>
            <a:off x="4428744"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8744" y="1783080"/>
            <a:ext cx="333146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7344" y="2011680"/>
            <a:ext cx="2874264"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657344" y="2697480"/>
            <a:ext cx="2874264" cy="3108960"/>
          </a:xfrm>
          <a:prstGeom prst="rect">
            <a:avLst/>
          </a:prstGeom>
          <a:noFill/>
        </p:spPr>
        <p:txBody>
          <a:bodyPr wrap="square">
            <a:spAutoFit/>
          </a:bodyPr>
          <a:lstStyle/>
          <a:p>
            <a:pPr>
              <a:spcAft>
                <a:spcPts val="900"/>
              </a:spcAft>
            </a:pPr>
            <a:r>
              <a:rPr sz="1400" b="0">
                <a:solidFill>
                  <a:srgbClr val="161B26"/>
                </a:solidFill>
                <a:latin typeface="Arial"/>
              </a:rPr>
              <a:t>•  Research a Business Idea with Perplexity and NotebookLM</a:t>
            </a:r>
          </a:p>
        </p:txBody>
      </p:sp>
      <p:sp>
        <p:nvSpPr>
          <p:cNvPr id="15" name="Rectangle 14"/>
          <p:cNvSpPr/>
          <p:nvPr/>
        </p:nvSpPr>
        <p:spPr>
          <a:xfrm>
            <a:off x="8080248"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0248" y="1783080"/>
            <a:ext cx="333146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8848" y="2011680"/>
            <a:ext cx="2874264" cy="548640"/>
          </a:xfrm>
          <a:prstGeom prst="rect">
            <a:avLst/>
          </a:prstGeom>
          <a:noFill/>
        </p:spPr>
        <p:txBody>
          <a:bodyPr wrap="square" anchor="t">
            <a:spAutoFit/>
          </a:bodyPr>
          <a:lstStyle/>
          <a:p>
            <a:pPr algn="l">
              <a:spcAft>
                <a:spcPts val="400"/>
              </a:spcAft>
            </a:pPr>
            <a:r>
              <a:rPr sz="1900" b="1">
                <a:solidFill>
                  <a:srgbClr val="7C3AED"/>
                </a:solidFill>
                <a:latin typeface="Arial"/>
              </a:rPr>
              <a:t>Lab 4</a:t>
            </a:r>
          </a:p>
        </p:txBody>
      </p:sp>
      <p:sp>
        <p:nvSpPr>
          <p:cNvPr id="18" name="TextBox 17"/>
          <p:cNvSpPr txBox="1"/>
          <p:nvPr/>
        </p:nvSpPr>
        <p:spPr>
          <a:xfrm>
            <a:off x="8308848" y="2697480"/>
            <a:ext cx="2874264" cy="3108960"/>
          </a:xfrm>
          <a:prstGeom prst="rect">
            <a:avLst/>
          </a:prstGeom>
          <a:noFill/>
        </p:spPr>
        <p:txBody>
          <a:bodyPr wrap="square">
            <a:spAutoFit/>
          </a:bodyPr>
          <a:lstStyle/>
          <a:p>
            <a:pPr>
              <a:spcAft>
                <a:spcPts val="900"/>
              </a:spcAft>
            </a:pPr>
            <a:r>
              <a:rPr sz="1400" b="0">
                <a:solidFill>
                  <a:srgbClr val="161B26"/>
                </a:solidFill>
                <a:latin typeface="Arial"/>
              </a:rPr>
              <a:t>•  Evaluate and Prioritise Your Business Idea</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Compare Predictive and Generative AI on a Business Task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Run the same customer-feedback data through a predictive framing and a generative framing, then contrast what each produces and when a business should reach for which.</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one-page comparison table showing predictive vs generative output on the same business problem, with a recommendation on when to use each.</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ChatGPT, Google Gemini or Claude (free tier)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Compare Predictive and Generative AI on a Business Task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table clearly shows predictive AI producing a label or forecast from historical data, and generative AI producing new content — and you can justify which one fits a named task in your organisation.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Map the Generative AI Tool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Build a personal tool map by testing one tool in each of four modalities, so you can pick the right tool for a business need instead of defaulting to a chat assistant. These are the tools you will use for the rest of the course.</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tool map listing at least eight GenAI tools by modality, each with its business use case, pricing tier and one limitation you observed.</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ChatGPT/Gemini/Claude, Perplexity, Adobe Firefly or Microsoft Designer, Suno, Canva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Map the Generative AI Tool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tool map covers at least four modalities you tested first-hand plus three more from the slides, and for each tool you can name the business task it best supports and one limitation.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Research a Business Idea with Perplexity and NotebookLM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STAGE 1 OF THE PIPELINE. Choose the business idea you will carry through the whole course, then research it properly: Perplexity for the external market with cited sources, NotebookLM for synthesising the documents into a grounded briefing you can trust.</a:t>
            </a:r>
          </a:p>
        </p:txBody>
      </p:sp>
      <p:sp>
        <p:nvSpPr>
          <p:cNvPr id="10" name="Rectangle 9"/>
          <p:cNvSpPr/>
          <p:nvPr/>
        </p:nvSpPr>
        <p:spPr>
          <a:xfrm>
            <a:off x="777240" y="3950208"/>
            <a:ext cx="10698480" cy="1892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932688"/>
          </a:xfrm>
          <a:prstGeom prst="rect">
            <a:avLst/>
          </a:prstGeom>
          <a:noFill/>
        </p:spPr>
        <p:txBody>
          <a:bodyPr wrap="square" anchor="t">
            <a:spAutoFit/>
          </a:bodyPr>
          <a:lstStyle/>
          <a:p>
            <a:pPr algn="l">
              <a:spcAft>
                <a:spcPts val="400"/>
              </a:spcAft>
            </a:pPr>
            <a:r>
              <a:rPr sz="1500" b="1">
                <a:solidFill>
                  <a:srgbClr val="161B26"/>
                </a:solidFill>
                <a:latin typeface="Arial"/>
              </a:rPr>
              <a:t>A research briefing on ONE chosen business idea: market size and trend, three competitors, the customer problem, and three verified sources — plus a NotebookLM notebook containing the underlying documents.</a:t>
            </a:r>
          </a:p>
        </p:txBody>
      </p:sp>
      <p:sp>
        <p:nvSpPr>
          <p:cNvPr id="13" name="TextBox 12"/>
          <p:cNvSpPr txBox="1"/>
          <p:nvPr/>
        </p:nvSpPr>
        <p:spPr>
          <a:xfrm>
            <a:off x="1005840" y="5431536"/>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Perplexity (Deep Research), Google NotebookLM, ChatGPT/Gemini/Claude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Research a Business Idea with Perplexity and NotebookLM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briefing fits one page, every statistic traces to a source you personally opened, and your NotebookLM notebook answers the core-problem question with an inline citation.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Evaluate and Prioritise Your Business Idea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STAGE 2 OF THE PIPELINE. Stress-test the idea from Lab 3 against alternatives using an explicit scoring rubric, so the decision to proceed can be defended to management rather than being a matter of taste.</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500" b="1">
                <a:solidFill>
                  <a:srgbClr val="161B26"/>
                </a:solidFill>
                <a:latin typeface="Arial"/>
              </a:rPr>
              <a:t>A scored opportunity register comparing your chosen idea against five alternatives on business value, feasibility, data readiness, risk and strategic fit — with a defended recommendation.</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ChatGPT/Gemini/Claude, Excel or Google Sheets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Evaluate and Prioritise Your Business Idea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register scores all six ideas on the five weighted criteria, your chosen idea maps to a named organisational objective, and you can explain why the lowest-ranked idea was rejected.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1560" y="2100834"/>
            <a:ext cx="10515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00834"/>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1" name="TextBox 10"/>
          <p:cNvSpPr txBox="1"/>
          <p:nvPr/>
        </p:nvSpPr>
        <p:spPr>
          <a:xfrm>
            <a:off x="2331720" y="1783080"/>
            <a:ext cx="8869680" cy="982980"/>
          </a:xfrm>
          <a:prstGeom prst="rect">
            <a:avLst/>
          </a:prstGeom>
          <a:noFill/>
        </p:spPr>
        <p:txBody>
          <a:bodyPr wrap="square" anchor="ctr">
            <a:spAutoFit/>
          </a:bodyPr>
          <a:lstStyle/>
          <a:p>
            <a:pPr algn="l">
              <a:spcAft>
                <a:spcPts val="400"/>
              </a:spcAft>
            </a:pPr>
            <a:r>
              <a:rPr sz="1300" b="0">
                <a:solidFill>
                  <a:srgbClr val="161B26"/>
                </a:solidFill>
                <a:latin typeface="Arial"/>
              </a:rPr>
              <a:t>Distinguish current predictive ai from emerging generative ai and describe where each creates business value.</a:t>
            </a:r>
          </a:p>
        </p:txBody>
      </p:sp>
      <p:sp>
        <p:nvSpPr>
          <p:cNvPr id="12" name="Rectangle 11"/>
          <p:cNvSpPr/>
          <p:nvPr/>
        </p:nvSpPr>
        <p:spPr>
          <a:xfrm>
            <a:off x="777240" y="2912364"/>
            <a:ext cx="106344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12364"/>
            <a:ext cx="91440"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3230118"/>
            <a:ext cx="10515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230118"/>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6" name="TextBox 15"/>
          <p:cNvSpPr txBox="1"/>
          <p:nvPr/>
        </p:nvSpPr>
        <p:spPr>
          <a:xfrm>
            <a:off x="2331720" y="2912364"/>
            <a:ext cx="8869680" cy="982980"/>
          </a:xfrm>
          <a:prstGeom prst="rect">
            <a:avLst/>
          </a:prstGeom>
          <a:noFill/>
        </p:spPr>
        <p:txBody>
          <a:bodyPr wrap="square" anchor="ctr">
            <a:spAutoFit/>
          </a:bodyPr>
          <a:lstStyle/>
          <a:p>
            <a:pPr algn="l">
              <a:spcAft>
                <a:spcPts val="400"/>
              </a:spcAft>
            </a:pPr>
            <a:r>
              <a:rPr sz="1300" b="0">
                <a:solidFill>
                  <a:srgbClr val="161B26"/>
                </a:solidFill>
                <a:latin typeface="Arial"/>
              </a:rPr>
              <a:t>Survey generative ai tools across text, image, audio, video, digital human, productivity and data analysis.</a:t>
            </a:r>
          </a:p>
        </p:txBody>
      </p:sp>
      <p:sp>
        <p:nvSpPr>
          <p:cNvPr id="17" name="Rectangle 16"/>
          <p:cNvSpPr/>
          <p:nvPr/>
        </p:nvSpPr>
        <p:spPr>
          <a:xfrm>
            <a:off x="777240" y="4041648"/>
            <a:ext cx="106344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1560" y="4359402"/>
            <a:ext cx="1051560" cy="347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359402"/>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TextBox 20"/>
          <p:cNvSpPr txBox="1"/>
          <p:nvPr/>
        </p:nvSpPr>
        <p:spPr>
          <a:xfrm>
            <a:off x="2331720" y="4041648"/>
            <a:ext cx="8869680" cy="982980"/>
          </a:xfrm>
          <a:prstGeom prst="rect">
            <a:avLst/>
          </a:prstGeom>
          <a:noFill/>
        </p:spPr>
        <p:txBody>
          <a:bodyPr wrap="square" anchor="ctr">
            <a:spAutoFit/>
          </a:bodyPr>
          <a:lstStyle/>
          <a:p>
            <a:pPr algn="l">
              <a:spcAft>
                <a:spcPts val="400"/>
              </a:spcAft>
            </a:pPr>
            <a:r>
              <a:rPr sz="1300" b="0">
                <a:solidFill>
                  <a:srgbClr val="161B26"/>
                </a:solidFill>
                <a:latin typeface="Arial"/>
              </a:rPr>
              <a:t>Investigate business strategies, and the organisation's operating context, priorities, domain and environment, to identify business opportunities created by generative ai.</a:t>
            </a:r>
          </a:p>
        </p:txBody>
      </p:sp>
      <p:sp>
        <p:nvSpPr>
          <p:cNvPr id="22" name="Rectangle 21"/>
          <p:cNvSpPr/>
          <p:nvPr/>
        </p:nvSpPr>
        <p:spPr>
          <a:xfrm>
            <a:off x="777240" y="5170932"/>
            <a:ext cx="106344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70932"/>
            <a:ext cx="91440"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5488686"/>
            <a:ext cx="1051560" cy="3474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488686"/>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6" name="TextBox 25"/>
          <p:cNvSpPr txBox="1"/>
          <p:nvPr/>
        </p:nvSpPr>
        <p:spPr>
          <a:xfrm>
            <a:off x="2331720" y="5170932"/>
            <a:ext cx="8869680" cy="982980"/>
          </a:xfrm>
          <a:prstGeom prst="rect">
            <a:avLst/>
          </a:prstGeom>
          <a:noFill/>
        </p:spPr>
        <p:txBody>
          <a:bodyPr wrap="square" anchor="ctr">
            <a:spAutoFit/>
          </a:bodyPr>
          <a:lstStyle/>
          <a:p>
            <a:pPr algn="l">
              <a:spcAft>
                <a:spcPts val="400"/>
              </a:spcAft>
            </a:pPr>
            <a:r>
              <a:rPr sz="1300" b="0">
                <a:solidFill>
                  <a:srgbClr val="161B26"/>
                </a:solidFill>
                <a:latin typeface="Arial"/>
              </a:rPr>
              <a:t>Evaluate opportunities for viability, applicability to the organisation and compatibility with business goals.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Designing Digital Architectures and Processes for Business Innovation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Business Model Canvas · Design Thinking · digital architecture · action planning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WHAT THIS TOPIC COVERS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planning methodologies</a:t>
            </a:r>
          </a:p>
          <a:p>
            <a:pPr algn="l">
              <a:spcAft>
                <a:spcPts val="300"/>
              </a:spcAft>
            </a:pPr>
            <a:r>
              <a:rPr sz="1100" b="0">
                <a:solidFill>
                  <a:srgbClr val="5B6372"/>
                </a:solidFill>
                <a:latin typeface="Arial"/>
              </a:rPr>
              <a:t>The Business Model Canvas, Value Proposition Canvas and Design Thinking give innovation a repeatable structure.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AI-powered Business Model Canvas</a:t>
            </a:r>
          </a:p>
          <a:p>
            <a:pPr algn="l">
              <a:spcAft>
                <a:spcPts val="300"/>
              </a:spcAft>
            </a:pPr>
            <a:r>
              <a:rPr sz="1100" b="0">
                <a:solidFill>
                  <a:srgbClr val="5B6372"/>
                </a:solidFill>
                <a:latin typeface="Arial"/>
              </a:rPr>
              <a:t>Use GenAI to draft and stress-test each of the nine blocks, then validate the assumptions with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Design Thinking with GenAI</a:t>
            </a:r>
          </a:p>
          <a:p>
            <a:pPr algn="l">
              <a:spcAft>
                <a:spcPts val="300"/>
              </a:spcAft>
            </a:pPr>
            <a:r>
              <a:rPr sz="1100" b="0">
                <a:solidFill>
                  <a:srgbClr val="5B6372"/>
                </a:solidFill>
                <a:latin typeface="Arial"/>
              </a:rPr>
              <a:t>Empathise, Define, Ideate, Prototype and Test — GenAI accelerates every stage, especially ideation and prototyping.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Digital architecture layers</a:t>
            </a:r>
          </a:p>
          <a:p>
            <a:pPr algn="l">
              <a:spcAft>
                <a:spcPts val="300"/>
              </a:spcAft>
            </a:pPr>
            <a:r>
              <a:rPr sz="1100" b="0">
                <a:solidFill>
                  <a:srgbClr val="5B6372"/>
                </a:solidFill>
                <a:latin typeface="Arial"/>
              </a:rPr>
              <a:t>Data, model, orchestration, application and governance layers describe where AI sits in the business.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Integration patterns</a:t>
            </a:r>
          </a:p>
          <a:p>
            <a:pPr algn="l">
              <a:spcAft>
                <a:spcPts val="300"/>
              </a:spcAft>
            </a:pPr>
            <a:r>
              <a:rPr sz="1100" b="0">
                <a:solidFill>
                  <a:srgbClr val="5B6372"/>
                </a:solidFill>
                <a:latin typeface="Arial"/>
              </a:rPr>
              <a:t>Chat assistant, RAG over company documents, workflow automation and autonomous agents are the four common patterns.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From design to action plan</a:t>
            </a:r>
          </a:p>
          <a:p>
            <a:pPr algn="l">
              <a:spcAft>
                <a:spcPts val="300"/>
              </a:spcAft>
            </a:pPr>
            <a:r>
              <a:rPr sz="1100" b="0">
                <a:solidFill>
                  <a:srgbClr val="5B6372"/>
                </a:solidFill>
                <a:latin typeface="Arial"/>
              </a:rPr>
              <a:t>An action plan names the owner, milestone, resource, risk and success measure for every initiative.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STRUCTURE FOR INNOVATION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Business Planning Methodologies for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Business Model Canvas</a:t>
            </a:r>
          </a:p>
          <a:p>
            <a:pPr algn="l">
              <a:spcAft>
                <a:spcPts val="300"/>
              </a:spcAft>
            </a:pPr>
            <a:r>
              <a:rPr sz="1300" b="0">
                <a:solidFill>
                  <a:srgbClr val="5B6372"/>
                </a:solidFill>
                <a:latin typeface="Arial"/>
              </a:rPr>
              <a:t>Nine blocks describing how the organisation creates, delivers and captures value.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Value Proposition Canvas</a:t>
            </a:r>
          </a:p>
          <a:p>
            <a:pPr algn="l">
              <a:spcAft>
                <a:spcPts val="300"/>
              </a:spcAft>
            </a:pPr>
            <a:r>
              <a:rPr sz="1300" b="0">
                <a:solidFill>
                  <a:srgbClr val="5B6372"/>
                </a:solidFill>
                <a:latin typeface="Arial"/>
              </a:rPr>
              <a:t>Matches customer jobs, pains and gains to your products and services.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Thinking</a:t>
            </a:r>
          </a:p>
          <a:p>
            <a:pPr algn="l">
              <a:spcAft>
                <a:spcPts val="300"/>
              </a:spcAft>
            </a:pPr>
            <a:r>
              <a:rPr sz="1300" b="0">
                <a:solidFill>
                  <a:srgbClr val="5B6372"/>
                </a:solidFill>
                <a:latin typeface="Arial"/>
              </a:rPr>
              <a:t>Empathise, Define, Ideate, Prototype, Test — human-centred and iterative.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Lean experimentation</a:t>
            </a:r>
          </a:p>
          <a:p>
            <a:pPr algn="l">
              <a:spcAft>
                <a:spcPts val="300"/>
              </a:spcAft>
            </a:pPr>
            <a:r>
              <a:rPr sz="1300" b="0">
                <a:solidFill>
                  <a:srgbClr val="5B6372"/>
                </a:solidFill>
                <a:latin typeface="Arial"/>
              </a:rPr>
              <a:t>Identify the riskiest assumption and test it cheaply before committing.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GROUP ACTIVITIES · LABS 5–6</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BMC Studio — Your Canvas Ed-Tool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231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74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Design Thinking Studio</a:t>
            </a:r>
          </a:p>
        </p:txBody>
      </p:sp>
      <p:sp>
        <p:nvSpPr>
          <p:cNvPr id="10" name="TextBox 9"/>
          <p:cNvSpPr txBox="1"/>
          <p:nvPr/>
        </p:nvSpPr>
        <p:spPr>
          <a:xfrm>
            <a:off x="1033272" y="2167128"/>
            <a:ext cx="2874264" cy="274320"/>
          </a:xfrm>
          <a:prstGeom prst="rect">
            <a:avLst/>
          </a:prstGeom>
          <a:noFill/>
        </p:spPr>
        <p:txBody>
          <a:bodyPr wrap="square">
            <a:spAutoFit/>
          </a:bodyPr>
          <a:lstStyle/>
          <a:p>
            <a:r>
              <a:rPr sz="950" u="sng">
                <a:solidFill>
                  <a:srgbClr val="1F6FEB"/>
                </a:solidFill>
                <a:latin typeface="Arial"/>
                <a:hlinkClick r:id="rId2"/>
              </a:rPr>
              <a:t>alfredang.github.io/designthinking</a:t>
            </a:r>
          </a:p>
        </p:txBody>
      </p:sp>
      <p:sp>
        <p:nvSpPr>
          <p:cNvPr id="11" name="TextBox 10"/>
          <p:cNvSpPr txBox="1"/>
          <p:nvPr/>
        </p:nvSpPr>
        <p:spPr>
          <a:xfrm>
            <a:off x="1033272" y="2459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5 stages · empathy map · voting — Lab 5</a:t>
            </a:r>
          </a:p>
        </p:txBody>
      </p:sp>
      <p:sp>
        <p:nvSpPr>
          <p:cNvPr id="12" name="Rounded Rectangle 11"/>
          <p:cNvSpPr/>
          <p:nvPr/>
        </p:nvSpPr>
        <p:spPr>
          <a:xfrm>
            <a:off x="4401312" y="1783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1312" y="1828800"/>
            <a:ext cx="64008" cy="1231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7344" y="1874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BMC Studio</a:t>
            </a:r>
          </a:p>
        </p:txBody>
      </p:sp>
      <p:sp>
        <p:nvSpPr>
          <p:cNvPr id="15" name="TextBox 14"/>
          <p:cNvSpPr txBox="1"/>
          <p:nvPr/>
        </p:nvSpPr>
        <p:spPr>
          <a:xfrm>
            <a:off x="4657344" y="2167128"/>
            <a:ext cx="2874264" cy="274320"/>
          </a:xfrm>
          <a:prstGeom prst="rect">
            <a:avLst/>
          </a:prstGeom>
          <a:noFill/>
        </p:spPr>
        <p:txBody>
          <a:bodyPr wrap="square">
            <a:spAutoFit/>
          </a:bodyPr>
          <a:lstStyle/>
          <a:p>
            <a:r>
              <a:rPr sz="950" u="sng">
                <a:solidFill>
                  <a:srgbClr val="1F6FEB"/>
                </a:solidFill>
                <a:latin typeface="Arial"/>
                <a:hlinkClick r:id="rId3"/>
              </a:rPr>
              <a:t>alfredang.github.io/bcm</a:t>
            </a:r>
          </a:p>
        </p:txBody>
      </p:sp>
      <p:sp>
        <p:nvSpPr>
          <p:cNvPr id="16" name="TextBox 15"/>
          <p:cNvSpPr txBox="1"/>
          <p:nvPr/>
        </p:nvSpPr>
        <p:spPr>
          <a:xfrm>
            <a:off x="4657344" y="2459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Nine blocks · Strategyzer prompts — Lab 6</a:t>
            </a:r>
          </a:p>
        </p:txBody>
      </p:sp>
      <p:sp>
        <p:nvSpPr>
          <p:cNvPr id="17" name="Rounded Rectangle 16"/>
          <p:cNvSpPr/>
          <p:nvPr/>
        </p:nvSpPr>
        <p:spPr>
          <a:xfrm>
            <a:off x="8025384" y="1783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5384" y="1828800"/>
            <a:ext cx="64008" cy="12313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1416" y="1874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One owner creates</a:t>
            </a:r>
          </a:p>
        </p:txBody>
      </p:sp>
      <p:sp>
        <p:nvSpPr>
          <p:cNvPr id="20" name="TextBox 19"/>
          <p:cNvSpPr txBox="1"/>
          <p:nvPr/>
        </p:nvSpPr>
        <p:spPr>
          <a:xfrm>
            <a:off x="8281416" y="2167128"/>
            <a:ext cx="2874264" cy="274320"/>
          </a:xfrm>
          <a:prstGeom prst="rect">
            <a:avLst/>
          </a:prstGeom>
          <a:noFill/>
        </p:spPr>
        <p:txBody>
          <a:bodyPr wrap="square">
            <a:spAutoFit/>
          </a:bodyPr>
          <a:lstStyle/>
          <a:p>
            <a:r>
              <a:rPr sz="950" u="sng">
                <a:solidFill>
                  <a:srgbClr val="1F6FEB"/>
                </a:solidFill>
                <a:latin typeface="Arial"/>
                <a:hlinkClick r:id="rId4"/>
              </a:rPr>
              <a:t>Share the Canvas ID</a:t>
            </a:r>
          </a:p>
        </p:txBody>
      </p:sp>
      <p:sp>
        <p:nvSpPr>
          <p:cNvPr id="21" name="TextBox 20"/>
          <p:cNvSpPr txBox="1"/>
          <p:nvPr/>
        </p:nvSpPr>
        <p:spPr>
          <a:xfrm>
            <a:off x="8281416" y="2459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Team joins by link or QR code</a:t>
            </a:r>
          </a:p>
        </p:txBody>
      </p:sp>
      <p:sp>
        <p:nvSpPr>
          <p:cNvPr id="22" name="Rounded Rectangle 21"/>
          <p:cNvSpPr/>
          <p:nvPr/>
        </p:nvSpPr>
        <p:spPr>
          <a:xfrm>
            <a:off x="777240" y="3307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352800"/>
            <a:ext cx="64008" cy="12313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3398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Everyone edits live</a:t>
            </a:r>
          </a:p>
        </p:txBody>
      </p:sp>
      <p:sp>
        <p:nvSpPr>
          <p:cNvPr id="25" name="TextBox 24"/>
          <p:cNvSpPr txBox="1"/>
          <p:nvPr/>
        </p:nvSpPr>
        <p:spPr>
          <a:xfrm>
            <a:off x="1033272" y="3691128"/>
            <a:ext cx="2874264" cy="274320"/>
          </a:xfrm>
          <a:prstGeom prst="rect">
            <a:avLst/>
          </a:prstGeom>
          <a:noFill/>
        </p:spPr>
        <p:txBody>
          <a:bodyPr wrap="square">
            <a:spAutoFit/>
          </a:bodyPr>
          <a:lstStyle/>
          <a:p>
            <a:r>
              <a:rPr sz="950" u="sng">
                <a:solidFill>
                  <a:srgbClr val="1F6FEB"/>
                </a:solidFill>
                <a:latin typeface="Arial"/>
                <a:hlinkClick r:id="rId5"/>
              </a:rPr>
              <a:t>Real-time sticky notes</a:t>
            </a:r>
          </a:p>
        </p:txBody>
      </p:sp>
      <p:sp>
        <p:nvSpPr>
          <p:cNvPr id="26" name="TextBox 25"/>
          <p:cNvSpPr txBox="1"/>
          <p:nvPr/>
        </p:nvSpPr>
        <p:spPr>
          <a:xfrm>
            <a:off x="1033272" y="3983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See teammates' initials as they work</a:t>
            </a:r>
          </a:p>
        </p:txBody>
      </p:sp>
      <p:sp>
        <p:nvSpPr>
          <p:cNvPr id="27" name="Rounded Rectangle 26"/>
          <p:cNvSpPr/>
          <p:nvPr/>
        </p:nvSpPr>
        <p:spPr>
          <a:xfrm>
            <a:off x="4401312" y="3307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1312" y="3352800"/>
            <a:ext cx="64008" cy="1231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57344" y="3398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Nine blocks guided</a:t>
            </a:r>
          </a:p>
        </p:txBody>
      </p:sp>
      <p:sp>
        <p:nvSpPr>
          <p:cNvPr id="30" name="TextBox 29"/>
          <p:cNvSpPr txBox="1"/>
          <p:nvPr/>
        </p:nvSpPr>
        <p:spPr>
          <a:xfrm>
            <a:off x="4657344" y="3691128"/>
            <a:ext cx="2874264" cy="274320"/>
          </a:xfrm>
          <a:prstGeom prst="rect">
            <a:avLst/>
          </a:prstGeom>
          <a:noFill/>
        </p:spPr>
        <p:txBody>
          <a:bodyPr wrap="square">
            <a:spAutoFit/>
          </a:bodyPr>
          <a:lstStyle/>
          <a:p>
            <a:r>
              <a:rPr sz="950" u="sng">
                <a:solidFill>
                  <a:srgbClr val="1F6FEB"/>
                </a:solidFill>
                <a:latin typeface="Arial"/>
                <a:hlinkClick r:id="rId6"/>
              </a:rPr>
              <a:t>Strategyzer prompts built in</a:t>
            </a:r>
          </a:p>
        </p:txBody>
      </p:sp>
      <p:sp>
        <p:nvSpPr>
          <p:cNvPr id="31" name="TextBox 30"/>
          <p:cNvSpPr txBox="1"/>
          <p:nvPr/>
        </p:nvSpPr>
        <p:spPr>
          <a:xfrm>
            <a:off x="4657344" y="3983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Each block asks the right question</a:t>
            </a:r>
          </a:p>
        </p:txBody>
      </p:sp>
      <p:sp>
        <p:nvSpPr>
          <p:cNvPr id="32" name="Rounded Rectangle 31"/>
          <p:cNvSpPr/>
          <p:nvPr/>
        </p:nvSpPr>
        <p:spPr>
          <a:xfrm>
            <a:off x="8025384" y="3307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25384" y="3352800"/>
            <a:ext cx="64008" cy="1231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1416" y="3398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Tag and prioritise</a:t>
            </a:r>
          </a:p>
        </p:txBody>
      </p:sp>
      <p:sp>
        <p:nvSpPr>
          <p:cNvPr id="35" name="TextBox 34"/>
          <p:cNvSpPr txBox="1"/>
          <p:nvPr/>
        </p:nvSpPr>
        <p:spPr>
          <a:xfrm>
            <a:off x="8281416" y="3691128"/>
            <a:ext cx="2874264" cy="274320"/>
          </a:xfrm>
          <a:prstGeom prst="rect">
            <a:avLst/>
          </a:prstGeom>
          <a:noFill/>
        </p:spPr>
        <p:txBody>
          <a:bodyPr wrap="square">
            <a:spAutoFit/>
          </a:bodyPr>
          <a:lstStyle/>
          <a:p>
            <a:r>
              <a:rPr sz="950" u="sng">
                <a:solidFill>
                  <a:srgbClr val="1F6FEB"/>
                </a:solidFill>
                <a:latin typeface="Arial"/>
                <a:hlinkClick r:id="rId7"/>
              </a:rPr>
              <a:t>Category · priority · status</a:t>
            </a:r>
          </a:p>
        </p:txBody>
      </p:sp>
      <p:sp>
        <p:nvSpPr>
          <p:cNvPr id="36" name="TextBox 35"/>
          <p:cNvSpPr txBox="1"/>
          <p:nvPr/>
        </p:nvSpPr>
        <p:spPr>
          <a:xfrm>
            <a:off x="8281416" y="3983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Vote on the riskiest assumptions</a:t>
            </a:r>
          </a:p>
        </p:txBody>
      </p:sp>
      <p:sp>
        <p:nvSpPr>
          <p:cNvPr id="37" name="Rounded Rectangle 36"/>
          <p:cNvSpPr/>
          <p:nvPr/>
        </p:nvSpPr>
        <p:spPr>
          <a:xfrm>
            <a:off x="777240" y="4831080"/>
            <a:ext cx="3386328" cy="1322832"/>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876800"/>
            <a:ext cx="64008" cy="12313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 y="4922520"/>
            <a:ext cx="2874264" cy="292608"/>
          </a:xfrm>
          <a:prstGeom prst="rect">
            <a:avLst/>
          </a:prstGeom>
          <a:noFill/>
        </p:spPr>
        <p:txBody>
          <a:bodyPr wrap="square" anchor="t">
            <a:spAutoFit/>
          </a:bodyPr>
          <a:lstStyle/>
          <a:p>
            <a:pPr algn="l">
              <a:spcAft>
                <a:spcPts val="400"/>
              </a:spcAft>
            </a:pPr>
            <a:r>
              <a:rPr sz="1250" b="1">
                <a:solidFill>
                  <a:srgbClr val="161B26"/>
                </a:solidFill>
                <a:latin typeface="Arial"/>
              </a:rPr>
              <a:t>Capture for Lab 12</a:t>
            </a:r>
          </a:p>
        </p:txBody>
      </p:sp>
      <p:sp>
        <p:nvSpPr>
          <p:cNvPr id="40" name="TextBox 39"/>
          <p:cNvSpPr txBox="1"/>
          <p:nvPr/>
        </p:nvSpPr>
        <p:spPr>
          <a:xfrm>
            <a:off x="1033272" y="5215128"/>
            <a:ext cx="2874264" cy="274320"/>
          </a:xfrm>
          <a:prstGeom prst="rect">
            <a:avLst/>
          </a:prstGeom>
          <a:noFill/>
        </p:spPr>
        <p:txBody>
          <a:bodyPr wrap="square">
            <a:spAutoFit/>
          </a:bodyPr>
          <a:lstStyle/>
          <a:p>
            <a:r>
              <a:rPr sz="950" u="sng">
                <a:solidFill>
                  <a:srgbClr val="1F6FEB"/>
                </a:solidFill>
                <a:latin typeface="Arial"/>
                <a:hlinkClick r:id="rId8"/>
              </a:rPr>
              <a:t>Screenshot or share link</a:t>
            </a:r>
          </a:p>
        </p:txBody>
      </p:sp>
      <p:sp>
        <p:nvSpPr>
          <p:cNvPr id="41" name="TextBox 40"/>
          <p:cNvSpPr txBox="1"/>
          <p:nvPr/>
        </p:nvSpPr>
        <p:spPr>
          <a:xfrm>
            <a:off x="1033272" y="5507736"/>
            <a:ext cx="2874264" cy="573024"/>
          </a:xfrm>
          <a:prstGeom prst="rect">
            <a:avLst/>
          </a:prstGeom>
          <a:noFill/>
        </p:spPr>
        <p:txBody>
          <a:bodyPr wrap="square" anchor="t">
            <a:spAutoFit/>
          </a:bodyPr>
          <a:lstStyle/>
          <a:p>
            <a:pPr algn="l">
              <a:spcAft>
                <a:spcPts val="400"/>
              </a:spcAft>
            </a:pPr>
            <a:r>
              <a:rPr sz="950" b="0">
                <a:solidFill>
                  <a:srgbClr val="5B6372"/>
                </a:solidFill>
                <a:latin typeface="Arial"/>
              </a:rPr>
              <a:t>Goes straight into your pitch deck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CANVAS GUIDELINES  (1 OF 2)</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Six Rules for a Good Business Model Canvas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466594" cy="39319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20824"/>
            <a:ext cx="68580" cy="3822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24028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45920" y="2240280"/>
            <a:ext cx="1369314" cy="548640"/>
          </a:xfrm>
          <a:prstGeom prst="rect">
            <a:avLst/>
          </a:prstGeom>
          <a:noFill/>
        </p:spPr>
        <p:txBody>
          <a:bodyPr wrap="square" anchor="t">
            <a:spAutoFit/>
          </a:bodyPr>
          <a:lstStyle/>
          <a:p>
            <a:pPr algn="l">
              <a:spcAft>
                <a:spcPts val="400"/>
              </a:spcAft>
            </a:pPr>
            <a:r>
              <a:rPr sz="1400" b="1">
                <a:solidFill>
                  <a:srgbClr val="1F6FEB"/>
                </a:solidFill>
                <a:latin typeface="Arial"/>
              </a:rPr>
              <a:t>Be specific</a:t>
            </a:r>
          </a:p>
        </p:txBody>
      </p:sp>
      <p:sp>
        <p:nvSpPr>
          <p:cNvPr id="12" name="TextBox 11"/>
          <p:cNvSpPr txBox="1"/>
          <p:nvPr/>
        </p:nvSpPr>
        <p:spPr>
          <a:xfrm>
            <a:off x="1069848" y="2880360"/>
            <a:ext cx="1917954" cy="2834640"/>
          </a:xfrm>
          <a:prstGeom prst="rect">
            <a:avLst/>
          </a:prstGeom>
          <a:noFill/>
        </p:spPr>
        <p:txBody>
          <a:bodyPr wrap="square" anchor="t">
            <a:spAutoFit/>
          </a:bodyPr>
          <a:lstStyle/>
          <a:p>
            <a:pPr algn="l">
              <a:spcAft>
                <a:spcPts val="400"/>
              </a:spcAft>
            </a:pPr>
            <a:r>
              <a:rPr sz="1150" b="0">
                <a:solidFill>
                  <a:srgbClr val="161B26"/>
                </a:solidFill>
                <a:latin typeface="Arial"/>
              </a:rPr>
              <a:t>'Busy working parents in Singapore with children aged 4–8' beats 'families'. A vague segment produces a vague everything-else.</a:t>
            </a:r>
          </a:p>
        </p:txBody>
      </p:sp>
      <p:sp>
        <p:nvSpPr>
          <p:cNvPr id="13" name="Rounded Rectangle 12"/>
          <p:cNvSpPr/>
          <p:nvPr/>
        </p:nvSpPr>
        <p:spPr>
          <a:xfrm>
            <a:off x="3499866" y="1965960"/>
            <a:ext cx="2466594" cy="39319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2020824"/>
            <a:ext cx="68580" cy="38221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74186" y="224028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4186"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368546" y="2240280"/>
            <a:ext cx="1369314" cy="548640"/>
          </a:xfrm>
          <a:prstGeom prst="rect">
            <a:avLst/>
          </a:prstGeom>
          <a:noFill/>
        </p:spPr>
        <p:txBody>
          <a:bodyPr wrap="square" anchor="t">
            <a:spAutoFit/>
          </a:bodyPr>
          <a:lstStyle/>
          <a:p>
            <a:pPr algn="l">
              <a:spcAft>
                <a:spcPts val="400"/>
              </a:spcAft>
            </a:pPr>
            <a:r>
              <a:rPr sz="1400" b="1">
                <a:solidFill>
                  <a:srgbClr val="10B981"/>
                </a:solidFill>
                <a:latin typeface="Arial"/>
              </a:rPr>
              <a:t>Make it testable</a:t>
            </a:r>
          </a:p>
        </p:txBody>
      </p:sp>
      <p:sp>
        <p:nvSpPr>
          <p:cNvPr id="18" name="TextBox 17"/>
          <p:cNvSpPr txBox="1"/>
          <p:nvPr/>
        </p:nvSpPr>
        <p:spPr>
          <a:xfrm>
            <a:off x="3792474" y="2880360"/>
            <a:ext cx="1917954" cy="2834640"/>
          </a:xfrm>
          <a:prstGeom prst="rect">
            <a:avLst/>
          </a:prstGeom>
          <a:noFill/>
        </p:spPr>
        <p:txBody>
          <a:bodyPr wrap="square" anchor="t">
            <a:spAutoFit/>
          </a:bodyPr>
          <a:lstStyle/>
          <a:p>
            <a:pPr algn="l">
              <a:spcAft>
                <a:spcPts val="400"/>
              </a:spcAft>
            </a:pPr>
            <a:r>
              <a:rPr sz="1150" b="0">
                <a:solidFill>
                  <a:srgbClr val="161B26"/>
                </a:solidFill>
                <a:latin typeface="Arial"/>
              </a:rPr>
              <a:t>If no evidence could disprove a block, it is a slogan, not a business model. Write what would prove you wrong.</a:t>
            </a:r>
          </a:p>
        </p:txBody>
      </p:sp>
      <p:sp>
        <p:nvSpPr>
          <p:cNvPr id="19" name="Rounded Rectangle 18"/>
          <p:cNvSpPr/>
          <p:nvPr/>
        </p:nvSpPr>
        <p:spPr>
          <a:xfrm>
            <a:off x="6222492" y="1965960"/>
            <a:ext cx="2466594" cy="39319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2020824"/>
            <a:ext cx="68580" cy="38221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6812" y="224028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6812"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91172" y="2240280"/>
            <a:ext cx="1369314" cy="548640"/>
          </a:xfrm>
          <a:prstGeom prst="rect">
            <a:avLst/>
          </a:prstGeom>
          <a:noFill/>
        </p:spPr>
        <p:txBody>
          <a:bodyPr wrap="square" anchor="t">
            <a:spAutoFit/>
          </a:bodyPr>
          <a:lstStyle/>
          <a:p>
            <a:pPr algn="l">
              <a:spcAft>
                <a:spcPts val="400"/>
              </a:spcAft>
            </a:pPr>
            <a:r>
              <a:rPr sz="1400" b="1">
                <a:solidFill>
                  <a:srgbClr val="7C3AED"/>
                </a:solidFill>
                <a:latin typeface="Arial"/>
              </a:rPr>
              <a:t>Keep it consistent</a:t>
            </a:r>
          </a:p>
        </p:txBody>
      </p:sp>
      <p:sp>
        <p:nvSpPr>
          <p:cNvPr id="24" name="TextBox 23"/>
          <p:cNvSpPr txBox="1"/>
          <p:nvPr/>
        </p:nvSpPr>
        <p:spPr>
          <a:xfrm>
            <a:off x="6515100" y="2880360"/>
            <a:ext cx="1917954" cy="2834640"/>
          </a:xfrm>
          <a:prstGeom prst="rect">
            <a:avLst/>
          </a:prstGeom>
          <a:noFill/>
        </p:spPr>
        <p:txBody>
          <a:bodyPr wrap="square" anchor="t">
            <a:spAutoFit/>
          </a:bodyPr>
          <a:lstStyle/>
          <a:p>
            <a:pPr algn="l">
              <a:spcAft>
                <a:spcPts val="400"/>
              </a:spcAft>
            </a:pPr>
            <a:r>
              <a:rPr sz="1150" b="0">
                <a:solidFill>
                  <a:srgbClr val="161B26"/>
                </a:solidFill>
                <a:latin typeface="Arial"/>
              </a:rPr>
              <a:t>Revenue must come from the segment you named, through the channel you listed, using the resources you have.</a:t>
            </a:r>
          </a:p>
        </p:txBody>
      </p:sp>
      <p:sp>
        <p:nvSpPr>
          <p:cNvPr id="25" name="Rounded Rectangle 24"/>
          <p:cNvSpPr/>
          <p:nvPr/>
        </p:nvSpPr>
        <p:spPr>
          <a:xfrm>
            <a:off x="8945118" y="1965960"/>
            <a:ext cx="2466594" cy="393192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2020824"/>
            <a:ext cx="68580" cy="38221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19438" y="22402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19438"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813798" y="2240280"/>
            <a:ext cx="1369314" cy="548640"/>
          </a:xfrm>
          <a:prstGeom prst="rect">
            <a:avLst/>
          </a:prstGeom>
          <a:noFill/>
        </p:spPr>
        <p:txBody>
          <a:bodyPr wrap="square" anchor="t">
            <a:spAutoFit/>
          </a:bodyPr>
          <a:lstStyle/>
          <a:p>
            <a:pPr algn="l">
              <a:spcAft>
                <a:spcPts val="400"/>
              </a:spcAft>
            </a:pPr>
            <a:r>
              <a:rPr sz="1400" b="1">
                <a:solidFill>
                  <a:srgbClr val="F59E0B"/>
                </a:solidFill>
                <a:latin typeface="Arial"/>
              </a:rPr>
              <a:t>3–5 items per block</a:t>
            </a:r>
          </a:p>
        </p:txBody>
      </p:sp>
      <p:sp>
        <p:nvSpPr>
          <p:cNvPr id="30" name="TextBox 29"/>
          <p:cNvSpPr txBox="1"/>
          <p:nvPr/>
        </p:nvSpPr>
        <p:spPr>
          <a:xfrm>
            <a:off x="9237726" y="2880360"/>
            <a:ext cx="1917954" cy="2834640"/>
          </a:xfrm>
          <a:prstGeom prst="rect">
            <a:avLst/>
          </a:prstGeom>
          <a:noFill/>
        </p:spPr>
        <p:txBody>
          <a:bodyPr wrap="square" anchor="t">
            <a:spAutoFit/>
          </a:bodyPr>
          <a:lstStyle/>
          <a:p>
            <a:pPr algn="l">
              <a:spcAft>
                <a:spcPts val="400"/>
              </a:spcAft>
            </a:pPr>
            <a:r>
              <a:rPr sz="1150" b="0">
                <a:solidFill>
                  <a:srgbClr val="161B26"/>
                </a:solidFill>
                <a:latin typeface="Arial"/>
              </a:rPr>
              <a:t>A canvas crammed with everything says nothing. Force the prioritisation.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CANVAS GUIDELINES  (2 OF 2)</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Six Rules for a Good Business Model Canvas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5189220"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20824"/>
            <a:ext cx="68580" cy="25420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24028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45920" y="2240280"/>
            <a:ext cx="4091940" cy="548640"/>
          </a:xfrm>
          <a:prstGeom prst="rect">
            <a:avLst/>
          </a:prstGeom>
          <a:noFill/>
        </p:spPr>
        <p:txBody>
          <a:bodyPr wrap="square" anchor="t">
            <a:spAutoFit/>
          </a:bodyPr>
          <a:lstStyle/>
          <a:p>
            <a:pPr algn="l">
              <a:spcAft>
                <a:spcPts val="400"/>
              </a:spcAft>
            </a:pPr>
            <a:r>
              <a:rPr sz="1400" b="1">
                <a:solidFill>
                  <a:srgbClr val="1F6FEB"/>
                </a:solidFill>
                <a:latin typeface="Arial"/>
              </a:rPr>
              <a:t>Customer language</a:t>
            </a:r>
          </a:p>
        </p:txBody>
      </p:sp>
      <p:sp>
        <p:nvSpPr>
          <p:cNvPr id="12" name="TextBox 11"/>
          <p:cNvSpPr txBox="1"/>
          <p:nvPr/>
        </p:nvSpPr>
        <p:spPr>
          <a:xfrm>
            <a:off x="1069848" y="2880360"/>
            <a:ext cx="4640580" cy="1554480"/>
          </a:xfrm>
          <a:prstGeom prst="rect">
            <a:avLst/>
          </a:prstGeom>
          <a:noFill/>
        </p:spPr>
        <p:txBody>
          <a:bodyPr wrap="square" anchor="t">
            <a:spAutoFit/>
          </a:bodyPr>
          <a:lstStyle/>
          <a:p>
            <a:pPr algn="l">
              <a:spcAft>
                <a:spcPts val="400"/>
              </a:spcAft>
            </a:pPr>
            <a:r>
              <a:rPr sz="1150" b="0">
                <a:solidFill>
                  <a:srgbClr val="161B26"/>
                </a:solidFill>
                <a:latin typeface="Arial"/>
              </a:rPr>
              <a:t>Write what the customer would say, not internal jargon. If they would not recognise the pain, you have not found it.</a:t>
            </a:r>
          </a:p>
        </p:txBody>
      </p:sp>
      <p:sp>
        <p:nvSpPr>
          <p:cNvPr id="13" name="Rounded Rectangle 12"/>
          <p:cNvSpPr/>
          <p:nvPr/>
        </p:nvSpPr>
        <p:spPr>
          <a:xfrm>
            <a:off x="6222492" y="1965960"/>
            <a:ext cx="5189220"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2492" y="2020824"/>
            <a:ext cx="68580" cy="25420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96812" y="224028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6812"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7091172" y="2240280"/>
            <a:ext cx="4091940" cy="548640"/>
          </a:xfrm>
          <a:prstGeom prst="rect">
            <a:avLst/>
          </a:prstGeom>
          <a:noFill/>
        </p:spPr>
        <p:txBody>
          <a:bodyPr wrap="square" anchor="t">
            <a:spAutoFit/>
          </a:bodyPr>
          <a:lstStyle/>
          <a:p>
            <a:pPr algn="l">
              <a:spcAft>
                <a:spcPts val="400"/>
              </a:spcAft>
            </a:pPr>
            <a:r>
              <a:rPr sz="1400" b="1">
                <a:solidFill>
                  <a:srgbClr val="10B981"/>
                </a:solidFill>
                <a:latin typeface="Arial"/>
              </a:rPr>
              <a:t>Hypothesis, not plan</a:t>
            </a:r>
          </a:p>
        </p:txBody>
      </p:sp>
      <p:sp>
        <p:nvSpPr>
          <p:cNvPr id="18" name="TextBox 17"/>
          <p:cNvSpPr txBox="1"/>
          <p:nvPr/>
        </p:nvSpPr>
        <p:spPr>
          <a:xfrm>
            <a:off x="6515100" y="2880360"/>
            <a:ext cx="4640580" cy="1554480"/>
          </a:xfrm>
          <a:prstGeom prst="rect">
            <a:avLst/>
          </a:prstGeom>
          <a:noFill/>
        </p:spPr>
        <p:txBody>
          <a:bodyPr wrap="square" anchor="t">
            <a:spAutoFit/>
          </a:bodyPr>
          <a:lstStyle/>
          <a:p>
            <a:pPr algn="l">
              <a:spcAft>
                <a:spcPts val="400"/>
              </a:spcAft>
            </a:pPr>
            <a:r>
              <a:rPr sz="1150" b="0">
                <a:solidFill>
                  <a:srgbClr val="161B26"/>
                </a:solidFill>
                <a:latin typeface="Arial"/>
              </a:rPr>
              <a:t>Mark what is ASSUMED versus EVIDENCED. Then test the three riskiest assumptions within two weeks.</a:t>
            </a:r>
          </a:p>
        </p:txBody>
      </p:sp>
      <p:sp>
        <p:nvSpPr>
          <p:cNvPr id="19" name="Rounded Rectangle 18"/>
          <p:cNvSpPr/>
          <p:nvPr/>
        </p:nvSpPr>
        <p:spPr>
          <a:xfrm>
            <a:off x="777240" y="4846320"/>
            <a:ext cx="10634472" cy="1371600"/>
          </a:xfrm>
          <a:prstGeom prst="roundRect">
            <a:avLst>
              <a:gd name="adj" fmla="val 6000"/>
            </a:avLst>
          </a:prstGeom>
          <a:solidFill>
            <a:srgbClr val="F5F8FC"/>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992624"/>
            <a:ext cx="10085832" cy="310896"/>
          </a:xfrm>
          <a:prstGeom prst="rect">
            <a:avLst/>
          </a:prstGeom>
          <a:noFill/>
        </p:spPr>
        <p:txBody>
          <a:bodyPr wrap="square" anchor="t">
            <a:spAutoFit/>
          </a:bodyPr>
          <a:lstStyle/>
          <a:p>
            <a:pPr algn="l">
              <a:spcAft>
                <a:spcPts val="400"/>
              </a:spcAft>
            </a:pPr>
            <a:r>
              <a:rPr sz="1200" b="1">
                <a:solidFill>
                  <a:srgbClr val="DC2626"/>
                </a:solidFill>
                <a:latin typeface="Arial"/>
              </a:rPr>
              <a:t>THE MOST COMMON FAILURE</a:t>
            </a:r>
          </a:p>
        </p:txBody>
      </p:sp>
      <p:sp>
        <p:nvSpPr>
          <p:cNvPr id="21" name="TextBox 20"/>
          <p:cNvSpPr txBox="1"/>
          <p:nvPr/>
        </p:nvSpPr>
        <p:spPr>
          <a:xfrm>
            <a:off x="1051560" y="5349240"/>
            <a:ext cx="10085832" cy="777240"/>
          </a:xfrm>
          <a:prstGeom prst="rect">
            <a:avLst/>
          </a:prstGeom>
          <a:noFill/>
        </p:spPr>
        <p:txBody>
          <a:bodyPr wrap="square" anchor="t">
            <a:spAutoFit/>
          </a:bodyPr>
          <a:lstStyle/>
          <a:p>
            <a:pPr algn="l">
              <a:spcAft>
                <a:spcPts val="400"/>
              </a:spcAft>
            </a:pPr>
            <a:r>
              <a:rPr sz="1250" b="0">
                <a:solidFill>
                  <a:srgbClr val="161B26"/>
                </a:solidFill>
                <a:latin typeface="Arial"/>
              </a:rPr>
              <a:t>Accepting the AI's first draft. A chat assistant writes a confident, generic canvas in seconds — it reads well and says nothing specific to your market. Feed it your Lab 3 research, then REWRITE at least four blocks with what only you know. The canvas is where your research becomes a business model, not where the AI guesses one.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NINE BLOCKS, AI-ASSISTED</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AI-Powered Business Model Canvas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Customer segments</a:t>
            </a:r>
          </a:p>
          <a:p>
            <a:pPr algn="l">
              <a:spcAft>
                <a:spcPts val="300"/>
              </a:spcAft>
            </a:pPr>
            <a:r>
              <a:rPr sz="1000" b="0">
                <a:solidFill>
                  <a:srgbClr val="5B6372"/>
                </a:solidFill>
                <a:latin typeface="Arial"/>
              </a:rPr>
              <a:t>Cluster and profile segments from your own data.</a:t>
            </a:r>
          </a:p>
        </p:txBody>
      </p:sp>
      <p:sp>
        <p:nvSpPr>
          <p:cNvPr id="12" name="Rectangle 11"/>
          <p:cNvSpPr/>
          <p:nvPr/>
        </p:nvSpPr>
        <p:spPr>
          <a:xfrm>
            <a:off x="4413504" y="1783080"/>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Value propositions</a:t>
            </a:r>
          </a:p>
          <a:p>
            <a:pPr algn="l">
              <a:spcAft>
                <a:spcPts val="300"/>
              </a:spcAft>
            </a:pPr>
            <a:r>
              <a:rPr sz="1000" b="0">
                <a:solidFill>
                  <a:srgbClr val="5B6372"/>
                </a:solidFill>
                <a:latin typeface="Arial"/>
              </a:rPr>
              <a:t>Draft and stress-test alternative propositions fast.</a:t>
            </a:r>
          </a:p>
        </p:txBody>
      </p:sp>
      <p:sp>
        <p:nvSpPr>
          <p:cNvPr id="17" name="Rectangle 16"/>
          <p:cNvSpPr/>
          <p:nvPr/>
        </p:nvSpPr>
        <p:spPr>
          <a:xfrm>
            <a:off x="8049768" y="1783080"/>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Channels</a:t>
            </a:r>
          </a:p>
          <a:p>
            <a:pPr algn="l">
              <a:spcAft>
                <a:spcPts val="300"/>
              </a:spcAft>
            </a:pPr>
            <a:r>
              <a:rPr sz="1000" b="0">
                <a:solidFill>
                  <a:srgbClr val="5B6372"/>
                </a:solidFill>
                <a:latin typeface="Arial"/>
              </a:rPr>
              <a:t>Generate channel-specific content at scale.</a:t>
            </a:r>
          </a:p>
        </p:txBody>
      </p:sp>
      <p:sp>
        <p:nvSpPr>
          <p:cNvPr id="22" name="Rectangle 21"/>
          <p:cNvSpPr/>
          <p:nvPr/>
        </p:nvSpPr>
        <p:spPr>
          <a:xfrm>
            <a:off x="777240" y="3319272"/>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447288"/>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Customer relationships</a:t>
            </a:r>
          </a:p>
          <a:p>
            <a:pPr algn="l">
              <a:spcAft>
                <a:spcPts val="300"/>
              </a:spcAft>
            </a:pPr>
            <a:r>
              <a:rPr sz="1000" b="0">
                <a:solidFill>
                  <a:srgbClr val="5B6372"/>
                </a:solidFill>
                <a:latin typeface="Arial"/>
              </a:rPr>
              <a:t>Assistants and personalised follow-up at every touchpoint.</a:t>
            </a:r>
          </a:p>
        </p:txBody>
      </p:sp>
      <p:sp>
        <p:nvSpPr>
          <p:cNvPr id="27" name="Rectangle 26"/>
          <p:cNvSpPr/>
          <p:nvPr/>
        </p:nvSpPr>
        <p:spPr>
          <a:xfrm>
            <a:off x="4413504" y="3319272"/>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3447288"/>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Revenue streams</a:t>
            </a:r>
          </a:p>
          <a:p>
            <a:pPr algn="l">
              <a:spcAft>
                <a:spcPts val="300"/>
              </a:spcAft>
            </a:pPr>
            <a:r>
              <a:rPr sz="1000" b="0">
                <a:solidFill>
                  <a:srgbClr val="5B6372"/>
                </a:solidFill>
                <a:latin typeface="Arial"/>
              </a:rPr>
              <a:t>Model pricing scenarios and bundle options.</a:t>
            </a:r>
          </a:p>
        </p:txBody>
      </p:sp>
      <p:sp>
        <p:nvSpPr>
          <p:cNvPr id="32" name="Rectangle 31"/>
          <p:cNvSpPr/>
          <p:nvPr/>
        </p:nvSpPr>
        <p:spPr>
          <a:xfrm>
            <a:off x="8049768" y="3319272"/>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3447288"/>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Key resources</a:t>
            </a:r>
          </a:p>
          <a:p>
            <a:pPr algn="l">
              <a:spcAft>
                <a:spcPts val="300"/>
              </a:spcAft>
            </a:pPr>
            <a:r>
              <a:rPr sz="1000" b="0">
                <a:solidFill>
                  <a:srgbClr val="5B6372"/>
                </a:solidFill>
                <a:latin typeface="Arial"/>
              </a:rPr>
              <a:t>Identify the data, models and skills actually required.</a:t>
            </a:r>
          </a:p>
        </p:txBody>
      </p:sp>
      <p:sp>
        <p:nvSpPr>
          <p:cNvPr id="37" name="Rectangle 36"/>
          <p:cNvSpPr/>
          <p:nvPr/>
        </p:nvSpPr>
        <p:spPr>
          <a:xfrm>
            <a:off x="777240" y="4855464"/>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983480"/>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Key activities</a:t>
            </a:r>
          </a:p>
          <a:p>
            <a:pPr algn="l">
              <a:spcAft>
                <a:spcPts val="300"/>
              </a:spcAft>
            </a:pPr>
            <a:r>
              <a:rPr sz="1000" b="0">
                <a:solidFill>
                  <a:srgbClr val="5B6372"/>
                </a:solidFill>
                <a:latin typeface="Arial"/>
              </a:rPr>
              <a:t>Automate drafting, research, analysis and reporting.</a:t>
            </a:r>
          </a:p>
        </p:txBody>
      </p:sp>
      <p:sp>
        <p:nvSpPr>
          <p:cNvPr id="42" name="Rectangle 41"/>
          <p:cNvSpPr/>
          <p:nvPr/>
        </p:nvSpPr>
        <p:spPr>
          <a:xfrm>
            <a:off x="4413504" y="4855464"/>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13504"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669536"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9536"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5401056" y="4983480"/>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Key partners</a:t>
            </a:r>
          </a:p>
          <a:p>
            <a:pPr algn="l">
              <a:spcAft>
                <a:spcPts val="300"/>
              </a:spcAft>
            </a:pPr>
            <a:r>
              <a:rPr sz="1000" b="0">
                <a:solidFill>
                  <a:srgbClr val="5B6372"/>
                </a:solidFill>
                <a:latin typeface="Arial"/>
              </a:rPr>
              <a:t>Map vendors, model providers and integration partners.</a:t>
            </a:r>
          </a:p>
        </p:txBody>
      </p:sp>
      <p:sp>
        <p:nvSpPr>
          <p:cNvPr id="47" name="Rectangle 46"/>
          <p:cNvSpPr/>
          <p:nvPr/>
        </p:nvSpPr>
        <p:spPr>
          <a:xfrm>
            <a:off x="8049768" y="4855464"/>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4976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30580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0580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9037320" y="4983480"/>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Cost structure</a:t>
            </a:r>
          </a:p>
          <a:p>
            <a:pPr algn="l">
              <a:spcAft>
                <a:spcPts val="300"/>
              </a:spcAft>
            </a:pPr>
            <a:r>
              <a:rPr sz="1000" b="0">
                <a:solidFill>
                  <a:srgbClr val="5B6372"/>
                </a:solidFill>
                <a:latin typeface="Arial"/>
              </a:rPr>
              <a:t>Estimate licence, inference, integration and change costs.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HUMAN-CENTRED, AI-ACCELERATED</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Design Thinking with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EMPATHISE — draft personas and interview guides, then talk to real users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 converge on one 'How might we' problem statement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IDEATE — diverge to twenty ideas, then converge to three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PROTOTYPE — generate concepts, copy, visuals and mockups quickly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 put it in front of users and measure what actually happens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FIVE LAYERS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Digital Architecture for a GenAI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7175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717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1560" y="1967788"/>
            <a:ext cx="2240280" cy="402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67788"/>
            <a:ext cx="2240280" cy="402336"/>
          </a:xfrm>
          <a:prstGeom prst="rect">
            <a:avLst/>
          </a:prstGeom>
          <a:noFill/>
        </p:spPr>
        <p:txBody>
          <a:bodyPr wrap="square" anchor="ctr">
            <a:spAutoFit/>
          </a:bodyPr>
          <a:lstStyle/>
          <a:p>
            <a:pPr algn="ctr">
              <a:spcAft>
                <a:spcPts val="400"/>
              </a:spcAft>
            </a:pPr>
            <a:r>
              <a:rPr sz="1100" b="1">
                <a:solidFill>
                  <a:srgbClr val="FFFFFF"/>
                </a:solidFill>
                <a:latin typeface="Arial"/>
              </a:rPr>
              <a:t>APPLICATION</a:t>
            </a:r>
          </a:p>
        </p:txBody>
      </p:sp>
      <p:sp>
        <p:nvSpPr>
          <p:cNvPr id="11" name="TextBox 10"/>
          <p:cNvSpPr txBox="1"/>
          <p:nvPr/>
        </p:nvSpPr>
        <p:spPr>
          <a:xfrm>
            <a:off x="3520440" y="1783080"/>
            <a:ext cx="7571232" cy="771753"/>
          </a:xfrm>
          <a:prstGeom prst="rect">
            <a:avLst/>
          </a:prstGeom>
          <a:noFill/>
        </p:spPr>
        <p:txBody>
          <a:bodyPr wrap="square" anchor="ctr">
            <a:spAutoFit/>
          </a:bodyPr>
          <a:lstStyle/>
          <a:p>
            <a:pPr algn="l">
              <a:spcAft>
                <a:spcPts val="400"/>
              </a:spcAft>
            </a:pPr>
            <a:r>
              <a:rPr sz="1400" b="0">
                <a:solidFill>
                  <a:srgbClr val="161B26"/>
                </a:solidFill>
                <a:latin typeface="Arial"/>
              </a:rPr>
              <a:t>Where the user works — chat window, intranet, Teams, or an existing business system.</a:t>
            </a:r>
          </a:p>
        </p:txBody>
      </p:sp>
      <p:sp>
        <p:nvSpPr>
          <p:cNvPr id="12" name="Rectangle 11"/>
          <p:cNvSpPr/>
          <p:nvPr/>
        </p:nvSpPr>
        <p:spPr>
          <a:xfrm>
            <a:off x="777240" y="2682849"/>
            <a:ext cx="10634472" cy="77175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82849"/>
            <a:ext cx="91440" cy="77175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2867557"/>
            <a:ext cx="224028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867557"/>
            <a:ext cx="2240280" cy="402336"/>
          </a:xfrm>
          <a:prstGeom prst="rect">
            <a:avLst/>
          </a:prstGeom>
          <a:noFill/>
        </p:spPr>
        <p:txBody>
          <a:bodyPr wrap="square" anchor="ctr">
            <a:spAutoFit/>
          </a:bodyPr>
          <a:lstStyle/>
          <a:p>
            <a:pPr algn="ctr">
              <a:spcAft>
                <a:spcPts val="400"/>
              </a:spcAft>
            </a:pPr>
            <a:r>
              <a:rPr sz="1100" b="1">
                <a:solidFill>
                  <a:srgbClr val="FFFFFF"/>
                </a:solidFill>
                <a:latin typeface="Arial"/>
              </a:rPr>
              <a:t>ORCHESTRATION</a:t>
            </a:r>
          </a:p>
        </p:txBody>
      </p:sp>
      <p:sp>
        <p:nvSpPr>
          <p:cNvPr id="16" name="TextBox 15"/>
          <p:cNvSpPr txBox="1"/>
          <p:nvPr/>
        </p:nvSpPr>
        <p:spPr>
          <a:xfrm>
            <a:off x="3520440" y="2682849"/>
            <a:ext cx="7571232" cy="771753"/>
          </a:xfrm>
          <a:prstGeom prst="rect">
            <a:avLst/>
          </a:prstGeom>
          <a:noFill/>
        </p:spPr>
        <p:txBody>
          <a:bodyPr wrap="square" anchor="ctr">
            <a:spAutoFit/>
          </a:bodyPr>
          <a:lstStyle/>
          <a:p>
            <a:pPr algn="l">
              <a:spcAft>
                <a:spcPts val="400"/>
              </a:spcAft>
            </a:pPr>
            <a:r>
              <a:rPr sz="1400" b="0">
                <a:solidFill>
                  <a:srgbClr val="161B26"/>
                </a:solidFill>
                <a:latin typeface="Arial"/>
              </a:rPr>
              <a:t>Prompts, retrieval, workflow automation and agent logic that connect data to the model.</a:t>
            </a:r>
          </a:p>
        </p:txBody>
      </p:sp>
      <p:sp>
        <p:nvSpPr>
          <p:cNvPr id="17" name="Rectangle 16"/>
          <p:cNvSpPr/>
          <p:nvPr/>
        </p:nvSpPr>
        <p:spPr>
          <a:xfrm>
            <a:off x="777240" y="3582618"/>
            <a:ext cx="10634472" cy="77175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2618"/>
            <a:ext cx="91440" cy="77175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1560" y="3767326"/>
            <a:ext cx="2240280" cy="402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767326"/>
            <a:ext cx="2240280" cy="402336"/>
          </a:xfrm>
          <a:prstGeom prst="rect">
            <a:avLst/>
          </a:prstGeom>
          <a:noFill/>
        </p:spPr>
        <p:txBody>
          <a:bodyPr wrap="square" anchor="ctr">
            <a:spAutoFit/>
          </a:bodyPr>
          <a:lstStyle/>
          <a:p>
            <a:pPr algn="ctr">
              <a:spcAft>
                <a:spcPts val="400"/>
              </a:spcAft>
            </a:pPr>
            <a:r>
              <a:rPr sz="1100" b="1">
                <a:solidFill>
                  <a:srgbClr val="FFFFFF"/>
                </a:solidFill>
                <a:latin typeface="Arial"/>
              </a:rPr>
              <a:t>MODEL</a:t>
            </a:r>
          </a:p>
        </p:txBody>
      </p:sp>
      <p:sp>
        <p:nvSpPr>
          <p:cNvPr id="21" name="TextBox 20"/>
          <p:cNvSpPr txBox="1"/>
          <p:nvPr/>
        </p:nvSpPr>
        <p:spPr>
          <a:xfrm>
            <a:off x="3520440" y="3582618"/>
            <a:ext cx="7571232" cy="771753"/>
          </a:xfrm>
          <a:prstGeom prst="rect">
            <a:avLst/>
          </a:prstGeom>
          <a:noFill/>
        </p:spPr>
        <p:txBody>
          <a:bodyPr wrap="square" anchor="ctr">
            <a:spAutoFit/>
          </a:bodyPr>
          <a:lstStyle/>
          <a:p>
            <a:pPr algn="l">
              <a:spcAft>
                <a:spcPts val="400"/>
              </a:spcAft>
            </a:pPr>
            <a:r>
              <a:rPr sz="1400" b="0">
                <a:solidFill>
                  <a:srgbClr val="161B26"/>
                </a:solidFill>
                <a:latin typeface="Arial"/>
              </a:rPr>
              <a:t>The foundation model or AI service — and whether your data leaves your tenancy when it is called.</a:t>
            </a:r>
          </a:p>
        </p:txBody>
      </p:sp>
      <p:sp>
        <p:nvSpPr>
          <p:cNvPr id="22" name="Rectangle 21"/>
          <p:cNvSpPr/>
          <p:nvPr/>
        </p:nvSpPr>
        <p:spPr>
          <a:xfrm>
            <a:off x="777240" y="4482387"/>
            <a:ext cx="10634472" cy="77175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82387"/>
            <a:ext cx="91440" cy="77175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667095"/>
            <a:ext cx="224028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667095"/>
            <a:ext cx="2240280" cy="402336"/>
          </a:xfrm>
          <a:prstGeom prst="rect">
            <a:avLst/>
          </a:prstGeom>
          <a:noFill/>
        </p:spPr>
        <p:txBody>
          <a:bodyPr wrap="square" anchor="ctr">
            <a:spAutoFit/>
          </a:bodyPr>
          <a:lstStyle/>
          <a:p>
            <a:pPr algn="ctr">
              <a:spcAft>
                <a:spcPts val="400"/>
              </a:spcAft>
            </a:pPr>
            <a:r>
              <a:rPr sz="1100" b="1">
                <a:solidFill>
                  <a:srgbClr val="FFFFFF"/>
                </a:solidFill>
                <a:latin typeface="Arial"/>
              </a:rPr>
              <a:t>DATA</a:t>
            </a:r>
          </a:p>
        </p:txBody>
      </p:sp>
      <p:sp>
        <p:nvSpPr>
          <p:cNvPr id="26" name="TextBox 25"/>
          <p:cNvSpPr txBox="1"/>
          <p:nvPr/>
        </p:nvSpPr>
        <p:spPr>
          <a:xfrm>
            <a:off x="3520440" y="4482387"/>
            <a:ext cx="7571232" cy="771753"/>
          </a:xfrm>
          <a:prstGeom prst="rect">
            <a:avLst/>
          </a:prstGeom>
          <a:noFill/>
        </p:spPr>
        <p:txBody>
          <a:bodyPr wrap="square" anchor="ctr">
            <a:spAutoFit/>
          </a:bodyPr>
          <a:lstStyle/>
          <a:p>
            <a:pPr algn="l">
              <a:spcAft>
                <a:spcPts val="400"/>
              </a:spcAft>
            </a:pPr>
            <a:r>
              <a:rPr sz="1400" b="0">
                <a:solidFill>
                  <a:srgbClr val="161B26"/>
                </a:solidFill>
                <a:latin typeface="Arial"/>
              </a:rPr>
              <a:t>Source systems, documents and records — with owner, sensitivity and permission recorded.</a:t>
            </a:r>
          </a:p>
        </p:txBody>
      </p:sp>
      <p:sp>
        <p:nvSpPr>
          <p:cNvPr id="27" name="Rectangle 26"/>
          <p:cNvSpPr/>
          <p:nvPr/>
        </p:nvSpPr>
        <p:spPr>
          <a:xfrm>
            <a:off x="777240" y="5382156"/>
            <a:ext cx="10634472" cy="77175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82156"/>
            <a:ext cx="91440" cy="7717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51560" y="5566864"/>
            <a:ext cx="2240280" cy="402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5566864"/>
            <a:ext cx="2240280" cy="402336"/>
          </a:xfrm>
          <a:prstGeom prst="rect">
            <a:avLst/>
          </a:prstGeom>
          <a:noFill/>
        </p:spPr>
        <p:txBody>
          <a:bodyPr wrap="square" anchor="ctr">
            <a:spAutoFit/>
          </a:bodyPr>
          <a:lstStyle/>
          <a:p>
            <a:pPr algn="ctr">
              <a:spcAft>
                <a:spcPts val="400"/>
              </a:spcAft>
            </a:pPr>
            <a:r>
              <a:rPr sz="1100" b="1">
                <a:solidFill>
                  <a:srgbClr val="FFFFFF"/>
                </a:solidFill>
                <a:latin typeface="Arial"/>
              </a:rPr>
              <a:t>GOVERNANCE</a:t>
            </a:r>
          </a:p>
        </p:txBody>
      </p:sp>
      <p:sp>
        <p:nvSpPr>
          <p:cNvPr id="31" name="TextBox 30"/>
          <p:cNvSpPr txBox="1"/>
          <p:nvPr/>
        </p:nvSpPr>
        <p:spPr>
          <a:xfrm>
            <a:off x="3520440" y="5382156"/>
            <a:ext cx="7571232" cy="771753"/>
          </a:xfrm>
          <a:prstGeom prst="rect">
            <a:avLst/>
          </a:prstGeom>
          <a:noFill/>
        </p:spPr>
        <p:txBody>
          <a:bodyPr wrap="square" anchor="ctr">
            <a:spAutoFit/>
          </a:bodyPr>
          <a:lstStyle/>
          <a:p>
            <a:pPr algn="l">
              <a:spcAft>
                <a:spcPts val="400"/>
              </a:spcAft>
            </a:pPr>
            <a:r>
              <a:rPr sz="1400" b="0">
                <a:solidFill>
                  <a:srgbClr val="161B26"/>
                </a:solidFill>
                <a:latin typeface="Arial"/>
              </a:rPr>
              <a:t>Access control, human review points, logging, audit and prohibited-data rules across all layers.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CHOOSING THE PATTERN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Four Integration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Chat assistant</a:t>
            </a:r>
          </a:p>
          <a:p>
            <a:pPr algn="l">
              <a:spcAft>
                <a:spcPts val="300"/>
              </a:spcAft>
            </a:pPr>
            <a:r>
              <a:rPr sz="1300" b="0">
                <a:solidFill>
                  <a:srgbClr val="5B6372"/>
                </a:solidFill>
                <a:latin typeface="Arial"/>
              </a:rPr>
              <a:t>A general assistant for staff productivity. Fastest to adopt, lowest integration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RAG over documents</a:t>
            </a:r>
          </a:p>
          <a:p>
            <a:pPr algn="l">
              <a:spcAft>
                <a:spcPts val="300"/>
              </a:spcAft>
            </a:pPr>
            <a:r>
              <a:rPr sz="1300" b="0">
                <a:solidFill>
                  <a:srgbClr val="5B6372"/>
                </a:solidFill>
                <a:latin typeface="Arial"/>
              </a:rPr>
              <a:t>Grounds answers in your own content so responses cite the organisation's truth.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Workflow automation</a:t>
            </a:r>
          </a:p>
          <a:p>
            <a:pPr algn="l">
              <a:spcAft>
                <a:spcPts val="300"/>
              </a:spcAft>
            </a:pPr>
            <a:r>
              <a:rPr sz="1300" b="0">
                <a:solidFill>
                  <a:srgbClr val="5B6372"/>
                </a:solidFill>
                <a:latin typeface="Arial"/>
              </a:rPr>
              <a:t>GenAI embedded as a step inside an existing business process.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Autonomous agent</a:t>
            </a:r>
          </a:p>
          <a:p>
            <a:pPr algn="l">
              <a:spcAft>
                <a:spcPts val="300"/>
              </a:spcAft>
            </a:pPr>
            <a:r>
              <a:rPr sz="1300" b="0">
                <a:solidFill>
                  <a:srgbClr val="5B6372"/>
                </a:solidFill>
                <a:latin typeface="Arial"/>
              </a:rPr>
              <a:t>Plans and executes multi-step tasks with tools — highest value, highest oversight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LABS 8–12</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Content Production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1393806" cy="384048"/>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1</a:t>
            </a:r>
          </a:p>
        </p:txBody>
      </p:sp>
      <p:sp>
        <p:nvSpPr>
          <p:cNvPr id="10" name="TextBox 9"/>
          <p:cNvSpPr txBox="1"/>
          <p:nvPr/>
        </p:nvSpPr>
        <p:spPr>
          <a:xfrm>
            <a:off x="88696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Script</a:t>
            </a:r>
          </a:p>
        </p:txBody>
      </p:sp>
      <p:sp>
        <p:nvSpPr>
          <p:cNvPr id="11" name="TextBox 10"/>
          <p:cNvSpPr txBox="1"/>
          <p:nvPr/>
        </p:nvSpPr>
        <p:spPr>
          <a:xfrm>
            <a:off x="88696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ChatGPT · Gemini
Copilot 365</a:t>
            </a:r>
          </a:p>
        </p:txBody>
      </p:sp>
      <p:sp>
        <p:nvSpPr>
          <p:cNvPr id="12" name="TextBox 11"/>
          <p:cNvSpPr txBox="1"/>
          <p:nvPr/>
        </p:nvSpPr>
        <p:spPr>
          <a:xfrm>
            <a:off x="2152758" y="3044952"/>
            <a:ext cx="182880" cy="402336"/>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13" name="Rounded Rectangle 12"/>
          <p:cNvSpPr/>
          <p:nvPr/>
        </p:nvSpPr>
        <p:spPr>
          <a:xfrm>
            <a:off x="231735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317350" y="2103120"/>
            <a:ext cx="1393806" cy="384048"/>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1735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2</a:t>
            </a:r>
          </a:p>
        </p:txBody>
      </p:sp>
      <p:sp>
        <p:nvSpPr>
          <p:cNvPr id="16" name="TextBox 15"/>
          <p:cNvSpPr txBox="1"/>
          <p:nvPr/>
        </p:nvSpPr>
        <p:spPr>
          <a:xfrm>
            <a:off x="242707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Storyboard</a:t>
            </a:r>
          </a:p>
        </p:txBody>
      </p:sp>
      <p:sp>
        <p:nvSpPr>
          <p:cNvPr id="17" name="TextBox 16"/>
          <p:cNvSpPr txBox="1"/>
          <p:nvPr/>
        </p:nvSpPr>
        <p:spPr>
          <a:xfrm>
            <a:off x="242707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6 scenes
visual direction</a:t>
            </a:r>
          </a:p>
        </p:txBody>
      </p:sp>
      <p:sp>
        <p:nvSpPr>
          <p:cNvPr id="18" name="TextBox 17"/>
          <p:cNvSpPr txBox="1"/>
          <p:nvPr/>
        </p:nvSpPr>
        <p:spPr>
          <a:xfrm>
            <a:off x="3692868" y="3044952"/>
            <a:ext cx="182880" cy="402336"/>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9" name="Rounded Rectangle 18"/>
          <p:cNvSpPr/>
          <p:nvPr/>
        </p:nvSpPr>
        <p:spPr>
          <a:xfrm>
            <a:off x="385746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857460" y="2103120"/>
            <a:ext cx="1393806" cy="384048"/>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5746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3</a:t>
            </a:r>
          </a:p>
        </p:txBody>
      </p:sp>
      <p:sp>
        <p:nvSpPr>
          <p:cNvPr id="22" name="TextBox 21"/>
          <p:cNvSpPr txBox="1"/>
          <p:nvPr/>
        </p:nvSpPr>
        <p:spPr>
          <a:xfrm>
            <a:off x="396718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Voiceover</a:t>
            </a:r>
          </a:p>
        </p:txBody>
      </p:sp>
      <p:sp>
        <p:nvSpPr>
          <p:cNvPr id="23" name="TextBox 22"/>
          <p:cNvSpPr txBox="1"/>
          <p:nvPr/>
        </p:nvSpPr>
        <p:spPr>
          <a:xfrm>
            <a:off x="396718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ElevenLabs
~150 words</a:t>
            </a:r>
          </a:p>
        </p:txBody>
      </p:sp>
      <p:sp>
        <p:nvSpPr>
          <p:cNvPr id="24" name="TextBox 23"/>
          <p:cNvSpPr txBox="1"/>
          <p:nvPr/>
        </p:nvSpPr>
        <p:spPr>
          <a:xfrm>
            <a:off x="5232978" y="3044952"/>
            <a:ext cx="182880" cy="402336"/>
          </a:xfrm>
          <a:prstGeom prst="rect">
            <a:avLst/>
          </a:prstGeom>
          <a:noFill/>
        </p:spPr>
        <p:txBody>
          <a:bodyPr wrap="square" anchor="ctr">
            <a:spAutoFit/>
          </a:bodyPr>
          <a:lstStyle/>
          <a:p>
            <a:pPr algn="ctr">
              <a:spcAft>
                <a:spcPts val="400"/>
              </a:spcAft>
            </a:pPr>
            <a:r>
              <a:rPr sz="1100" b="1">
                <a:solidFill>
                  <a:srgbClr val="7C3AED"/>
                </a:solidFill>
                <a:latin typeface="Arial"/>
              </a:rPr>
              <a:t>▶</a:t>
            </a:r>
          </a:p>
        </p:txBody>
      </p:sp>
      <p:sp>
        <p:nvSpPr>
          <p:cNvPr id="25" name="Rounded Rectangle 24"/>
          <p:cNvSpPr/>
          <p:nvPr/>
        </p:nvSpPr>
        <p:spPr>
          <a:xfrm>
            <a:off x="539757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97570" y="2103120"/>
            <a:ext cx="1393806" cy="384048"/>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757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4</a:t>
            </a:r>
          </a:p>
        </p:txBody>
      </p:sp>
      <p:sp>
        <p:nvSpPr>
          <p:cNvPr id="28" name="TextBox 27"/>
          <p:cNvSpPr txBox="1"/>
          <p:nvPr/>
        </p:nvSpPr>
        <p:spPr>
          <a:xfrm>
            <a:off x="550729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Soundtrack</a:t>
            </a:r>
          </a:p>
        </p:txBody>
      </p:sp>
      <p:sp>
        <p:nvSpPr>
          <p:cNvPr id="29" name="TextBox 28"/>
          <p:cNvSpPr txBox="1"/>
          <p:nvPr/>
        </p:nvSpPr>
        <p:spPr>
          <a:xfrm>
            <a:off x="550729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Suno
instrumental</a:t>
            </a:r>
          </a:p>
        </p:txBody>
      </p:sp>
      <p:sp>
        <p:nvSpPr>
          <p:cNvPr id="30" name="TextBox 29"/>
          <p:cNvSpPr txBox="1"/>
          <p:nvPr/>
        </p:nvSpPr>
        <p:spPr>
          <a:xfrm>
            <a:off x="6773088" y="3044952"/>
            <a:ext cx="182880" cy="402336"/>
          </a:xfrm>
          <a:prstGeom prst="rect">
            <a:avLst/>
          </a:prstGeom>
          <a:noFill/>
        </p:spPr>
        <p:txBody>
          <a:bodyPr wrap="square" anchor="ctr">
            <a:spAutoFit/>
          </a:bodyPr>
          <a:lstStyle/>
          <a:p>
            <a:pPr algn="ctr">
              <a:spcAft>
                <a:spcPts val="400"/>
              </a:spcAft>
            </a:pPr>
            <a:r>
              <a:rPr sz="1100" b="1">
                <a:solidFill>
                  <a:srgbClr val="F59E0B"/>
                </a:solidFill>
                <a:latin typeface="Arial"/>
              </a:rPr>
              <a:t>▶</a:t>
            </a:r>
          </a:p>
        </p:txBody>
      </p:sp>
      <p:sp>
        <p:nvSpPr>
          <p:cNvPr id="31" name="Rounded Rectangle 30"/>
          <p:cNvSpPr/>
          <p:nvPr/>
        </p:nvSpPr>
        <p:spPr>
          <a:xfrm>
            <a:off x="693768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37680" y="2103120"/>
            <a:ext cx="1393806" cy="384048"/>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3768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5</a:t>
            </a:r>
          </a:p>
        </p:txBody>
      </p:sp>
      <p:sp>
        <p:nvSpPr>
          <p:cNvPr id="34" name="TextBox 33"/>
          <p:cNvSpPr txBox="1"/>
          <p:nvPr/>
        </p:nvSpPr>
        <p:spPr>
          <a:xfrm>
            <a:off x="704740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Video scenes</a:t>
            </a:r>
          </a:p>
        </p:txBody>
      </p:sp>
      <p:sp>
        <p:nvSpPr>
          <p:cNvPr id="35" name="TextBox 34"/>
          <p:cNvSpPr txBox="1"/>
          <p:nvPr/>
        </p:nvSpPr>
        <p:spPr>
          <a:xfrm>
            <a:off x="704740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Kling AI
~5s per clip</a:t>
            </a:r>
          </a:p>
        </p:txBody>
      </p:sp>
      <p:sp>
        <p:nvSpPr>
          <p:cNvPr id="36" name="TextBox 35"/>
          <p:cNvSpPr txBox="1"/>
          <p:nvPr/>
        </p:nvSpPr>
        <p:spPr>
          <a:xfrm>
            <a:off x="8313198" y="3044952"/>
            <a:ext cx="182880" cy="402336"/>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37" name="Rounded Rectangle 36"/>
          <p:cNvSpPr/>
          <p:nvPr/>
        </p:nvSpPr>
        <p:spPr>
          <a:xfrm>
            <a:off x="847779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477790" y="2103120"/>
            <a:ext cx="1393806" cy="384048"/>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79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6</a:t>
            </a:r>
          </a:p>
        </p:txBody>
      </p:sp>
      <p:sp>
        <p:nvSpPr>
          <p:cNvPr id="40" name="TextBox 39"/>
          <p:cNvSpPr txBox="1"/>
          <p:nvPr/>
        </p:nvSpPr>
        <p:spPr>
          <a:xfrm>
            <a:off x="858751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Assemble</a:t>
            </a:r>
          </a:p>
        </p:txBody>
      </p:sp>
      <p:sp>
        <p:nvSpPr>
          <p:cNvPr id="41" name="TextBox 40"/>
          <p:cNvSpPr txBox="1"/>
          <p:nvPr/>
        </p:nvSpPr>
        <p:spPr>
          <a:xfrm>
            <a:off x="858751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CapCut
captions + export</a:t>
            </a:r>
          </a:p>
        </p:txBody>
      </p:sp>
      <p:sp>
        <p:nvSpPr>
          <p:cNvPr id="42" name="TextBox 41"/>
          <p:cNvSpPr txBox="1"/>
          <p:nvPr/>
        </p:nvSpPr>
        <p:spPr>
          <a:xfrm>
            <a:off x="9853308" y="3044952"/>
            <a:ext cx="182880" cy="402336"/>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3" name="Rounded Rectangle 42"/>
          <p:cNvSpPr/>
          <p:nvPr/>
        </p:nvSpPr>
        <p:spPr>
          <a:xfrm>
            <a:off x="1001790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017900" y="2103120"/>
            <a:ext cx="1393806" cy="384048"/>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1790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7</a:t>
            </a:r>
          </a:p>
        </p:txBody>
      </p:sp>
      <p:sp>
        <p:nvSpPr>
          <p:cNvPr id="46" name="TextBox 45"/>
          <p:cNvSpPr txBox="1"/>
          <p:nvPr/>
        </p:nvSpPr>
        <p:spPr>
          <a:xfrm>
            <a:off x="1012762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Present</a:t>
            </a:r>
          </a:p>
        </p:txBody>
      </p:sp>
      <p:sp>
        <p:nvSpPr>
          <p:cNvPr id="47" name="TextBox 46"/>
          <p:cNvSpPr txBox="1"/>
          <p:nvPr/>
        </p:nvSpPr>
        <p:spPr>
          <a:xfrm>
            <a:off x="1012762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Gamma
video embedded</a:t>
            </a:r>
          </a:p>
        </p:txBody>
      </p:sp>
      <p:sp>
        <p:nvSpPr>
          <p:cNvPr id="48" name="Rounded Rectangle 47"/>
          <p:cNvSpPr/>
          <p:nvPr/>
        </p:nvSpPr>
        <p:spPr>
          <a:xfrm>
            <a:off x="777240" y="4892040"/>
            <a:ext cx="10634472" cy="1234440"/>
          </a:xfrm>
          <a:prstGeom prst="roundRect">
            <a:avLst>
              <a:gd name="adj" fmla="val 60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4892040"/>
            <a:ext cx="9994392" cy="1234440"/>
          </a:xfrm>
          <a:prstGeom prst="rect">
            <a:avLst/>
          </a:prstGeom>
          <a:noFill/>
        </p:spPr>
        <p:txBody>
          <a:bodyPr wrap="square" anchor="ctr">
            <a:spAutoFit/>
          </a:bodyPr>
          <a:lstStyle/>
          <a:p>
            <a:pPr algn="l">
              <a:spcAft>
                <a:spcPts val="400"/>
              </a:spcAft>
            </a:pPr>
            <a:r>
              <a:rPr sz="1300" b="0">
                <a:solidFill>
                  <a:srgbClr val="161B26"/>
                </a:solidFill>
                <a:latin typeface="Arial"/>
              </a:rPr>
              <a:t>Each stage consumes the previous one's output. The script sets the pace of the whole video — get it to 150 words and 60 seconds before you generate a single asset.</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TEXT TOOLS · LAB 8</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Prompting the Three Text Assistants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12080" cy="36576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83080"/>
            <a:ext cx="5212080" cy="502920"/>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5212080" cy="502920"/>
          </a:xfrm>
          <a:prstGeom prst="rect">
            <a:avLst/>
          </a:prstGeom>
          <a:noFill/>
        </p:spPr>
        <p:txBody>
          <a:bodyPr wrap="square" anchor="ctr">
            <a:spAutoFit/>
          </a:bodyPr>
          <a:lstStyle/>
          <a:p>
            <a:pPr algn="ctr">
              <a:spcAft>
                <a:spcPts val="400"/>
              </a:spcAft>
            </a:pPr>
            <a:r>
              <a:rPr sz="1400" b="1">
                <a:solidFill>
                  <a:srgbClr val="FFFFFF"/>
                </a:solidFill>
                <a:latin typeface="Arial"/>
              </a:rPr>
              <a:t>WHAT EACH IS BEST AT</a:t>
            </a:r>
          </a:p>
        </p:txBody>
      </p:sp>
      <p:sp>
        <p:nvSpPr>
          <p:cNvPr id="10" name="Oval 9"/>
          <p:cNvSpPr/>
          <p:nvPr/>
        </p:nvSpPr>
        <p:spPr>
          <a:xfrm>
            <a:off x="1051560" y="2710053"/>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99032" y="245059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ChatGPT — most creative; strongest hooks and taglines.</a:t>
            </a:r>
          </a:p>
        </p:txBody>
      </p:sp>
      <p:sp>
        <p:nvSpPr>
          <p:cNvPr id="12" name="Oval 11"/>
          <p:cNvSpPr/>
          <p:nvPr/>
        </p:nvSpPr>
        <p:spPr>
          <a:xfrm>
            <a:off x="1051560" y="3430143"/>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032" y="317068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Gemini — most current; can pull live web context.</a:t>
            </a:r>
          </a:p>
        </p:txBody>
      </p:sp>
      <p:sp>
        <p:nvSpPr>
          <p:cNvPr id="14" name="Oval 13"/>
          <p:cNvSpPr/>
          <p:nvPr/>
        </p:nvSpPr>
        <p:spPr>
          <a:xfrm>
            <a:off x="1051560" y="4150233"/>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99032" y="389077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Copilot 365 — most business-appropriate; reads your own M365 documents.</a:t>
            </a:r>
          </a:p>
        </p:txBody>
      </p:sp>
      <p:sp>
        <p:nvSpPr>
          <p:cNvPr id="16" name="Oval 15"/>
          <p:cNvSpPr/>
          <p:nvPr/>
        </p:nvSpPr>
        <p:spPr>
          <a:xfrm>
            <a:off x="1051560" y="4870323"/>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99032" y="461086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Run the SAME brief through all three, then combine the best parts.</a:t>
            </a:r>
          </a:p>
        </p:txBody>
      </p:sp>
      <p:sp>
        <p:nvSpPr>
          <p:cNvPr id="18" name="Rounded Rectangle 17"/>
          <p:cNvSpPr/>
          <p:nvPr/>
        </p:nvSpPr>
        <p:spPr>
          <a:xfrm>
            <a:off x="6199632" y="1783080"/>
            <a:ext cx="5212080" cy="36576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99632" y="1783080"/>
            <a:ext cx="5212080" cy="502920"/>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9632" y="1783080"/>
            <a:ext cx="5212080" cy="502920"/>
          </a:xfrm>
          <a:prstGeom prst="rect">
            <a:avLst/>
          </a:prstGeom>
          <a:noFill/>
        </p:spPr>
        <p:txBody>
          <a:bodyPr wrap="square" anchor="ctr">
            <a:spAutoFit/>
          </a:bodyPr>
          <a:lstStyle/>
          <a:p>
            <a:pPr algn="ctr">
              <a:spcAft>
                <a:spcPts val="400"/>
              </a:spcAft>
            </a:pPr>
            <a:r>
              <a:rPr sz="1400" b="1">
                <a:solidFill>
                  <a:srgbClr val="FFFFFF"/>
                </a:solidFill>
                <a:latin typeface="Arial"/>
              </a:rPr>
              <a:t>WHAT MAKES A PROMPT WORK</a:t>
            </a:r>
          </a:p>
        </p:txBody>
      </p:sp>
      <p:sp>
        <p:nvSpPr>
          <p:cNvPr id="21" name="Oval 20"/>
          <p:cNvSpPr/>
          <p:nvPr/>
        </p:nvSpPr>
        <p:spPr>
          <a:xfrm>
            <a:off x="6473952" y="2710053"/>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5059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Give it a ROLE: 'You are a marketing copywriter.'</a:t>
            </a:r>
          </a:p>
        </p:txBody>
      </p:sp>
      <p:sp>
        <p:nvSpPr>
          <p:cNvPr id="23" name="Oval 22"/>
          <p:cNvSpPr/>
          <p:nvPr/>
        </p:nvSpPr>
        <p:spPr>
          <a:xfrm>
            <a:off x="6473952" y="3430143"/>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21424" y="317068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State the AUDIENCE, the ONE message and the desired action.</a:t>
            </a:r>
          </a:p>
        </p:txBody>
      </p:sp>
      <p:sp>
        <p:nvSpPr>
          <p:cNvPr id="25" name="Oval 24"/>
          <p:cNvSpPr/>
          <p:nvPr/>
        </p:nvSpPr>
        <p:spPr>
          <a:xfrm>
            <a:off x="6473952" y="4150233"/>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1424" y="389077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Specify FORMAT and LENGTH: '60 seconds, mark the timing.'</a:t>
            </a:r>
          </a:p>
        </p:txBody>
      </p:sp>
      <p:sp>
        <p:nvSpPr>
          <p:cNvPr id="27" name="Oval 26"/>
          <p:cNvSpPr/>
          <p:nvPr/>
        </p:nvSpPr>
        <p:spPr>
          <a:xfrm>
            <a:off x="6473952" y="4870323"/>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1424" y="4610862"/>
            <a:ext cx="4297680" cy="720090"/>
          </a:xfrm>
          <a:prstGeom prst="rect">
            <a:avLst/>
          </a:prstGeom>
          <a:noFill/>
        </p:spPr>
        <p:txBody>
          <a:bodyPr wrap="square" anchor="ctr">
            <a:spAutoFit/>
          </a:bodyPr>
          <a:lstStyle/>
          <a:p>
            <a:pPr algn="l">
              <a:spcAft>
                <a:spcPts val="400"/>
              </a:spcAft>
            </a:pPr>
            <a:r>
              <a:rPr sz="1200" b="0">
                <a:solidFill>
                  <a:srgbClr val="161B26"/>
                </a:solidFill>
                <a:latin typeface="Arial"/>
              </a:rPr>
              <a:t>Ask it to CHALLENGE you — assistants agree far too readily.</a:t>
            </a:r>
          </a:p>
        </p:txBody>
      </p:sp>
      <p:sp>
        <p:nvSpPr>
          <p:cNvPr id="29" name="Rounded Rectangle 28"/>
          <p:cNvSpPr/>
          <p:nvPr/>
        </p:nvSpPr>
        <p:spPr>
          <a:xfrm>
            <a:off x="777240" y="5623560"/>
            <a:ext cx="10634472" cy="658368"/>
          </a:xfrm>
          <a:prstGeom prst="roundRect">
            <a:avLst>
              <a:gd name="adj" fmla="val 60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623560"/>
            <a:ext cx="10058400" cy="658368"/>
          </a:xfrm>
          <a:prstGeom prst="rect">
            <a:avLst/>
          </a:prstGeom>
          <a:noFill/>
        </p:spPr>
        <p:txBody>
          <a:bodyPr wrap="square" anchor="ctr">
            <a:spAutoFit/>
          </a:bodyPr>
          <a:lstStyle/>
          <a:p>
            <a:pPr algn="l">
              <a:spcAft>
                <a:spcPts val="400"/>
              </a:spcAft>
            </a:pPr>
            <a:r>
              <a:rPr sz="1300" b="0">
                <a:solidFill>
                  <a:srgbClr val="161B26"/>
                </a:solidFill>
                <a:latin typeface="Arial"/>
              </a:rPr>
              <a:t>150 words ≈ 60 seconds of natural speech. Read the script aloud with a stopwatch before you go further.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AUDIO &amp; VIDEO TOOLS · LABS 9–11</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Voice, Music and Video — The Craft Tips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20824"/>
            <a:ext cx="68580" cy="25420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24028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45920" y="2240280"/>
            <a:ext cx="1369314" cy="548640"/>
          </a:xfrm>
          <a:prstGeom prst="rect">
            <a:avLst/>
          </a:prstGeom>
          <a:noFill/>
        </p:spPr>
        <p:txBody>
          <a:bodyPr wrap="square" anchor="t">
            <a:spAutoFit/>
          </a:bodyPr>
          <a:lstStyle/>
          <a:p>
            <a:pPr algn="l">
              <a:spcAft>
                <a:spcPts val="400"/>
              </a:spcAft>
            </a:pPr>
            <a:r>
              <a:rPr sz="1400" b="1">
                <a:solidFill>
                  <a:srgbClr val="1F6FEB"/>
                </a:solidFill>
                <a:latin typeface="Arial"/>
              </a:rPr>
              <a:t>Voiceover · ElevenLabs</a:t>
            </a:r>
          </a:p>
        </p:txBody>
      </p:sp>
      <p:sp>
        <p:nvSpPr>
          <p:cNvPr id="12" name="TextBox 11"/>
          <p:cNvSpPr txBox="1"/>
          <p:nvPr/>
        </p:nvSpPr>
        <p:spPr>
          <a:xfrm>
            <a:off x="1069848"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Punctuation IS direction: a comma is a short pause, an ellipsis a beat. Write numbers and acronyms as they should be SAID ('twenty twenty-six', 'A-I'). Lower stability = more emotion, higher = steadier.</a:t>
            </a:r>
          </a:p>
        </p:txBody>
      </p:sp>
      <p:sp>
        <p:nvSpPr>
          <p:cNvPr id="13" name="Rounded Rectangle 12"/>
          <p:cNvSpPr/>
          <p:nvPr/>
        </p:nvSpPr>
        <p:spPr>
          <a:xfrm>
            <a:off x="3499866"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2020824"/>
            <a:ext cx="68580" cy="25420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74186" y="224028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4186"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368546" y="2240280"/>
            <a:ext cx="1369314" cy="548640"/>
          </a:xfrm>
          <a:prstGeom prst="rect">
            <a:avLst/>
          </a:prstGeom>
          <a:noFill/>
        </p:spPr>
        <p:txBody>
          <a:bodyPr wrap="square" anchor="t">
            <a:spAutoFit/>
          </a:bodyPr>
          <a:lstStyle/>
          <a:p>
            <a:pPr algn="l">
              <a:spcAft>
                <a:spcPts val="400"/>
              </a:spcAft>
            </a:pPr>
            <a:r>
              <a:rPr sz="1400" b="1">
                <a:solidFill>
                  <a:srgbClr val="10B981"/>
                </a:solidFill>
                <a:latin typeface="Arial"/>
              </a:rPr>
              <a:t>Music · Suno</a:t>
            </a:r>
          </a:p>
        </p:txBody>
      </p:sp>
      <p:sp>
        <p:nvSpPr>
          <p:cNvPr id="18" name="TextBox 17"/>
          <p:cNvSpPr txBox="1"/>
          <p:nvPr/>
        </p:nvSpPr>
        <p:spPr>
          <a:xfrm>
            <a:off x="3792474"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Use Instrumental mode — lyrics fight the voiceover. Describe genre, mood, instruments and BPM. Never prompt 'in the style of &lt;artist&gt;'. Music sits 15–20 dB UNDER the voice.</a:t>
            </a:r>
          </a:p>
        </p:txBody>
      </p:sp>
      <p:sp>
        <p:nvSpPr>
          <p:cNvPr id="19" name="Rounded Rectangle 18"/>
          <p:cNvSpPr/>
          <p:nvPr/>
        </p:nvSpPr>
        <p:spPr>
          <a:xfrm>
            <a:off x="6222492"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2020824"/>
            <a:ext cx="68580" cy="25420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6812" y="224028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6812"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91172" y="2240280"/>
            <a:ext cx="1369314" cy="548640"/>
          </a:xfrm>
          <a:prstGeom prst="rect">
            <a:avLst/>
          </a:prstGeom>
          <a:noFill/>
        </p:spPr>
        <p:txBody>
          <a:bodyPr wrap="square" anchor="t">
            <a:spAutoFit/>
          </a:bodyPr>
          <a:lstStyle/>
          <a:p>
            <a:pPr algn="l">
              <a:spcAft>
                <a:spcPts val="400"/>
              </a:spcAft>
            </a:pPr>
            <a:r>
              <a:rPr sz="1400" b="1">
                <a:solidFill>
                  <a:srgbClr val="7C3AED"/>
                </a:solidFill>
                <a:latin typeface="Arial"/>
              </a:rPr>
              <a:t>Video · Kling</a:t>
            </a:r>
          </a:p>
        </p:txBody>
      </p:sp>
      <p:sp>
        <p:nvSpPr>
          <p:cNvPr id="24" name="TextBox 23"/>
          <p:cNvSpPr txBox="1"/>
          <p:nvPr/>
        </p:nvSpPr>
        <p:spPr>
          <a:xfrm>
            <a:off x="6515100"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Name the subject, setting, camera move and lighting. Keep motion simple — hands, text and fast movement are where clips break. Reuse the same style words across scenes for consistency.</a:t>
            </a:r>
          </a:p>
        </p:txBody>
      </p:sp>
      <p:sp>
        <p:nvSpPr>
          <p:cNvPr id="25" name="Rounded Rectangle 24"/>
          <p:cNvSpPr/>
          <p:nvPr/>
        </p:nvSpPr>
        <p:spPr>
          <a:xfrm>
            <a:off x="8945118"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2020824"/>
            <a:ext cx="68580" cy="25420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19438" y="22402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19438"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813798" y="2240280"/>
            <a:ext cx="1369314" cy="548640"/>
          </a:xfrm>
          <a:prstGeom prst="rect">
            <a:avLst/>
          </a:prstGeom>
          <a:noFill/>
        </p:spPr>
        <p:txBody>
          <a:bodyPr wrap="square" anchor="t">
            <a:spAutoFit/>
          </a:bodyPr>
          <a:lstStyle/>
          <a:p>
            <a:pPr algn="l">
              <a:spcAft>
                <a:spcPts val="400"/>
              </a:spcAft>
            </a:pPr>
            <a:r>
              <a:rPr sz="1400" b="1">
                <a:solidFill>
                  <a:srgbClr val="F59E0B"/>
                </a:solidFill>
                <a:latin typeface="Arial"/>
              </a:rPr>
              <a:t>Assembly · CapCut</a:t>
            </a:r>
          </a:p>
        </p:txBody>
      </p:sp>
      <p:sp>
        <p:nvSpPr>
          <p:cNvPr id="30" name="TextBox 29"/>
          <p:cNvSpPr txBox="1"/>
          <p:nvPr/>
        </p:nvSpPr>
        <p:spPr>
          <a:xfrm>
            <a:off x="9237726"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Lay the voiceover down FIRST, then cut visuals to it. Auto-caption, then PROOFREAD — 80% of social video is watched muted.</a:t>
            </a:r>
          </a:p>
        </p:txBody>
      </p:sp>
      <p:sp>
        <p:nvSpPr>
          <p:cNvPr id="31" name="Rounded Rectangle 30"/>
          <p:cNvSpPr/>
          <p:nvPr/>
        </p:nvSpPr>
        <p:spPr>
          <a:xfrm>
            <a:off x="777240" y="4846320"/>
            <a:ext cx="10634472" cy="1371600"/>
          </a:xfrm>
          <a:prstGeom prst="roundRect">
            <a:avLst>
              <a:gd name="adj" fmla="val 6000"/>
            </a:avLst>
          </a:prstGeom>
          <a:solidFill>
            <a:srgbClr val="F5F8FC"/>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992624"/>
            <a:ext cx="10085832" cy="310896"/>
          </a:xfrm>
          <a:prstGeom prst="rect">
            <a:avLst/>
          </a:prstGeom>
          <a:noFill/>
        </p:spPr>
        <p:txBody>
          <a:bodyPr wrap="square" anchor="t">
            <a:spAutoFit/>
          </a:bodyPr>
          <a:lstStyle/>
          <a:p>
            <a:pPr algn="l">
              <a:spcAft>
                <a:spcPts val="400"/>
              </a:spcAft>
            </a:pPr>
            <a:r>
              <a:rPr sz="1200" b="1">
                <a:solidFill>
                  <a:srgbClr val="DC2626"/>
                </a:solidFill>
                <a:latin typeface="Arial"/>
              </a:rPr>
              <a:t>BEFORE YOU PUBLISH ANYTHING</a:t>
            </a:r>
          </a:p>
        </p:txBody>
      </p:sp>
      <p:sp>
        <p:nvSpPr>
          <p:cNvPr id="33" name="TextBox 32"/>
          <p:cNvSpPr txBox="1"/>
          <p:nvPr/>
        </p:nvSpPr>
        <p:spPr>
          <a:xfrm>
            <a:off x="1051560" y="5349240"/>
            <a:ext cx="10085832" cy="777240"/>
          </a:xfrm>
          <a:prstGeom prst="rect">
            <a:avLst/>
          </a:prstGeom>
          <a:noFill/>
        </p:spPr>
        <p:txBody>
          <a:bodyPr wrap="square" anchor="t">
            <a:spAutoFit/>
          </a:bodyPr>
          <a:lstStyle/>
          <a:p>
            <a:pPr algn="l">
              <a:spcAft>
                <a:spcPts val="400"/>
              </a:spcAft>
            </a:pPr>
            <a:r>
              <a:rPr sz="1250" b="0">
                <a:solidFill>
                  <a:srgbClr val="161B26"/>
                </a:solidFill>
                <a:latin typeface="Arial"/>
              </a:rPr>
              <a:t>Check the free-tier licence of every generated asset. Free tiers are frequently non-commercial or watermarked, and voice cloning requires written consent from the person whose voice it is.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A VIABLE PLAN CONTAINS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From Design to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Milestone</a:t>
            </a:r>
          </a:p>
          <a:p>
            <a:pPr algn="l">
              <a:spcAft>
                <a:spcPts val="300"/>
              </a:spcAft>
            </a:pPr>
            <a:r>
              <a:rPr sz="1100" b="0">
                <a:solidFill>
                  <a:srgbClr val="5B6372"/>
                </a:solidFill>
                <a:latin typeface="Arial"/>
              </a:rPr>
              <a:t>What is delivered, and by when.</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A named role accountable for the outcome.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Resource</a:t>
            </a:r>
          </a:p>
          <a:p>
            <a:pPr algn="l">
              <a:spcAft>
                <a:spcPts val="300"/>
              </a:spcAft>
            </a:pPr>
            <a:r>
              <a:rPr sz="1100" b="0">
                <a:solidFill>
                  <a:srgbClr val="5B6372"/>
                </a:solidFill>
                <a:latin typeface="Arial"/>
              </a:rPr>
              <a:t>People, budget, licences and data access required.</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Dependency</a:t>
            </a:r>
          </a:p>
          <a:p>
            <a:pPr algn="l">
              <a:spcAft>
                <a:spcPts val="300"/>
              </a:spcAft>
            </a:pPr>
            <a:r>
              <a:rPr sz="1100" b="0">
                <a:solidFill>
                  <a:srgbClr val="5B6372"/>
                </a:solidFill>
                <a:latin typeface="Arial"/>
              </a:rPr>
              <a:t>What must happen first, and who is blocking.</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Risk &amp; mitigation</a:t>
            </a:r>
          </a:p>
          <a:p>
            <a:pPr algn="l">
              <a:spcAft>
                <a:spcPts val="300"/>
              </a:spcAft>
            </a:pPr>
            <a:r>
              <a:rPr sz="1100" b="0">
                <a:solidFill>
                  <a:srgbClr val="5B6372"/>
                </a:solidFill>
                <a:latin typeface="Arial"/>
              </a:rPr>
              <a:t>What could derail it, and the control that prevents it.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Go / no-go</a:t>
            </a:r>
          </a:p>
          <a:p>
            <a:pPr algn="l">
              <a:spcAft>
                <a:spcPts val="300"/>
              </a:spcAft>
            </a:pPr>
            <a:r>
              <a:rPr sz="1100" b="0">
                <a:solidFill>
                  <a:srgbClr val="5B6372"/>
                </a:solidFill>
                <a:latin typeface="Arial"/>
              </a:rPr>
              <a:t>The numbers at week 12 that justify scaling, pausing or stopping.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Hands-On Labs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146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74264" cy="548640"/>
          </a:xfrm>
          <a:prstGeom prst="rect">
            <a:avLst/>
          </a:prstGeom>
          <a:noFill/>
        </p:spPr>
        <p:txBody>
          <a:bodyPr wrap="square" anchor="t">
            <a:spAutoFit/>
          </a:bodyPr>
          <a:lstStyle/>
          <a:p>
            <a:pPr algn="l">
              <a:spcAft>
                <a:spcPts val="400"/>
              </a:spcAft>
            </a:pPr>
            <a:r>
              <a:rPr sz="1900" b="1">
                <a:solidFill>
                  <a:srgbClr val="1F6FEB"/>
                </a:solidFill>
                <a:latin typeface="Arial"/>
              </a:rPr>
              <a:t>Labs 5–7</a:t>
            </a:r>
          </a:p>
        </p:txBody>
      </p:sp>
      <p:sp>
        <p:nvSpPr>
          <p:cNvPr id="10" name="TextBox 9"/>
          <p:cNvSpPr txBox="1"/>
          <p:nvPr/>
        </p:nvSpPr>
        <p:spPr>
          <a:xfrm>
            <a:off x="1005840" y="2697480"/>
            <a:ext cx="2874264" cy="3108960"/>
          </a:xfrm>
          <a:prstGeom prst="rect">
            <a:avLst/>
          </a:prstGeom>
          <a:noFill/>
        </p:spPr>
        <p:txBody>
          <a:bodyPr wrap="square">
            <a:spAutoFit/>
          </a:bodyPr>
          <a:lstStyle/>
          <a:p>
            <a:pPr>
              <a:spcAft>
                <a:spcPts val="900"/>
              </a:spcAft>
            </a:pPr>
            <a:r>
              <a:rPr sz="1400" b="0">
                <a:solidFill>
                  <a:srgbClr val="161B26"/>
                </a:solidFill>
                <a:latin typeface="Arial"/>
              </a:rPr>
              <a:t>•  GROUP ACTIVITY — Run a Design Thinking Sprint in Design Thinking Studio</a:t>
            </a:r>
          </a:p>
          <a:p>
            <a:pPr>
              <a:spcAft>
                <a:spcPts val="900"/>
              </a:spcAft>
            </a:pPr>
            <a:r>
              <a:rPr sz="1400" b="0">
                <a:solidFill>
                  <a:srgbClr val="161B26"/>
                </a:solidFill>
                <a:latin typeface="Arial"/>
              </a:rPr>
              <a:t>•  GROUP ACTIVITY — Build a Business Model Canvas in BMC Studio</a:t>
            </a:r>
          </a:p>
          <a:p>
            <a:pPr>
              <a:spcAft>
                <a:spcPts val="900"/>
              </a:spcAft>
            </a:pPr>
            <a:r>
              <a:rPr sz="1400" b="0">
                <a:solidFill>
                  <a:srgbClr val="161B26"/>
                </a:solidFill>
                <a:latin typeface="Arial"/>
              </a:rPr>
              <a:t>•  Design the Digital Architecture for Your Solution</a:t>
            </a:r>
          </a:p>
        </p:txBody>
      </p:sp>
      <p:sp>
        <p:nvSpPr>
          <p:cNvPr id="11" name="Rectangle 10"/>
          <p:cNvSpPr/>
          <p:nvPr/>
        </p:nvSpPr>
        <p:spPr>
          <a:xfrm>
            <a:off x="4428744"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8744" y="1783080"/>
            <a:ext cx="333146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7344" y="2011680"/>
            <a:ext cx="2874264" cy="548640"/>
          </a:xfrm>
          <a:prstGeom prst="rect">
            <a:avLst/>
          </a:prstGeom>
          <a:noFill/>
        </p:spPr>
        <p:txBody>
          <a:bodyPr wrap="square" anchor="t">
            <a:spAutoFit/>
          </a:bodyPr>
          <a:lstStyle/>
          <a:p>
            <a:pPr algn="l">
              <a:spcAft>
                <a:spcPts val="400"/>
              </a:spcAft>
            </a:pPr>
            <a:r>
              <a:rPr sz="1900" b="1">
                <a:solidFill>
                  <a:srgbClr val="10B981"/>
                </a:solidFill>
                <a:latin typeface="Arial"/>
              </a:rPr>
              <a:t>Labs 8–10</a:t>
            </a:r>
          </a:p>
        </p:txBody>
      </p:sp>
      <p:sp>
        <p:nvSpPr>
          <p:cNvPr id="14" name="TextBox 13"/>
          <p:cNvSpPr txBox="1"/>
          <p:nvPr/>
        </p:nvSpPr>
        <p:spPr>
          <a:xfrm>
            <a:off x="4657344" y="2697480"/>
            <a:ext cx="2874264" cy="3108960"/>
          </a:xfrm>
          <a:prstGeom prst="rect">
            <a:avLst/>
          </a:prstGeom>
          <a:noFill/>
        </p:spPr>
        <p:txBody>
          <a:bodyPr wrap="square">
            <a:spAutoFit/>
          </a:bodyPr>
          <a:lstStyle/>
          <a:p>
            <a:pPr>
              <a:spcAft>
                <a:spcPts val="900"/>
              </a:spcAft>
            </a:pPr>
            <a:r>
              <a:rPr sz="1400" b="0">
                <a:solidFill>
                  <a:srgbClr val="161B26"/>
                </a:solidFill>
                <a:latin typeface="Arial"/>
              </a:rPr>
              <a:t>•  Script a Marketing Video for Your Business Idea</a:t>
            </a:r>
          </a:p>
          <a:p>
            <a:pPr>
              <a:spcAft>
                <a:spcPts val="900"/>
              </a:spcAft>
            </a:pPr>
            <a:r>
              <a:rPr sz="1400" b="0">
                <a:solidFill>
                  <a:srgbClr val="161B26"/>
                </a:solidFill>
                <a:latin typeface="Arial"/>
              </a:rPr>
              <a:t>•  Create the AI Voiceover</a:t>
            </a:r>
          </a:p>
          <a:p>
            <a:pPr>
              <a:spcAft>
                <a:spcPts val="900"/>
              </a:spcAft>
            </a:pPr>
            <a:r>
              <a:rPr sz="1400" b="0">
                <a:solidFill>
                  <a:srgbClr val="161B26"/>
                </a:solidFill>
                <a:latin typeface="Arial"/>
              </a:rPr>
              <a:t>•  Generate the Background Soundtrack with Suno</a:t>
            </a:r>
          </a:p>
        </p:txBody>
      </p:sp>
      <p:sp>
        <p:nvSpPr>
          <p:cNvPr id="15" name="Rectangle 14"/>
          <p:cNvSpPr/>
          <p:nvPr/>
        </p:nvSpPr>
        <p:spPr>
          <a:xfrm>
            <a:off x="8080248"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0248" y="1783080"/>
            <a:ext cx="333146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8848" y="2011680"/>
            <a:ext cx="2874264" cy="548640"/>
          </a:xfrm>
          <a:prstGeom prst="rect">
            <a:avLst/>
          </a:prstGeom>
          <a:noFill/>
        </p:spPr>
        <p:txBody>
          <a:bodyPr wrap="square" anchor="t">
            <a:spAutoFit/>
          </a:bodyPr>
          <a:lstStyle/>
          <a:p>
            <a:pPr algn="l">
              <a:spcAft>
                <a:spcPts val="400"/>
              </a:spcAft>
            </a:pPr>
            <a:r>
              <a:rPr sz="1900" b="1">
                <a:solidFill>
                  <a:srgbClr val="7C3AED"/>
                </a:solidFill>
                <a:latin typeface="Arial"/>
              </a:rPr>
              <a:t>Labs 11–12</a:t>
            </a:r>
          </a:p>
        </p:txBody>
      </p:sp>
      <p:sp>
        <p:nvSpPr>
          <p:cNvPr id="18" name="TextBox 17"/>
          <p:cNvSpPr txBox="1"/>
          <p:nvPr/>
        </p:nvSpPr>
        <p:spPr>
          <a:xfrm>
            <a:off x="8308848" y="2697480"/>
            <a:ext cx="2874264" cy="3108960"/>
          </a:xfrm>
          <a:prstGeom prst="rect">
            <a:avLst/>
          </a:prstGeom>
          <a:noFill/>
        </p:spPr>
        <p:txBody>
          <a:bodyPr wrap="square">
            <a:spAutoFit/>
          </a:bodyPr>
          <a:lstStyle/>
          <a:p>
            <a:pPr>
              <a:spcAft>
                <a:spcPts val="900"/>
              </a:spcAft>
            </a:pPr>
            <a:r>
              <a:rPr sz="1400" b="0">
                <a:solidFill>
                  <a:srgbClr val="161B26"/>
                </a:solidFill>
                <a:latin typeface="Arial"/>
              </a:rPr>
              <a:t>•  Produce the Video with Kling and an AI Video Editor</a:t>
            </a:r>
          </a:p>
          <a:p>
            <a:pPr>
              <a:spcAft>
                <a:spcPts val="900"/>
              </a:spcAft>
            </a:pPr>
            <a:r>
              <a:rPr sz="1400" b="0">
                <a:solidFill>
                  <a:srgbClr val="161B26"/>
                </a:solidFill>
                <a:latin typeface="Arial"/>
              </a:rPr>
              <a:t>•  Build the Business Presentation with Your Video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200" b="1">
                <a:solidFill>
                  <a:srgbClr val="161B26"/>
                </a:solidFill>
                <a:latin typeface="Arial"/>
              </a:rPr>
              <a:t>GROUP ACTIVITY — Run a Design Thinking Sprint in Design Thinking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Before modelling the business, understand the USER. In teams of 3-5, run all five Design Thinking stages on the researched idea using the course's Design Thinking Studio ed-tool, with AI accelerating each stage and real people correcting it.</a:t>
            </a:r>
          </a:p>
        </p:txBody>
      </p:sp>
      <p:sp>
        <p:nvSpPr>
          <p:cNvPr id="10" name="Rectangle 9"/>
          <p:cNvSpPr/>
          <p:nvPr/>
        </p:nvSpPr>
        <p:spPr>
          <a:xfrm>
            <a:off x="777240" y="3950208"/>
            <a:ext cx="10698480" cy="1892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932688"/>
          </a:xfrm>
          <a:prstGeom prst="rect">
            <a:avLst/>
          </a:prstGeom>
          <a:noFill/>
        </p:spPr>
        <p:txBody>
          <a:bodyPr wrap="square" anchor="t">
            <a:spAutoFit/>
          </a:bodyPr>
          <a:lstStyle/>
          <a:p>
            <a:pPr algn="l">
              <a:spcAft>
                <a:spcPts val="400"/>
              </a:spcAft>
            </a:pPr>
            <a:r>
              <a:rPr sz="1500" b="1">
                <a:solidFill>
                  <a:srgbClr val="161B26"/>
                </a:solidFill>
                <a:latin typeface="Arial"/>
              </a:rPr>
              <a:t>A completed five-stage Design Thinking workspace: an empathy map, one 'How might we' problem statement, twenty ideas narrowed to three, a prototype concept and a test plan — all captured in the shared studio.</a:t>
            </a:r>
          </a:p>
        </p:txBody>
      </p:sp>
      <p:sp>
        <p:nvSpPr>
          <p:cNvPr id="13" name="TextBox 12"/>
          <p:cNvSpPr txBox="1"/>
          <p:nvPr/>
        </p:nvSpPr>
        <p:spPr>
          <a:xfrm>
            <a:off x="1005840" y="5431536"/>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Design Thinking Studio (https://alfredang.github.io/designthinking/), ChatGPT/Gemini/Claude, your Lab 3 NotebookLM notebook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200" b="1">
                <a:solidFill>
                  <a:srgbClr val="161B26"/>
                </a:solidFill>
                <a:latin typeface="Arial"/>
              </a:rPr>
              <a:t>GROUP ACTIVITY — Run a Design Thinking Sprint in Design Thinking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team's studio workspace has an artifact in all five stages, the empathy map was corrected by a real person's input rather than left as the AI's draft, your problem statement follows the 'How might we' form, and your test plan names a specific measurable signal that would disprove the concept.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GROUP ACTIVITY — Build a Business Model Canvas in BMC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STAGE 3 OF THE PIPELINE, worked as a GROUP. In teams of 3-5, build a complete nine-block Business Model Canvas together in real time using the course's BMC Studio ed-tool, with AI drafting and challenging the content and the six canvas rules keeping it sharp.</a:t>
            </a:r>
          </a:p>
        </p:txBody>
      </p:sp>
      <p:sp>
        <p:nvSpPr>
          <p:cNvPr id="10" name="Rectangle 9"/>
          <p:cNvSpPr/>
          <p:nvPr/>
        </p:nvSpPr>
        <p:spPr>
          <a:xfrm>
            <a:off x="777240" y="3950208"/>
            <a:ext cx="10698480" cy="1892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932688"/>
          </a:xfrm>
          <a:prstGeom prst="rect">
            <a:avLst/>
          </a:prstGeom>
          <a:noFill/>
        </p:spPr>
        <p:txBody>
          <a:bodyPr wrap="square" anchor="t">
            <a:spAutoFit/>
          </a:bodyPr>
          <a:lstStyle/>
          <a:p>
            <a:pPr algn="l">
              <a:spcAft>
                <a:spcPts val="400"/>
              </a:spcAft>
            </a:pPr>
            <a:r>
              <a:rPr sz="1500" b="1">
                <a:solidFill>
                  <a:srgbClr val="161B26"/>
                </a:solidFill>
                <a:latin typeface="Arial"/>
              </a:rPr>
              <a:t>A collaborative nine-block Business Model Canvas in BMC Studio (shareable Canvas ID), annotated with where GenAI creates value in each block, plus the three riskiest assumptions and how the team would test them.</a:t>
            </a:r>
          </a:p>
        </p:txBody>
      </p:sp>
      <p:sp>
        <p:nvSpPr>
          <p:cNvPr id="13" name="TextBox 12"/>
          <p:cNvSpPr txBox="1"/>
          <p:nvPr/>
        </p:nvSpPr>
        <p:spPr>
          <a:xfrm>
            <a:off x="1005840" y="5431536"/>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BMC Studio (https://alfredang.github.io/bcm/), ChatGPT/Gemini/Claude, your Lab 3 NotebookLM notebook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GROUP ACTIVITY — Build a Business Model Canvas in BMC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team's BMC Studio canvas has all nine blocks filled and mutually consistent, at least four blocks carry research-specific detail rather than the AI's generic draft, every block names a GenAI value-add, three high-priority assumptions are marked with a two-week test each, and every member contributed notes visible on the shared canvas.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Design the Digital Architecture for Your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Draw the end-to-end architecture for the solution across five layers, so the design shows data flow, integration points and governance controls rather than just a list of tool names.</a:t>
            </a:r>
          </a:p>
        </p:txBody>
      </p:sp>
      <p:sp>
        <p:nvSpPr>
          <p:cNvPr id="10" name="Rectangle 9"/>
          <p:cNvSpPr/>
          <p:nvPr/>
        </p:nvSpPr>
        <p:spPr>
          <a:xfrm>
            <a:off x="777240" y="3950208"/>
            <a:ext cx="10698480" cy="1892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932688"/>
          </a:xfrm>
          <a:prstGeom prst="rect">
            <a:avLst/>
          </a:prstGeom>
          <a:noFill/>
        </p:spPr>
        <p:txBody>
          <a:bodyPr wrap="square" anchor="t">
            <a:spAutoFit/>
          </a:bodyPr>
          <a:lstStyle/>
          <a:p>
            <a:pPr algn="l">
              <a:spcAft>
                <a:spcPts val="400"/>
              </a:spcAft>
            </a:pPr>
            <a:r>
              <a:rPr sz="1500" b="1">
                <a:solidFill>
                  <a:srgbClr val="161B26"/>
                </a:solidFill>
                <a:latin typeface="Arial"/>
              </a:rPr>
              <a:t>A five-layer architecture diagram (data, model, orchestration, application, governance) with the integration pattern chosen and justified, and an explicit statement on whether confidential data leaves the organisation.</a:t>
            </a:r>
          </a:p>
        </p:txBody>
      </p:sp>
      <p:sp>
        <p:nvSpPr>
          <p:cNvPr id="13" name="TextBox 12"/>
          <p:cNvSpPr txBox="1"/>
          <p:nvPr/>
        </p:nvSpPr>
        <p:spPr>
          <a:xfrm>
            <a:off x="1005840" y="5431536"/>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Draw.io, Canva or a chat assistant with diagram output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Design the Digital Architecture for Your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diagram shows all five layers with data-flow arrows, names at least one specific control in the governance layer, and states explicitly whether confidential data leaves the organisation's boundary.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Script a Marketing Video for Your Business Idea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STAGE 4 OF THE PIPELINE. Write and storyboard a 60-second video script for the researched idea, comparing how three different assistants handle the same creative brief.</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500" b="1">
                <a:solidFill>
                  <a:srgbClr val="161B26"/>
                </a:solidFill>
                <a:latin typeface="Arial"/>
              </a:rPr>
              <a:t>A finished 60-second video script with a hook, three benefits and a call to action, broken into a 6-scene storyboard with visual direction and the exact voiceover line for each scene.</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ChatGPT, Google Gemini, Microsoft Copilot 365</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Script a Marketing Video for Your Business Idea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script reads aloud in 60 seconds or less, has a hook in the first five seconds, three clear benefits and one call to action, and your 6-scene storyboard gives each scene a voiceover line, a camera-ready visual description and on-screen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Create the AI Voiceover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STAGE 5 OF THE PIPELINE. Turn the Lab 8 script into a natural-sounding voiceover with a text-to-speech tool, and learn the controls that separate a usable take from an obviously robotic one.</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clean 60-second voiceover audio file (MP3/WAV) of your script, with the voice, pace and emphasis deliberately chosen for your audience.</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ElevenLabs (recommended free tier), Microsoft Edge Read Aloud, Descript Overdub, or Google/Azure TTS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Create the AI Voiceover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voiceover plays cleanly, runs to 60 seconds or under, pronounces every product name and number correctly, and sounds natural when you play it to another learner.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Generate the Background Soundtrack with Suno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STAGE 6 OF THE PIPELINE. Create an original background track that supports the voiceover instead of competing with it, and check what the licence actually permits.</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60-second background music track matched to the tone of your video, with its licence terms recorded.</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Suno (recommended), Udio, or an AI music generator of your choice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Generate the Background Soundtrack with Suno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60-second instrumental track that fits your video's tone, sits comfortably under the voiceover when played together, and you can state exactly what its licence permits.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Produce the Video with Kling and an AI Video Editor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STAGE 7 OF THE PIPELINE. Generate the visual scenes from the Lab 8 storyboard, then assemble them with the Lab 9 voiceover and the Lab 10 soundtrack into a finished, captioned marketing video.</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finished 60-second marketing video combining AI-generated scenes, your AI voiceover, your AI soundtrack and captions — exported at 1080p.</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Kling AI (or Runway, Pika, Sora), CapCut or Descript, plus your Lab 9 and Lab 10 audio</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Produce the Video with Kling and an AI Video Editor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exported video plays end to end at 1080p with synced visuals, an audible voiceover over quieter music, accurate captions and a clear call to action — and you can state which AI tool produced each element.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Build the Business Presentation with Your Video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Assemble everything from the pipeline — research, canvas, architecture and video — into a board-ready presentation that argues for the idea rather than merely describing it.</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published 10-slide business presentation with a share link, embedding your Lab 11 video and your Lab 6 canvas, ending with a clear ask.</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Gamma (recommended), Canva Presentations, or Microsoft Copilot in PowerPoint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Build the Business Presentation with Your Video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deck has a working share link, plays the embedded video, shows the canvas, carries at least one verified source from Lab 3, and ends with a specific, decidable ask.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1833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1560" y="1818513"/>
            <a:ext cx="10515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18513"/>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1" name="TextBox 10"/>
          <p:cNvSpPr txBox="1"/>
          <p:nvPr/>
        </p:nvSpPr>
        <p:spPr>
          <a:xfrm>
            <a:off x="2331720" y="1783080"/>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Apply a human-centred business planning methodology, accelerated by generative ai, to move from user problem to tested concept.</a:t>
            </a:r>
          </a:p>
        </p:txBody>
      </p:sp>
      <p:sp>
        <p:nvSpPr>
          <p:cNvPr id="12" name="Rectangle 11"/>
          <p:cNvSpPr/>
          <p:nvPr/>
        </p:nvSpPr>
        <p:spPr>
          <a:xfrm>
            <a:off x="777240" y="2347722"/>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47722"/>
            <a:ext cx="91440" cy="41833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2383155"/>
            <a:ext cx="10515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383155"/>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6" name="TextBox 15"/>
          <p:cNvSpPr txBox="1"/>
          <p:nvPr/>
        </p:nvSpPr>
        <p:spPr>
          <a:xfrm>
            <a:off x="2331720" y="2347722"/>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Apply a business planning methodology and design how genai supports each part of the business model.</a:t>
            </a:r>
          </a:p>
        </p:txBody>
      </p:sp>
      <p:sp>
        <p:nvSpPr>
          <p:cNvPr id="17" name="Rectangle 16"/>
          <p:cNvSpPr/>
          <p:nvPr/>
        </p:nvSpPr>
        <p:spPr>
          <a:xfrm>
            <a:off x="777240" y="2912364"/>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12364"/>
            <a:ext cx="91440" cy="41833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1560" y="2947797"/>
            <a:ext cx="1051560" cy="347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2947797"/>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TextBox 20"/>
          <p:cNvSpPr txBox="1"/>
          <p:nvPr/>
        </p:nvSpPr>
        <p:spPr>
          <a:xfrm>
            <a:off x="2331720" y="2912364"/>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Design a digital architecture showing how ai technologies apply across the business.</a:t>
            </a:r>
          </a:p>
        </p:txBody>
      </p:sp>
      <p:sp>
        <p:nvSpPr>
          <p:cNvPr id="22" name="Rectangle 21"/>
          <p:cNvSpPr/>
          <p:nvPr/>
        </p:nvSpPr>
        <p:spPr>
          <a:xfrm>
            <a:off x="777240" y="3477006"/>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477006"/>
            <a:ext cx="91440" cy="41833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3512439"/>
            <a:ext cx="1051560" cy="3474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512439"/>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6" name="TextBox 25"/>
          <p:cNvSpPr txBox="1"/>
          <p:nvPr/>
        </p:nvSpPr>
        <p:spPr>
          <a:xfrm>
            <a:off x="2331720" y="3477006"/>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Chain generative ai tools into a repeatable content production process for the business.</a:t>
            </a:r>
          </a:p>
        </p:txBody>
      </p:sp>
      <p:sp>
        <p:nvSpPr>
          <p:cNvPr id="27" name="Rectangle 26"/>
          <p:cNvSpPr/>
          <p:nvPr/>
        </p:nvSpPr>
        <p:spPr>
          <a:xfrm>
            <a:off x="777240" y="4041648"/>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41648"/>
            <a:ext cx="91440" cy="41833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51560" y="4077081"/>
            <a:ext cx="10515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077081"/>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31" name="TextBox 30"/>
          <p:cNvSpPr txBox="1"/>
          <p:nvPr/>
        </p:nvSpPr>
        <p:spPr>
          <a:xfrm>
            <a:off x="2331720" y="4041648"/>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Apply generative ai speech tools to produce a business-quality audio asset.</a:t>
            </a:r>
          </a:p>
        </p:txBody>
      </p:sp>
      <p:sp>
        <p:nvSpPr>
          <p:cNvPr id="32" name="Rectangle 31"/>
          <p:cNvSpPr/>
          <p:nvPr/>
        </p:nvSpPr>
        <p:spPr>
          <a:xfrm>
            <a:off x="777240" y="4606290"/>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4606290"/>
            <a:ext cx="91440" cy="41833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51560" y="4641723"/>
            <a:ext cx="10515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4641723"/>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6" name="TextBox 35"/>
          <p:cNvSpPr txBox="1"/>
          <p:nvPr/>
        </p:nvSpPr>
        <p:spPr>
          <a:xfrm>
            <a:off x="2331720" y="4606290"/>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Apply generative ai music tools and handle the licensing of generated assets.</a:t>
            </a:r>
          </a:p>
        </p:txBody>
      </p:sp>
      <p:sp>
        <p:nvSpPr>
          <p:cNvPr id="37" name="Rectangle 36"/>
          <p:cNvSpPr/>
          <p:nvPr/>
        </p:nvSpPr>
        <p:spPr>
          <a:xfrm>
            <a:off x="777240" y="5170932"/>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170932"/>
            <a:ext cx="91440" cy="41833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51560" y="5206365"/>
            <a:ext cx="1051560" cy="347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5206365"/>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7</a:t>
            </a:r>
          </a:p>
        </p:txBody>
      </p:sp>
      <p:sp>
        <p:nvSpPr>
          <p:cNvPr id="41" name="TextBox 40"/>
          <p:cNvSpPr txBox="1"/>
          <p:nvPr/>
        </p:nvSpPr>
        <p:spPr>
          <a:xfrm>
            <a:off x="2331720" y="5170932"/>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Combine multiple generative ai outputs into one finished business asset.</a:t>
            </a:r>
          </a:p>
        </p:txBody>
      </p:sp>
      <p:sp>
        <p:nvSpPr>
          <p:cNvPr id="42" name="Rectangle 41"/>
          <p:cNvSpPr/>
          <p:nvPr/>
        </p:nvSpPr>
        <p:spPr>
          <a:xfrm>
            <a:off x="777240" y="5735574"/>
            <a:ext cx="10634472" cy="4183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735574"/>
            <a:ext cx="91440" cy="41833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51560" y="5771007"/>
            <a:ext cx="1051560" cy="3474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771007"/>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8</a:t>
            </a:r>
          </a:p>
        </p:txBody>
      </p:sp>
      <p:sp>
        <p:nvSpPr>
          <p:cNvPr id="46" name="TextBox 45"/>
          <p:cNvSpPr txBox="1"/>
          <p:nvPr/>
        </p:nvSpPr>
        <p:spPr>
          <a:xfrm>
            <a:off x="2331720" y="5735574"/>
            <a:ext cx="8869680" cy="418338"/>
          </a:xfrm>
          <a:prstGeom prst="rect">
            <a:avLst/>
          </a:prstGeom>
          <a:noFill/>
        </p:spPr>
        <p:txBody>
          <a:bodyPr wrap="square" anchor="ctr">
            <a:spAutoFit/>
          </a:bodyPr>
          <a:lstStyle/>
          <a:p>
            <a:pPr algn="l">
              <a:spcAft>
                <a:spcPts val="400"/>
              </a:spcAft>
            </a:pPr>
            <a:r>
              <a:rPr sz="1300" b="0">
                <a:solidFill>
                  <a:srgbClr val="161B26"/>
                </a:solidFill>
                <a:latin typeface="Arial"/>
              </a:rPr>
              <a:t>Turn the work into a stakeholder-ready business case and communicate it.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Implementing and Managing Business Innovation with Generative AI Tools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Best practices · legal, ethical and security issues · measuring success · stakeholder communication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WHAT THIS TOPIC COVERS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Implementation best practices</a:t>
            </a:r>
          </a:p>
          <a:p>
            <a:pPr algn="l">
              <a:spcAft>
                <a:spcPts val="300"/>
              </a:spcAft>
            </a:pPr>
            <a:r>
              <a:rPr sz="1100" b="0">
                <a:solidFill>
                  <a:srgbClr val="5B6372"/>
                </a:solidFill>
                <a:latin typeface="Arial"/>
              </a:rPr>
              <a:t>Start with a narrow high-value use case, keep a human in the loop, measure a baseline and scale only what works.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Legal considerations</a:t>
            </a:r>
          </a:p>
          <a:p>
            <a:pPr algn="l">
              <a:spcAft>
                <a:spcPts val="300"/>
              </a:spcAft>
            </a:pPr>
            <a:r>
              <a:rPr sz="1100" b="0">
                <a:solidFill>
                  <a:srgbClr val="5B6372"/>
                </a:solidFill>
                <a:latin typeface="Arial"/>
              </a:rPr>
              <a:t>Copyright and training data, model output ownership, the EU AI Act and Singapore's PDPA obligations.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ethics</a:t>
            </a:r>
          </a:p>
          <a:p>
            <a:pPr algn="l">
              <a:spcAft>
                <a:spcPts val="300"/>
              </a:spcAft>
            </a:pPr>
            <a:r>
              <a:rPr sz="1100" b="0">
                <a:solidFill>
                  <a:srgbClr val="5B6372"/>
                </a:solidFill>
                <a:latin typeface="Arial"/>
              </a:rPr>
              <a:t>Transparency, fairness, safety, explainability, privacy, security, responsibility, liability and auditability.</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Singapore governance</a:t>
            </a:r>
          </a:p>
          <a:p>
            <a:pPr algn="l">
              <a:spcAft>
                <a:spcPts val="300"/>
              </a:spcAft>
            </a:pPr>
            <a:r>
              <a:rPr sz="1100" b="0">
                <a:solidFill>
                  <a:srgbClr val="5B6372"/>
                </a:solidFill>
                <a:latin typeface="Arial"/>
              </a:rPr>
              <a:t>IMDA's Model AI Governance Framework and AI Verify give organisations a practical assurance toolkit.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Security and data protection</a:t>
            </a:r>
          </a:p>
          <a:p>
            <a:pPr algn="l">
              <a:spcAft>
                <a:spcPts val="300"/>
              </a:spcAft>
            </a:pPr>
            <a:r>
              <a:rPr sz="1100" b="0">
                <a:solidFill>
                  <a:srgbClr val="5B6372"/>
                </a:solidFill>
                <a:latin typeface="Arial"/>
              </a:rPr>
              <a:t>Prompt injection, data leakage into public models, shadow AI and access control over AI systems.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Measuring and reviewing success</a:t>
            </a:r>
          </a:p>
          <a:p>
            <a:pPr algn="l">
              <a:spcAft>
                <a:spcPts val="300"/>
              </a:spcAft>
            </a:pPr>
            <a:r>
              <a:rPr sz="1100" b="0">
                <a:solidFill>
                  <a:srgbClr val="5B6372"/>
                </a:solidFill>
                <a:latin typeface="Arial"/>
              </a:rPr>
              <a:t>Track adoption, cycle time, quality, cost per task and business outcome against the pre-AI baseline.</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Stakeholder communication</a:t>
            </a:r>
          </a:p>
          <a:p>
            <a:pPr algn="l">
              <a:spcAft>
                <a:spcPts val="300"/>
              </a:spcAft>
            </a:pPr>
            <a:r>
              <a:rPr sz="1100" b="0">
                <a:solidFill>
                  <a:srgbClr val="5B6372"/>
                </a:solidFill>
                <a:latin typeface="Arial"/>
              </a:rPr>
              <a:t>A communication plan, AI use policy and community of practice keep ideas flowing across the organisation.</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The AIM framework</a:t>
            </a:r>
          </a:p>
          <a:p>
            <a:pPr algn="l">
              <a:spcAft>
                <a:spcPts val="300"/>
              </a:spcAft>
            </a:pPr>
            <a:r>
              <a:rPr sz="1100" b="0">
                <a:solidFill>
                  <a:srgbClr val="5B6372"/>
                </a:solidFill>
                <a:latin typeface="Arial"/>
              </a:rPr>
              <a:t>Assess, Implement, Manage — a repeatable loop for running generative AI innovation.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ACTUALLY WORKS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Implementation Best Practices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narrow</a:t>
            </a:r>
          </a:p>
          <a:p>
            <a:pPr algn="l">
              <a:spcAft>
                <a:spcPts val="300"/>
              </a:spcAft>
            </a:pPr>
            <a:r>
              <a:rPr sz="1200" b="0">
                <a:solidFill>
                  <a:srgbClr val="5B6372"/>
                </a:solidFill>
                <a:latin typeface="Arial"/>
              </a:rPr>
              <a:t>One high-value use case with a measurable baseline beats ten pilots that prove nothing.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in the loop</a:t>
            </a:r>
          </a:p>
          <a:p>
            <a:pPr algn="l">
              <a:spcAft>
                <a:spcPts val="300"/>
              </a:spcAft>
            </a:pPr>
            <a:r>
              <a:rPr sz="1200" b="0">
                <a:solidFill>
                  <a:srgbClr val="5B6372"/>
                </a:solidFill>
                <a:latin typeface="Arial"/>
              </a:rPr>
              <a:t>Keep a review point wherever the output carries legal, financial or reputational weight.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 the baseline first</a:t>
            </a:r>
          </a:p>
          <a:p>
            <a:pPr algn="l">
              <a:spcAft>
                <a:spcPts val="300"/>
              </a:spcAft>
            </a:pPr>
            <a:r>
              <a:rPr sz="1200" b="0">
                <a:solidFill>
                  <a:srgbClr val="5B6372"/>
                </a:solidFill>
                <a:latin typeface="Arial"/>
              </a:rPr>
              <a:t>You cannot claim an improvement you never measured before the change.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Design for adoption</a:t>
            </a:r>
          </a:p>
          <a:p>
            <a:pPr algn="l">
              <a:spcAft>
                <a:spcPts val="300"/>
              </a:spcAft>
            </a:pPr>
            <a:r>
              <a:rPr sz="1200" b="0">
                <a:solidFill>
                  <a:srgbClr val="5B6372"/>
                </a:solidFill>
                <a:latin typeface="Arial"/>
              </a:rPr>
              <a:t>Train, communicate honestly about job impact, and make the tool easier than the old 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Scale what works</a:t>
            </a:r>
          </a:p>
          <a:p>
            <a:pPr algn="l">
              <a:spcAft>
                <a:spcPts val="300"/>
              </a:spcAft>
            </a:pPr>
            <a:r>
              <a:rPr sz="1200" b="0">
                <a:solidFill>
                  <a:srgbClr val="5B6372"/>
                </a:solidFill>
                <a:latin typeface="Arial"/>
              </a:rPr>
              <a:t>Promote only the pilots that hit their go criteria; retire the rest without blame.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Iterate the loop</a:t>
            </a:r>
          </a:p>
          <a:p>
            <a:pPr algn="l">
              <a:spcAft>
                <a:spcPts val="300"/>
              </a:spcAft>
            </a:pPr>
            <a:r>
              <a:rPr sz="1200" b="0">
                <a:solidFill>
                  <a:srgbClr val="5B6372"/>
                </a:solidFill>
                <a:latin typeface="Arial"/>
              </a:rPr>
              <a:t>Assess, implement, manage — then reassess as models and regulation change.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LEGAL</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Legal &amp; Copyright Considerations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5212080" cy="566928"/>
          </a:xfrm>
          <a:prstGeom prst="rect">
            <a:avLst/>
          </a:prstGeom>
          <a:noFill/>
        </p:spPr>
        <p:txBody>
          <a:bodyPr wrap="square" anchor="ctr">
            <a:spAutoFit/>
          </a:bodyPr>
          <a:lstStyle/>
          <a:p>
            <a:pPr algn="ctr">
              <a:spcAft>
                <a:spcPts val="400"/>
              </a:spcAft>
            </a:pPr>
            <a:r>
              <a:rPr sz="1700" b="1">
                <a:solidFill>
                  <a:srgbClr val="FFFFFF"/>
                </a:solidFill>
                <a:latin typeface="Arial"/>
              </a:rPr>
              <a:t>THE CONTESTED GROUND</a:t>
            </a:r>
          </a:p>
        </p:txBody>
      </p:sp>
      <p:sp>
        <p:nvSpPr>
          <p:cNvPr id="10" name="TextBox 9"/>
          <p:cNvSpPr txBox="1"/>
          <p:nvPr/>
        </p:nvSpPr>
        <p:spPr>
          <a:xfrm>
            <a:off x="1051560" y="2606040"/>
            <a:ext cx="4663440" cy="3200400"/>
          </a:xfrm>
          <a:prstGeom prst="rect">
            <a:avLst/>
          </a:prstGeom>
          <a:noFill/>
        </p:spPr>
        <p:txBody>
          <a:bodyPr wrap="square">
            <a:spAutoFit/>
          </a:bodyPr>
          <a:lstStyle/>
          <a:p>
            <a:pPr>
              <a:spcAft>
                <a:spcPts val="1100"/>
              </a:spcAft>
            </a:pPr>
            <a:r>
              <a:rPr sz="1500" b="0">
                <a:solidFill>
                  <a:srgbClr val="161B26"/>
                </a:solidFill>
                <a:latin typeface="Arial"/>
              </a:rPr>
              <a:t>•  Training data — Getty Images v Stability AI and related suits.</a:t>
            </a:r>
          </a:p>
          <a:p>
            <a:pPr>
              <a:spcAft>
                <a:spcPts val="1100"/>
              </a:spcAft>
            </a:pPr>
            <a:r>
              <a:rPr sz="1500" b="0">
                <a:solidFill>
                  <a:srgbClr val="161B26"/>
                </a:solidFill>
                <a:latin typeface="Arial"/>
              </a:rPr>
              <a:t>•  Authorship — the US Copyright Office holds purely AI-generated work unprotectable.</a:t>
            </a:r>
          </a:p>
          <a:p>
            <a:pPr>
              <a:spcAft>
                <a:spcPts val="1100"/>
              </a:spcAft>
            </a:pPr>
            <a:r>
              <a:rPr sz="1500" b="0">
                <a:solidFill>
                  <a:srgbClr val="161B26"/>
                </a:solidFill>
                <a:latin typeface="Arial"/>
              </a:rPr>
              <a:t>•  Likeness and voice cloning consent.</a:t>
            </a:r>
          </a:p>
          <a:p>
            <a:pPr>
              <a:spcAft>
                <a:spcPts val="1100"/>
              </a:spcAft>
            </a:pPr>
            <a:r>
              <a:rPr sz="1500" b="0">
                <a:solidFill>
                  <a:srgbClr val="161B26"/>
                </a:solidFill>
                <a:latin typeface="Arial"/>
              </a:rPr>
              <a:t>•  AI-generated music and derivative-work claims.</a:t>
            </a:r>
          </a:p>
        </p:txBody>
      </p:sp>
      <p:sp>
        <p:nvSpPr>
          <p:cNvPr id="11" name="Rectangle 10"/>
          <p:cNvSpPr/>
          <p:nvPr/>
        </p:nvSpPr>
        <p:spPr>
          <a:xfrm>
            <a:off x="6199632"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783080"/>
            <a:ext cx="521208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783080"/>
            <a:ext cx="5212080" cy="566928"/>
          </a:xfrm>
          <a:prstGeom prst="rect">
            <a:avLst/>
          </a:prstGeom>
          <a:noFill/>
        </p:spPr>
        <p:txBody>
          <a:bodyPr wrap="square" anchor="ctr">
            <a:spAutoFit/>
          </a:bodyPr>
          <a:lstStyle/>
          <a:p>
            <a:pPr algn="ctr">
              <a:spcAft>
                <a:spcPts val="400"/>
              </a:spcAft>
            </a:pPr>
            <a:r>
              <a:rPr sz="1700" b="1">
                <a:solidFill>
                  <a:srgbClr val="FFFFFF"/>
                </a:solidFill>
                <a:latin typeface="Arial"/>
              </a:rPr>
              <a:t>WHAT TO DO</a:t>
            </a:r>
          </a:p>
        </p:txBody>
      </p:sp>
      <p:sp>
        <p:nvSpPr>
          <p:cNvPr id="14" name="TextBox 13"/>
          <p:cNvSpPr txBox="1"/>
          <p:nvPr/>
        </p:nvSpPr>
        <p:spPr>
          <a:xfrm>
            <a:off x="6473952" y="2606040"/>
            <a:ext cx="4663440" cy="3200400"/>
          </a:xfrm>
          <a:prstGeom prst="rect">
            <a:avLst/>
          </a:prstGeom>
          <a:noFill/>
        </p:spPr>
        <p:txBody>
          <a:bodyPr wrap="square">
            <a:spAutoFit/>
          </a:bodyPr>
          <a:lstStyle/>
          <a:p>
            <a:pPr>
              <a:spcAft>
                <a:spcPts val="1100"/>
              </a:spcAft>
            </a:pPr>
            <a:r>
              <a:rPr sz="1500" b="0">
                <a:solidFill>
                  <a:srgbClr val="161B26"/>
                </a:solidFill>
                <a:latin typeface="Arial"/>
              </a:rPr>
              <a:t>•  Read the vendor terms on commercial use and ownership.</a:t>
            </a:r>
          </a:p>
          <a:p>
            <a:pPr>
              <a:spcAft>
                <a:spcPts val="1100"/>
              </a:spcAft>
            </a:pPr>
            <a:r>
              <a:rPr sz="1500" b="0">
                <a:solidFill>
                  <a:srgbClr val="161B26"/>
                </a:solidFill>
                <a:latin typeface="Arial"/>
              </a:rPr>
              <a:t>•  Keep a human contribution record for creative work.</a:t>
            </a:r>
          </a:p>
          <a:p>
            <a:pPr>
              <a:spcAft>
                <a:spcPts val="1100"/>
              </a:spcAft>
            </a:pPr>
            <a:r>
              <a:rPr sz="1500" b="0">
                <a:solidFill>
                  <a:srgbClr val="161B26"/>
                </a:solidFill>
                <a:latin typeface="Arial"/>
              </a:rPr>
              <a:t>•  Obtain written consent for any real person's likeness or voice.</a:t>
            </a:r>
          </a:p>
          <a:p>
            <a:pPr>
              <a:spcAft>
                <a:spcPts val="1100"/>
              </a:spcAft>
            </a:pPr>
            <a:r>
              <a:rPr sz="1500" b="0">
                <a:solidFill>
                  <a:srgbClr val="161B26"/>
                </a:solidFill>
                <a:latin typeface="Arial"/>
              </a:rPr>
              <a:t>•  Disclose AI-generated content where regulation or policy requires.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ETHICS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AI Ethics — The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Transparency</a:t>
            </a:r>
          </a:p>
          <a:p>
            <a:pPr algn="l">
              <a:spcAft>
                <a:spcPts val="300"/>
              </a:spcAft>
            </a:pPr>
            <a:r>
              <a:rPr sz="1200" b="0">
                <a:solidFill>
                  <a:srgbClr val="5B6372"/>
                </a:solidFill>
                <a:latin typeface="Arial"/>
              </a:rPr>
              <a:t>Users know when AI is used and how.</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Fairness</a:t>
            </a:r>
          </a:p>
          <a:p>
            <a:pPr algn="l">
              <a:spcAft>
                <a:spcPts val="300"/>
              </a:spcAft>
            </a:pPr>
            <a:r>
              <a:rPr sz="1200" b="0">
                <a:solidFill>
                  <a:srgbClr val="5B6372"/>
                </a:solidFill>
                <a:latin typeface="Arial"/>
              </a:rPr>
              <a:t>No unjustified bias against any group.</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Safety</a:t>
            </a:r>
          </a:p>
          <a:p>
            <a:pPr algn="l">
              <a:spcAft>
                <a:spcPts val="300"/>
              </a:spcAft>
            </a:pPr>
            <a:r>
              <a:rPr sz="1200" b="0">
                <a:solidFill>
                  <a:srgbClr val="5B6372"/>
                </a:solidFill>
                <a:latin typeface="Arial"/>
              </a:rPr>
              <a:t>The system behaves within intended bounds.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Explainability</a:t>
            </a:r>
          </a:p>
          <a:p>
            <a:pPr algn="l">
              <a:spcAft>
                <a:spcPts val="300"/>
              </a:spcAft>
            </a:pPr>
            <a:r>
              <a:rPr sz="1200" b="0">
                <a:solidFill>
                  <a:srgbClr val="5B6372"/>
                </a:solidFill>
                <a:latin typeface="Arial"/>
              </a:rPr>
              <a:t>Decisions can be understood and justified.</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Privacy</a:t>
            </a:r>
          </a:p>
          <a:p>
            <a:pPr algn="l">
              <a:spcAft>
                <a:spcPts val="300"/>
              </a:spcAft>
            </a:pPr>
            <a:r>
              <a:rPr sz="1200" b="0">
                <a:solidFill>
                  <a:srgbClr val="5B6372"/>
                </a:solidFill>
                <a:latin typeface="Arial"/>
              </a:rPr>
              <a:t>Personal data is protected and minimised.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Security</a:t>
            </a:r>
          </a:p>
          <a:p>
            <a:pPr algn="l">
              <a:spcAft>
                <a:spcPts val="300"/>
              </a:spcAft>
            </a:pPr>
            <a:r>
              <a:rPr sz="1200" b="0">
                <a:solidFill>
                  <a:srgbClr val="5B6372"/>
                </a:solidFill>
                <a:latin typeface="Arial"/>
              </a:rPr>
              <a:t>The system resists misuse and attack.</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Responsibility</a:t>
            </a:r>
          </a:p>
          <a:p>
            <a:pPr algn="l">
              <a:spcAft>
                <a:spcPts val="300"/>
              </a:spcAft>
            </a:pPr>
            <a:r>
              <a:rPr sz="1200" b="0">
                <a:solidFill>
                  <a:srgbClr val="5B6372"/>
                </a:solidFill>
                <a:latin typeface="Arial"/>
              </a:rPr>
              <a:t>A named human owns each AI outcome.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Auditability</a:t>
            </a:r>
          </a:p>
          <a:p>
            <a:pPr algn="l">
              <a:spcAft>
                <a:spcPts val="300"/>
              </a:spcAft>
            </a:pPr>
            <a:r>
              <a:rPr sz="1200" b="0">
                <a:solidFill>
                  <a:srgbClr val="5B6372"/>
                </a:solidFill>
                <a:latin typeface="Arial"/>
              </a:rPr>
              <a:t>Decisions are logged and reviewable.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GOVERNANCE IN SINGAPORE</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Singapore's AI Governance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 AI Governance Framework</a:t>
            </a:r>
          </a:p>
          <a:p>
            <a:pPr algn="l">
              <a:spcAft>
                <a:spcPts val="300"/>
              </a:spcAft>
            </a:pPr>
            <a:r>
              <a:rPr sz="1200" b="0">
                <a:solidFill>
                  <a:srgbClr val="5B6372"/>
                </a:solidFill>
                <a:latin typeface="Arial"/>
              </a:rPr>
              <a:t>IMDA's practical guidance on deploying AI responsibly, including for generative AI.</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AI Verify</a:t>
            </a:r>
          </a:p>
          <a:p>
            <a:pPr algn="l">
              <a:spcAft>
                <a:spcPts val="300"/>
              </a:spcAft>
            </a:pPr>
            <a:r>
              <a:rPr sz="1200" b="0">
                <a:solidFill>
                  <a:srgbClr val="5B6372"/>
                </a:solidFill>
                <a:latin typeface="Arial"/>
              </a:rPr>
              <a:t>A testing framework and toolkit for validating AI system behaviour against governance principles.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PDPA</a:t>
            </a:r>
          </a:p>
          <a:p>
            <a:pPr algn="l">
              <a:spcAft>
                <a:spcPts val="300"/>
              </a:spcAft>
            </a:pPr>
            <a:r>
              <a:rPr sz="1200" b="0">
                <a:solidFill>
                  <a:srgbClr val="5B6372"/>
                </a:solidFill>
                <a:latin typeface="Arial"/>
              </a:rPr>
              <a:t>Consent, purpose limitation, retention and protection obligations for any personal data used.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Sector regulation</a:t>
            </a:r>
          </a:p>
          <a:p>
            <a:pPr algn="l">
              <a:spcAft>
                <a:spcPts val="300"/>
              </a:spcAft>
            </a:pPr>
            <a:r>
              <a:rPr sz="1200" b="0">
                <a:solidFill>
                  <a:srgbClr val="5B6372"/>
                </a:solidFill>
                <a:latin typeface="Arial"/>
              </a:rPr>
              <a:t>MAS, MOH and other regulators add sector-specific expectations on top of the baseline.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SECURITY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Risks in GenAI Adoption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injection</a:t>
            </a:r>
          </a:p>
          <a:p>
            <a:pPr algn="l">
              <a:spcAft>
                <a:spcPts val="300"/>
              </a:spcAft>
            </a:pPr>
            <a:r>
              <a:rPr sz="1200" b="0">
                <a:solidFill>
                  <a:srgbClr val="5B6372"/>
                </a:solidFill>
                <a:latin typeface="Arial"/>
              </a:rPr>
              <a:t>Hostile instructions hidden in content the model reads, hijacking its behaviour.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leakage</a:t>
            </a:r>
          </a:p>
          <a:p>
            <a:pPr algn="l">
              <a:spcAft>
                <a:spcPts val="300"/>
              </a:spcAft>
            </a:pPr>
            <a:r>
              <a:rPr sz="1200" b="0">
                <a:solidFill>
                  <a:srgbClr val="5B6372"/>
                </a:solidFill>
                <a:latin typeface="Arial"/>
              </a:rPr>
              <a:t>Confidential material pasted into a public model and retained outside your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Shadow AI</a:t>
            </a:r>
          </a:p>
          <a:p>
            <a:pPr algn="l">
              <a:spcAft>
                <a:spcPts val="300"/>
              </a:spcAft>
            </a:pPr>
            <a:r>
              <a:rPr sz="1200" b="0">
                <a:solidFill>
                  <a:srgbClr val="5B6372"/>
                </a:solidFill>
                <a:latin typeface="Arial"/>
              </a:rPr>
              <a:t>Staff using unapproved tools with company data, invisible to IT and compliance.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control</a:t>
            </a:r>
          </a:p>
          <a:p>
            <a:pPr algn="l">
              <a:spcAft>
                <a:spcPts val="300"/>
              </a:spcAft>
            </a:pPr>
            <a:r>
              <a:rPr sz="1200" b="0">
                <a:solidFill>
                  <a:srgbClr val="5B6372"/>
                </a:solidFill>
                <a:latin typeface="Arial"/>
              </a:rPr>
              <a:t>Assistants inheriting broad permissions and exposing data users should not see.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Hallucination</a:t>
            </a:r>
          </a:p>
          <a:p>
            <a:pPr algn="l">
              <a:spcAft>
                <a:spcPts val="300"/>
              </a:spcAft>
            </a:pPr>
            <a:r>
              <a:rPr sz="1200" b="0">
                <a:solidFill>
                  <a:srgbClr val="5B6372"/>
                </a:solidFill>
                <a:latin typeface="Arial"/>
              </a:rPr>
              <a:t>Confident, fluent output that is simply wrong — dangerous without a review step.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Vendor &amp; supply chain</a:t>
            </a:r>
          </a:p>
          <a:p>
            <a:pPr algn="l">
              <a:spcAft>
                <a:spcPts val="300"/>
              </a:spcAft>
            </a:pPr>
            <a:r>
              <a:rPr sz="1200" b="0">
                <a:solidFill>
                  <a:srgbClr val="5B6372"/>
                </a:solidFill>
                <a:latin typeface="Arial"/>
              </a:rPr>
              <a:t>Model, plugin and connector dependencies you do not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KPI SET</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Measuring and Reviewing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Adoption</a:t>
            </a:r>
          </a:p>
          <a:p>
            <a:pPr algn="l">
              <a:spcAft>
                <a:spcPts val="300"/>
              </a:spcAft>
            </a:pPr>
            <a:r>
              <a:rPr sz="1200" b="0">
                <a:solidFill>
                  <a:srgbClr val="5B6372"/>
                </a:solidFill>
                <a:latin typeface="Arial"/>
              </a:rPr>
              <a:t>Active users, tasks completed, share of the team using it weekly.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Efficiency</a:t>
            </a:r>
          </a:p>
          <a:p>
            <a:pPr algn="l">
              <a:spcAft>
                <a:spcPts val="300"/>
              </a:spcAft>
            </a:pPr>
            <a:r>
              <a:rPr sz="1200" b="0">
                <a:solidFill>
                  <a:srgbClr val="5B6372"/>
                </a:solidFill>
                <a:latin typeface="Arial"/>
              </a:rPr>
              <a:t>Cycle time and effort per task, against the pre-AI baseline.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a:t>
            </a:r>
          </a:p>
          <a:p>
            <a:pPr algn="l">
              <a:spcAft>
                <a:spcPts val="300"/>
              </a:spcAft>
            </a:pPr>
            <a:r>
              <a:rPr sz="1200" b="0">
                <a:solidFill>
                  <a:srgbClr val="5B6372"/>
                </a:solidFill>
                <a:latin typeface="Arial"/>
              </a:rPr>
              <a:t>Accuracy, rework rate and human-review pass rate.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a:t>
            </a:r>
          </a:p>
          <a:p>
            <a:pPr algn="l">
              <a:spcAft>
                <a:spcPts val="300"/>
              </a:spcAft>
            </a:pPr>
            <a:r>
              <a:rPr sz="1200" b="0">
                <a:solidFill>
                  <a:srgbClr val="5B6372"/>
                </a:solidFill>
                <a:latin typeface="Arial"/>
              </a:rPr>
              <a:t>Licence and inference cost per task versus the cost it replaced.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outcome</a:t>
            </a:r>
          </a:p>
          <a:p>
            <a:pPr algn="l">
              <a:spcAft>
                <a:spcPts val="300"/>
              </a:spcAft>
            </a:pPr>
            <a:r>
              <a:rPr sz="1200" b="0">
                <a:solidFill>
                  <a:srgbClr val="5B6372"/>
                </a:solidFill>
                <a:latin typeface="Arial"/>
              </a:rPr>
              <a:t>Revenue, retention, satisfaction or risk reduction actually moved.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Counter-metric</a:t>
            </a:r>
          </a:p>
          <a:p>
            <a:pPr algn="l">
              <a:spcAft>
                <a:spcPts val="300"/>
              </a:spcAft>
            </a:pPr>
            <a:r>
              <a:rPr sz="1200" b="0">
                <a:solidFill>
                  <a:srgbClr val="5B6372"/>
                </a:solidFill>
                <a:latin typeface="Arial"/>
              </a:rPr>
              <a:t>The measure that would reveal harm — errors, complaints, rework.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SECURITY GUARDRAILS · LAB 14</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Four Types of Guardrail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20824"/>
            <a:ext cx="68580" cy="25420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24028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45920" y="2240280"/>
            <a:ext cx="1369314" cy="548640"/>
          </a:xfrm>
          <a:prstGeom prst="rect">
            <a:avLst/>
          </a:prstGeom>
          <a:noFill/>
        </p:spPr>
        <p:txBody>
          <a:bodyPr wrap="square" anchor="t">
            <a:spAutoFit/>
          </a:bodyPr>
          <a:lstStyle/>
          <a:p>
            <a:pPr algn="l">
              <a:spcAft>
                <a:spcPts val="400"/>
              </a:spcAft>
            </a:pPr>
            <a:r>
              <a:rPr sz="1400" b="1">
                <a:solidFill>
                  <a:srgbClr val="1F6FEB"/>
                </a:solidFill>
                <a:latin typeface="Arial"/>
              </a:rPr>
              <a:t>INPUT</a:t>
            </a:r>
          </a:p>
        </p:txBody>
      </p:sp>
      <p:sp>
        <p:nvSpPr>
          <p:cNvPr id="12" name="TextBox 11"/>
          <p:cNvSpPr txBox="1"/>
          <p:nvPr/>
        </p:nvSpPr>
        <p:spPr>
          <a:xfrm>
            <a:off x="1069848"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What may never enter a prompt: personal data, customer records, unreleased financials, credentials, client-identifying material. Define which tools are approved for which data classification.</a:t>
            </a:r>
          </a:p>
        </p:txBody>
      </p:sp>
      <p:sp>
        <p:nvSpPr>
          <p:cNvPr id="13" name="Rounded Rectangle 12"/>
          <p:cNvSpPr/>
          <p:nvPr/>
        </p:nvSpPr>
        <p:spPr>
          <a:xfrm>
            <a:off x="3499866"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2020824"/>
            <a:ext cx="68580" cy="25420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74186" y="224028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4186"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368546" y="2240280"/>
            <a:ext cx="1369314" cy="548640"/>
          </a:xfrm>
          <a:prstGeom prst="rect">
            <a:avLst/>
          </a:prstGeom>
          <a:noFill/>
        </p:spPr>
        <p:txBody>
          <a:bodyPr wrap="square" anchor="t">
            <a:spAutoFit/>
          </a:bodyPr>
          <a:lstStyle/>
          <a:p>
            <a:pPr algn="l">
              <a:spcAft>
                <a:spcPts val="400"/>
              </a:spcAft>
            </a:pPr>
            <a:r>
              <a:rPr sz="1400" b="1">
                <a:solidFill>
                  <a:srgbClr val="10B981"/>
                </a:solidFill>
                <a:latin typeface="Arial"/>
              </a:rPr>
              <a:t>PROCESSING</a:t>
            </a:r>
          </a:p>
        </p:txBody>
      </p:sp>
      <p:sp>
        <p:nvSpPr>
          <p:cNvPr id="18" name="TextBox 17"/>
          <p:cNvSpPr txBox="1"/>
          <p:nvPr/>
        </p:nvSpPr>
        <p:spPr>
          <a:xfrm>
            <a:off x="3792474"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Prompt-injection defence: treat all retrieved or uploaded content as UNTRUSTED, never let retrieved text change the system instruction, and restrict which tools an agent may call.</a:t>
            </a:r>
          </a:p>
        </p:txBody>
      </p:sp>
      <p:sp>
        <p:nvSpPr>
          <p:cNvPr id="19" name="Rounded Rectangle 18"/>
          <p:cNvSpPr/>
          <p:nvPr/>
        </p:nvSpPr>
        <p:spPr>
          <a:xfrm>
            <a:off x="6222492"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2020824"/>
            <a:ext cx="68580" cy="25420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6812" y="224028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6812"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91172" y="2240280"/>
            <a:ext cx="1369314" cy="548640"/>
          </a:xfrm>
          <a:prstGeom prst="rect">
            <a:avLst/>
          </a:prstGeom>
          <a:noFill/>
        </p:spPr>
        <p:txBody>
          <a:bodyPr wrap="square" anchor="t">
            <a:spAutoFit/>
          </a:bodyPr>
          <a:lstStyle/>
          <a:p>
            <a:pPr algn="l">
              <a:spcAft>
                <a:spcPts val="400"/>
              </a:spcAft>
            </a:pPr>
            <a:r>
              <a:rPr sz="1400" b="1">
                <a:solidFill>
                  <a:srgbClr val="7C3AED"/>
                </a:solidFill>
                <a:latin typeface="Arial"/>
              </a:rPr>
              <a:t>OUTPUT</a:t>
            </a:r>
          </a:p>
        </p:txBody>
      </p:sp>
      <p:sp>
        <p:nvSpPr>
          <p:cNvPr id="24" name="TextBox 23"/>
          <p:cNvSpPr txBox="1"/>
          <p:nvPr/>
        </p:nvSpPr>
        <p:spPr>
          <a:xfrm>
            <a:off x="6515100"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Before anything is published: facts verified against a source, licence terms confirmed, brand and tone reviewed, AI disclosure applied where required.</a:t>
            </a:r>
          </a:p>
        </p:txBody>
      </p:sp>
      <p:sp>
        <p:nvSpPr>
          <p:cNvPr id="25" name="Rounded Rectangle 24"/>
          <p:cNvSpPr/>
          <p:nvPr/>
        </p:nvSpPr>
        <p:spPr>
          <a:xfrm>
            <a:off x="8945118" y="1965960"/>
            <a:ext cx="2466594" cy="265176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2020824"/>
            <a:ext cx="68580" cy="25420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19438" y="22402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19438" y="224028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813798" y="2240280"/>
            <a:ext cx="1369314" cy="548640"/>
          </a:xfrm>
          <a:prstGeom prst="rect">
            <a:avLst/>
          </a:prstGeom>
          <a:noFill/>
        </p:spPr>
        <p:txBody>
          <a:bodyPr wrap="square" anchor="t">
            <a:spAutoFit/>
          </a:bodyPr>
          <a:lstStyle/>
          <a:p>
            <a:pPr algn="l">
              <a:spcAft>
                <a:spcPts val="400"/>
              </a:spcAft>
            </a:pPr>
            <a:r>
              <a:rPr sz="1400" b="1">
                <a:solidFill>
                  <a:srgbClr val="F59E0B"/>
                </a:solidFill>
                <a:latin typeface="Arial"/>
              </a:rPr>
              <a:t>HUMAN-IN-THE-LOOP</a:t>
            </a:r>
          </a:p>
        </p:txBody>
      </p:sp>
      <p:sp>
        <p:nvSpPr>
          <p:cNvPr id="30" name="TextBox 29"/>
          <p:cNvSpPr txBox="1"/>
          <p:nvPr/>
        </p:nvSpPr>
        <p:spPr>
          <a:xfrm>
            <a:off x="9237726" y="2880360"/>
            <a:ext cx="1917954" cy="1554480"/>
          </a:xfrm>
          <a:prstGeom prst="rect">
            <a:avLst/>
          </a:prstGeom>
          <a:noFill/>
        </p:spPr>
        <p:txBody>
          <a:bodyPr wrap="square" anchor="t">
            <a:spAutoFit/>
          </a:bodyPr>
          <a:lstStyle/>
          <a:p>
            <a:pPr algn="l">
              <a:spcAft>
                <a:spcPts val="400"/>
              </a:spcAft>
            </a:pPr>
            <a:r>
              <a:rPr sz="1150" b="0">
                <a:solidFill>
                  <a:srgbClr val="161B26"/>
                </a:solidFill>
                <a:latin typeface="Arial"/>
              </a:rPr>
              <a:t>A named person approves wherever output is customer-facing, carries legal or financial weight, or cannot be reversed.</a:t>
            </a:r>
          </a:p>
        </p:txBody>
      </p:sp>
      <p:sp>
        <p:nvSpPr>
          <p:cNvPr id="31" name="Rounded Rectangle 30"/>
          <p:cNvSpPr/>
          <p:nvPr/>
        </p:nvSpPr>
        <p:spPr>
          <a:xfrm>
            <a:off x="777240" y="4846320"/>
            <a:ext cx="10634472" cy="1371600"/>
          </a:xfrm>
          <a:prstGeom prst="roundRect">
            <a:avLst>
              <a:gd name="adj" fmla="val 6000"/>
            </a:avLst>
          </a:prstGeom>
          <a:solidFill>
            <a:srgbClr val="F5F8FC"/>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992624"/>
            <a:ext cx="10085832" cy="310896"/>
          </a:xfrm>
          <a:prstGeom prst="rect">
            <a:avLst/>
          </a:prstGeom>
          <a:noFill/>
        </p:spPr>
        <p:txBody>
          <a:bodyPr wrap="square" anchor="t">
            <a:spAutoFit/>
          </a:bodyPr>
          <a:lstStyle/>
          <a:p>
            <a:pPr algn="l">
              <a:spcAft>
                <a:spcPts val="400"/>
              </a:spcAft>
            </a:pPr>
            <a:r>
              <a:rPr sz="1200" b="1">
                <a:solidFill>
                  <a:srgbClr val="DC2626"/>
                </a:solidFill>
                <a:latin typeface="Arial"/>
              </a:rPr>
              <a:t>THE RULE THAT MATTERS MOST</a:t>
            </a:r>
          </a:p>
        </p:txBody>
      </p:sp>
      <p:sp>
        <p:nvSpPr>
          <p:cNvPr id="33" name="TextBox 32"/>
          <p:cNvSpPr txBox="1"/>
          <p:nvPr/>
        </p:nvSpPr>
        <p:spPr>
          <a:xfrm>
            <a:off x="1051560" y="5349240"/>
            <a:ext cx="10085832" cy="777240"/>
          </a:xfrm>
          <a:prstGeom prst="rect">
            <a:avLst/>
          </a:prstGeom>
          <a:noFill/>
        </p:spPr>
        <p:txBody>
          <a:bodyPr wrap="square" anchor="t">
            <a:spAutoFit/>
          </a:bodyPr>
          <a:lstStyle/>
          <a:p>
            <a:pPr algn="l">
              <a:spcAft>
                <a:spcPts val="400"/>
              </a:spcAft>
            </a:pPr>
            <a:r>
              <a:rPr sz="1250" b="0">
                <a:solidFill>
                  <a:srgbClr val="161B26"/>
                </a:solidFill>
                <a:latin typeface="Arial"/>
              </a:rPr>
              <a:t>Put the human gate BEFORE the expensive, irreversible steps. Approving the script costs nothing; discovering the problem after the video is generated and published costs credits, money and reputation.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ETHICS PRINCIPLES · LAB 14</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AI Ethics — From Principle to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12080" cy="36576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83080"/>
            <a:ext cx="5212080" cy="502920"/>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5212080" cy="502920"/>
          </a:xfrm>
          <a:prstGeom prst="rect">
            <a:avLst/>
          </a:prstGeom>
          <a:noFill/>
        </p:spPr>
        <p:txBody>
          <a:bodyPr wrap="square" anchor="ctr">
            <a:spAutoFit/>
          </a:bodyPr>
          <a:lstStyle/>
          <a:p>
            <a:pPr algn="ctr">
              <a:spcAft>
                <a:spcPts val="400"/>
              </a:spcAft>
            </a:pPr>
            <a:r>
              <a:rPr sz="1400" b="1">
                <a:solidFill>
                  <a:srgbClr val="FFFFFF"/>
                </a:solidFill>
                <a:latin typeface="Arial"/>
              </a:rPr>
              <a:t>THE PRINCIPLE</a:t>
            </a:r>
          </a:p>
        </p:txBody>
      </p:sp>
      <p:sp>
        <p:nvSpPr>
          <p:cNvPr id="10" name="Oval 9"/>
          <p:cNvSpPr/>
          <p:nvPr/>
        </p:nvSpPr>
        <p:spPr>
          <a:xfrm>
            <a:off x="1051560" y="2638044"/>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99032" y="2450592"/>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Transparency — users know when AI is used.</a:t>
            </a:r>
          </a:p>
        </p:txBody>
      </p:sp>
      <p:sp>
        <p:nvSpPr>
          <p:cNvPr id="12" name="Oval 11"/>
          <p:cNvSpPr/>
          <p:nvPr/>
        </p:nvSpPr>
        <p:spPr>
          <a:xfrm>
            <a:off x="1051560" y="321411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032" y="3026664"/>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Fairness — no unjustified bias against any group.</a:t>
            </a:r>
          </a:p>
        </p:txBody>
      </p:sp>
      <p:sp>
        <p:nvSpPr>
          <p:cNvPr id="14" name="Oval 13"/>
          <p:cNvSpPr/>
          <p:nvPr/>
        </p:nvSpPr>
        <p:spPr>
          <a:xfrm>
            <a:off x="1051560" y="3790188"/>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99032" y="3602736"/>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Privacy — personal data protected and minimised.</a:t>
            </a:r>
          </a:p>
        </p:txBody>
      </p:sp>
      <p:sp>
        <p:nvSpPr>
          <p:cNvPr id="16" name="Oval 15"/>
          <p:cNvSpPr/>
          <p:nvPr/>
        </p:nvSpPr>
        <p:spPr>
          <a:xfrm>
            <a:off x="1051560" y="436626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99032" y="4178808"/>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Responsibility — a named human owns each outcome.</a:t>
            </a:r>
          </a:p>
        </p:txBody>
      </p:sp>
      <p:sp>
        <p:nvSpPr>
          <p:cNvPr id="18" name="Oval 17"/>
          <p:cNvSpPr/>
          <p:nvPr/>
        </p:nvSpPr>
        <p:spPr>
          <a:xfrm>
            <a:off x="1051560" y="494233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99032" y="4754880"/>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Auditability — decisions are logged and reviewable.</a:t>
            </a:r>
          </a:p>
        </p:txBody>
      </p:sp>
      <p:sp>
        <p:nvSpPr>
          <p:cNvPr id="20" name="Rounded Rectangle 19"/>
          <p:cNvSpPr/>
          <p:nvPr/>
        </p:nvSpPr>
        <p:spPr>
          <a:xfrm>
            <a:off x="6199632" y="1783080"/>
            <a:ext cx="5212080" cy="36576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99632" y="1783080"/>
            <a:ext cx="5212080" cy="502920"/>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9632" y="1783080"/>
            <a:ext cx="5212080" cy="502920"/>
          </a:xfrm>
          <a:prstGeom prst="rect">
            <a:avLst/>
          </a:prstGeom>
          <a:noFill/>
        </p:spPr>
        <p:txBody>
          <a:bodyPr wrap="square" anchor="ctr">
            <a:spAutoFit/>
          </a:bodyPr>
          <a:lstStyle/>
          <a:p>
            <a:pPr algn="ctr">
              <a:spcAft>
                <a:spcPts val="400"/>
              </a:spcAft>
            </a:pPr>
            <a:r>
              <a:rPr sz="1400" b="1">
                <a:solidFill>
                  <a:srgbClr val="FFFFFF"/>
                </a:solidFill>
                <a:latin typeface="Arial"/>
              </a:rPr>
              <a:t>WHAT IT LOOKS LIKE IN YOUR PIPELINE</a:t>
            </a:r>
          </a:p>
        </p:txBody>
      </p:sp>
      <p:sp>
        <p:nvSpPr>
          <p:cNvPr id="23" name="Oval 22"/>
          <p:cNvSpPr/>
          <p:nvPr/>
        </p:nvSpPr>
        <p:spPr>
          <a:xfrm>
            <a:off x="6473952" y="2638044"/>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21424" y="2450592"/>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Every AI-generated video carries an on-screen AI label.</a:t>
            </a:r>
          </a:p>
        </p:txBody>
      </p:sp>
      <p:sp>
        <p:nvSpPr>
          <p:cNvPr id="25" name="Oval 24"/>
          <p:cNvSpPr/>
          <p:nvPr/>
        </p:nvSpPr>
        <p:spPr>
          <a:xfrm>
            <a:off x="6473952" y="3214116"/>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1424" y="3026664"/>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Run the same prompt with two demographic framings and compare.</a:t>
            </a:r>
          </a:p>
        </p:txBody>
      </p:sp>
      <p:sp>
        <p:nvSpPr>
          <p:cNvPr id="27" name="Oval 26"/>
          <p:cNvSpPr/>
          <p:nvPr/>
        </p:nvSpPr>
        <p:spPr>
          <a:xfrm>
            <a:off x="6473952" y="3790188"/>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1424" y="3602736"/>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No customer data ever enters a public tool. Ever.</a:t>
            </a:r>
          </a:p>
        </p:txBody>
      </p:sp>
      <p:sp>
        <p:nvSpPr>
          <p:cNvPr id="29" name="Oval 28"/>
          <p:cNvSpPr/>
          <p:nvPr/>
        </p:nvSpPr>
        <p:spPr>
          <a:xfrm>
            <a:off x="6473952" y="4366260"/>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1424" y="4178808"/>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The approver's name is recorded on every published asset.</a:t>
            </a:r>
          </a:p>
        </p:txBody>
      </p:sp>
      <p:sp>
        <p:nvSpPr>
          <p:cNvPr id="31" name="Oval 30"/>
          <p:cNvSpPr/>
          <p:nvPr/>
        </p:nvSpPr>
        <p:spPr>
          <a:xfrm>
            <a:off x="6473952" y="494233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1424" y="4754880"/>
            <a:ext cx="4297680" cy="576072"/>
          </a:xfrm>
          <a:prstGeom prst="rect">
            <a:avLst/>
          </a:prstGeom>
          <a:noFill/>
        </p:spPr>
        <p:txBody>
          <a:bodyPr wrap="square" anchor="ctr">
            <a:spAutoFit/>
          </a:bodyPr>
          <a:lstStyle/>
          <a:p>
            <a:pPr algn="l">
              <a:spcAft>
                <a:spcPts val="400"/>
              </a:spcAft>
            </a:pPr>
            <a:r>
              <a:rPr sz="1200" b="0">
                <a:solidFill>
                  <a:srgbClr val="161B26"/>
                </a:solidFill>
                <a:latin typeface="Arial"/>
              </a:rPr>
              <a:t>Every workflow run is logged: input, output, approver, time.</a:t>
            </a:r>
          </a:p>
        </p:txBody>
      </p:sp>
      <p:sp>
        <p:nvSpPr>
          <p:cNvPr id="33" name="Rounded Rectangle 32"/>
          <p:cNvSpPr/>
          <p:nvPr/>
        </p:nvSpPr>
        <p:spPr>
          <a:xfrm>
            <a:off x="777240" y="5623560"/>
            <a:ext cx="10634472" cy="658368"/>
          </a:xfrm>
          <a:prstGeom prst="roundRect">
            <a:avLst>
              <a:gd name="adj" fmla="val 60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5623560"/>
            <a:ext cx="10058400" cy="658368"/>
          </a:xfrm>
          <a:prstGeom prst="rect">
            <a:avLst/>
          </a:prstGeom>
          <a:noFill/>
        </p:spPr>
        <p:txBody>
          <a:bodyPr wrap="square" anchor="ctr">
            <a:spAutoFit/>
          </a:bodyPr>
          <a:lstStyle/>
          <a:p>
            <a:pPr algn="l">
              <a:spcAft>
                <a:spcPts val="400"/>
              </a:spcAft>
            </a:pPr>
            <a:r>
              <a:rPr sz="1300" b="0">
                <a:solidFill>
                  <a:srgbClr val="161B26"/>
                </a:solidFill>
                <a:latin typeface="Arial"/>
              </a:rPr>
              <a:t>A principle without an observable behaviour is decoration. Write each one as something you could audit.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18 · AUTOMATING THE WHOLE PIPELINE</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Capstone — An Agentic Workflow with Human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1393806" cy="384048"/>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1</a:t>
            </a:r>
          </a:p>
        </p:txBody>
      </p:sp>
      <p:sp>
        <p:nvSpPr>
          <p:cNvPr id="10" name="TextBox 9"/>
          <p:cNvSpPr txBox="1"/>
          <p:nvPr/>
        </p:nvSpPr>
        <p:spPr>
          <a:xfrm>
            <a:off x="88696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Idea submitted</a:t>
            </a:r>
          </a:p>
        </p:txBody>
      </p:sp>
      <p:sp>
        <p:nvSpPr>
          <p:cNvPr id="11" name="TextBox 10"/>
          <p:cNvSpPr txBox="1"/>
          <p:nvPr/>
        </p:nvSpPr>
        <p:spPr>
          <a:xfrm>
            <a:off x="88696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n8n form
trigger</a:t>
            </a:r>
          </a:p>
        </p:txBody>
      </p:sp>
      <p:sp>
        <p:nvSpPr>
          <p:cNvPr id="12" name="TextBox 11"/>
          <p:cNvSpPr txBox="1"/>
          <p:nvPr/>
        </p:nvSpPr>
        <p:spPr>
          <a:xfrm>
            <a:off x="2152758" y="3044952"/>
            <a:ext cx="182880" cy="402336"/>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13" name="Rounded Rectangle 12"/>
          <p:cNvSpPr/>
          <p:nvPr/>
        </p:nvSpPr>
        <p:spPr>
          <a:xfrm>
            <a:off x="231735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317350" y="2103120"/>
            <a:ext cx="1393806" cy="384048"/>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1735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2</a:t>
            </a:r>
          </a:p>
        </p:txBody>
      </p:sp>
      <p:sp>
        <p:nvSpPr>
          <p:cNvPr id="16" name="TextBox 15"/>
          <p:cNvSpPr txBox="1"/>
          <p:nvPr/>
        </p:nvSpPr>
        <p:spPr>
          <a:xfrm>
            <a:off x="242707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Research agent</a:t>
            </a:r>
          </a:p>
        </p:txBody>
      </p:sp>
      <p:sp>
        <p:nvSpPr>
          <p:cNvPr id="17" name="TextBox 16"/>
          <p:cNvSpPr txBox="1"/>
          <p:nvPr/>
        </p:nvSpPr>
        <p:spPr>
          <a:xfrm>
            <a:off x="242707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web search
cited sources</a:t>
            </a:r>
          </a:p>
        </p:txBody>
      </p:sp>
      <p:sp>
        <p:nvSpPr>
          <p:cNvPr id="18" name="TextBox 17"/>
          <p:cNvSpPr txBox="1"/>
          <p:nvPr/>
        </p:nvSpPr>
        <p:spPr>
          <a:xfrm>
            <a:off x="3692868" y="3044952"/>
            <a:ext cx="182880" cy="402336"/>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9" name="Rounded Rectangle 18"/>
          <p:cNvSpPr/>
          <p:nvPr/>
        </p:nvSpPr>
        <p:spPr>
          <a:xfrm>
            <a:off x="385746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857460" y="2103120"/>
            <a:ext cx="1393806" cy="384048"/>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5746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3</a:t>
            </a:r>
          </a:p>
        </p:txBody>
      </p:sp>
      <p:sp>
        <p:nvSpPr>
          <p:cNvPr id="22" name="TextBox 21"/>
          <p:cNvSpPr txBox="1"/>
          <p:nvPr/>
        </p:nvSpPr>
        <p:spPr>
          <a:xfrm>
            <a:off x="396718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Evaluation agent</a:t>
            </a:r>
          </a:p>
        </p:txBody>
      </p:sp>
      <p:sp>
        <p:nvSpPr>
          <p:cNvPr id="23" name="TextBox 22"/>
          <p:cNvSpPr txBox="1"/>
          <p:nvPr/>
        </p:nvSpPr>
        <p:spPr>
          <a:xfrm>
            <a:off x="396718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scoring rubric
JSON verdict</a:t>
            </a:r>
          </a:p>
        </p:txBody>
      </p:sp>
      <p:sp>
        <p:nvSpPr>
          <p:cNvPr id="24" name="TextBox 23"/>
          <p:cNvSpPr txBox="1"/>
          <p:nvPr/>
        </p:nvSpPr>
        <p:spPr>
          <a:xfrm>
            <a:off x="5232978" y="3044952"/>
            <a:ext cx="182880" cy="402336"/>
          </a:xfrm>
          <a:prstGeom prst="rect">
            <a:avLst/>
          </a:prstGeom>
          <a:noFill/>
        </p:spPr>
        <p:txBody>
          <a:bodyPr wrap="square" anchor="ctr">
            <a:spAutoFit/>
          </a:bodyPr>
          <a:lstStyle/>
          <a:p>
            <a:pPr algn="ctr">
              <a:spcAft>
                <a:spcPts val="400"/>
              </a:spcAft>
            </a:pPr>
            <a:r>
              <a:rPr sz="1100" b="1">
                <a:solidFill>
                  <a:srgbClr val="7C3AED"/>
                </a:solidFill>
                <a:latin typeface="Arial"/>
              </a:rPr>
              <a:t>▶</a:t>
            </a:r>
          </a:p>
        </p:txBody>
      </p:sp>
      <p:sp>
        <p:nvSpPr>
          <p:cNvPr id="25" name="Rounded Rectangle 24"/>
          <p:cNvSpPr/>
          <p:nvPr/>
        </p:nvSpPr>
        <p:spPr>
          <a:xfrm>
            <a:off x="539757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97570" y="2103120"/>
            <a:ext cx="1393806" cy="384048"/>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757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4</a:t>
            </a:r>
          </a:p>
        </p:txBody>
      </p:sp>
      <p:sp>
        <p:nvSpPr>
          <p:cNvPr id="28" name="TextBox 27"/>
          <p:cNvSpPr txBox="1"/>
          <p:nvPr/>
        </p:nvSpPr>
        <p:spPr>
          <a:xfrm>
            <a:off x="550729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Canvas + script</a:t>
            </a:r>
          </a:p>
        </p:txBody>
      </p:sp>
      <p:sp>
        <p:nvSpPr>
          <p:cNvPr id="29" name="TextBox 28"/>
          <p:cNvSpPr txBox="1"/>
          <p:nvPr/>
        </p:nvSpPr>
        <p:spPr>
          <a:xfrm>
            <a:off x="550729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chained agents
structured output</a:t>
            </a:r>
          </a:p>
        </p:txBody>
      </p:sp>
      <p:sp>
        <p:nvSpPr>
          <p:cNvPr id="30" name="TextBox 29"/>
          <p:cNvSpPr txBox="1"/>
          <p:nvPr/>
        </p:nvSpPr>
        <p:spPr>
          <a:xfrm>
            <a:off x="6773088" y="3044952"/>
            <a:ext cx="182880" cy="402336"/>
          </a:xfrm>
          <a:prstGeom prst="rect">
            <a:avLst/>
          </a:prstGeom>
          <a:noFill/>
        </p:spPr>
        <p:txBody>
          <a:bodyPr wrap="square" anchor="ctr">
            <a:spAutoFit/>
          </a:bodyPr>
          <a:lstStyle/>
          <a:p>
            <a:pPr algn="ctr">
              <a:spcAft>
                <a:spcPts val="400"/>
              </a:spcAft>
            </a:pPr>
            <a:r>
              <a:rPr sz="1100" b="1">
                <a:solidFill>
                  <a:srgbClr val="F59E0B"/>
                </a:solidFill>
                <a:latin typeface="Arial"/>
              </a:rPr>
              <a:t>▶</a:t>
            </a:r>
          </a:p>
        </p:txBody>
      </p:sp>
      <p:sp>
        <p:nvSpPr>
          <p:cNvPr id="31" name="Rounded Rectangle 30"/>
          <p:cNvSpPr/>
          <p:nvPr/>
        </p:nvSpPr>
        <p:spPr>
          <a:xfrm>
            <a:off x="693768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37680" y="2103120"/>
            <a:ext cx="1393806" cy="384048"/>
          </a:xfrm>
          <a:prstGeom prst="roundRect">
            <a:avLst>
              <a:gd name="adj" fmla="val 6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3768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5</a:t>
            </a:r>
          </a:p>
        </p:txBody>
      </p:sp>
      <p:sp>
        <p:nvSpPr>
          <p:cNvPr id="34" name="TextBox 33"/>
          <p:cNvSpPr txBox="1"/>
          <p:nvPr/>
        </p:nvSpPr>
        <p:spPr>
          <a:xfrm>
            <a:off x="704740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HUMAN REVIEW</a:t>
            </a:r>
          </a:p>
        </p:txBody>
      </p:sp>
      <p:sp>
        <p:nvSpPr>
          <p:cNvPr id="35" name="TextBox 34"/>
          <p:cNvSpPr txBox="1"/>
          <p:nvPr/>
        </p:nvSpPr>
        <p:spPr>
          <a:xfrm>
            <a:off x="704740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approve · reject
request changes</a:t>
            </a:r>
          </a:p>
        </p:txBody>
      </p:sp>
      <p:sp>
        <p:nvSpPr>
          <p:cNvPr id="36" name="TextBox 35"/>
          <p:cNvSpPr txBox="1"/>
          <p:nvPr/>
        </p:nvSpPr>
        <p:spPr>
          <a:xfrm>
            <a:off x="8313198" y="3044952"/>
            <a:ext cx="182880" cy="402336"/>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37" name="Rounded Rectangle 36"/>
          <p:cNvSpPr/>
          <p:nvPr/>
        </p:nvSpPr>
        <p:spPr>
          <a:xfrm>
            <a:off x="847779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477790" y="2103120"/>
            <a:ext cx="1393806" cy="384048"/>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79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6</a:t>
            </a:r>
          </a:p>
        </p:txBody>
      </p:sp>
      <p:sp>
        <p:nvSpPr>
          <p:cNvPr id="40" name="TextBox 39"/>
          <p:cNvSpPr txBox="1"/>
          <p:nvPr/>
        </p:nvSpPr>
        <p:spPr>
          <a:xfrm>
            <a:off x="858751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Assets generated</a:t>
            </a:r>
          </a:p>
        </p:txBody>
      </p:sp>
      <p:sp>
        <p:nvSpPr>
          <p:cNvPr id="41" name="TextBox 40"/>
          <p:cNvSpPr txBox="1"/>
          <p:nvPr/>
        </p:nvSpPr>
        <p:spPr>
          <a:xfrm>
            <a:off x="858751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voice · music
video</a:t>
            </a:r>
          </a:p>
        </p:txBody>
      </p:sp>
      <p:sp>
        <p:nvSpPr>
          <p:cNvPr id="42" name="TextBox 41"/>
          <p:cNvSpPr txBox="1"/>
          <p:nvPr/>
        </p:nvSpPr>
        <p:spPr>
          <a:xfrm>
            <a:off x="9853308" y="3044952"/>
            <a:ext cx="182880" cy="402336"/>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3" name="Rounded Rectangle 42"/>
          <p:cNvSpPr/>
          <p:nvPr/>
        </p:nvSpPr>
        <p:spPr>
          <a:xfrm>
            <a:off x="10017900" y="2103120"/>
            <a:ext cx="1393806" cy="2286000"/>
          </a:xfrm>
          <a:prstGeom prst="roundRect">
            <a:avLst>
              <a:gd name="adj" fmla="val 6000"/>
            </a:avLst>
          </a:prstGeom>
          <a:solidFill>
            <a:srgbClr val="F5F8FC"/>
          </a:solidFill>
          <a:ln w="15875">
            <a:solidFill>
              <a:srgbClr val="E6EC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017900" y="2103120"/>
            <a:ext cx="1393806" cy="384048"/>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17900" y="2103120"/>
            <a:ext cx="1393806" cy="384048"/>
          </a:xfrm>
          <a:prstGeom prst="rect">
            <a:avLst/>
          </a:prstGeom>
          <a:noFill/>
        </p:spPr>
        <p:txBody>
          <a:bodyPr wrap="square" anchor="ctr">
            <a:spAutoFit/>
          </a:bodyPr>
          <a:lstStyle/>
          <a:p>
            <a:pPr algn="ctr">
              <a:spcAft>
                <a:spcPts val="400"/>
              </a:spcAft>
            </a:pPr>
            <a:r>
              <a:rPr sz="1000" b="1">
                <a:solidFill>
                  <a:srgbClr val="FFFFFF"/>
                </a:solidFill>
                <a:latin typeface="Arial"/>
              </a:rPr>
              <a:t>STAGE 7</a:t>
            </a:r>
          </a:p>
        </p:txBody>
      </p:sp>
      <p:sp>
        <p:nvSpPr>
          <p:cNvPr id="46" name="TextBox 45"/>
          <p:cNvSpPr txBox="1"/>
          <p:nvPr/>
        </p:nvSpPr>
        <p:spPr>
          <a:xfrm>
            <a:off x="10127628" y="2606040"/>
            <a:ext cx="1174350" cy="868680"/>
          </a:xfrm>
          <a:prstGeom prst="rect">
            <a:avLst/>
          </a:prstGeom>
          <a:noFill/>
        </p:spPr>
        <p:txBody>
          <a:bodyPr wrap="square" anchor="t">
            <a:spAutoFit/>
          </a:bodyPr>
          <a:lstStyle/>
          <a:p>
            <a:pPr algn="ctr">
              <a:spcAft>
                <a:spcPts val="400"/>
              </a:spcAft>
            </a:pPr>
            <a:r>
              <a:rPr sz="1250" b="1">
                <a:solidFill>
                  <a:srgbClr val="161B26"/>
                </a:solidFill>
                <a:latin typeface="Arial"/>
              </a:rPr>
              <a:t>Logged &amp; delivered</a:t>
            </a:r>
          </a:p>
        </p:txBody>
      </p:sp>
      <p:sp>
        <p:nvSpPr>
          <p:cNvPr id="47" name="TextBox 46"/>
          <p:cNvSpPr txBox="1"/>
          <p:nvPr/>
        </p:nvSpPr>
        <p:spPr>
          <a:xfrm>
            <a:off x="10127628" y="3520440"/>
            <a:ext cx="1174350" cy="777240"/>
          </a:xfrm>
          <a:prstGeom prst="rect">
            <a:avLst/>
          </a:prstGeom>
          <a:noFill/>
        </p:spPr>
        <p:txBody>
          <a:bodyPr wrap="square" anchor="t">
            <a:spAutoFit/>
          </a:bodyPr>
          <a:lstStyle/>
          <a:p>
            <a:pPr algn="ctr">
              <a:spcAft>
                <a:spcPts val="400"/>
              </a:spcAft>
            </a:pPr>
            <a:r>
              <a:rPr sz="950" b="0">
                <a:solidFill>
                  <a:srgbClr val="5B6372"/>
                </a:solidFill>
                <a:latin typeface="Arial"/>
              </a:rPr>
              <a:t>audit row
+ notification</a:t>
            </a:r>
          </a:p>
        </p:txBody>
      </p:sp>
      <p:sp>
        <p:nvSpPr>
          <p:cNvPr id="48" name="Rounded Rectangle 47"/>
          <p:cNvSpPr/>
          <p:nvPr/>
        </p:nvSpPr>
        <p:spPr>
          <a:xfrm>
            <a:off x="777240" y="4892040"/>
            <a:ext cx="10634472" cy="1234440"/>
          </a:xfrm>
          <a:prstGeom prst="roundRect">
            <a:avLst>
              <a:gd name="adj" fmla="val 60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4892040"/>
            <a:ext cx="9994392" cy="1234440"/>
          </a:xfrm>
          <a:prstGeom prst="rect">
            <a:avLst/>
          </a:prstGeom>
          <a:noFill/>
        </p:spPr>
        <p:txBody>
          <a:bodyPr wrap="square" anchor="ctr">
            <a:spAutoFit/>
          </a:bodyPr>
          <a:lstStyle/>
          <a:p>
            <a:pPr algn="l">
              <a:spcAft>
                <a:spcPts val="400"/>
              </a:spcAft>
            </a:pPr>
            <a:r>
              <a:rPr sz="1300" b="0">
                <a:solidFill>
                  <a:srgbClr val="161B26"/>
                </a:solidFill>
                <a:latin typeface="Arial"/>
              </a:rPr>
              <a:t>The workflow PAUSES at the human gate and only continues on approval — a rejection routes back to the script agent without spending a single video credit. A gate that cannot stop the process is not a gate.</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OPERATING LOOP</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AIM Framework for Implementing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 — investigate opportunities, evaluate viability and fit, pick the top use case</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IMPLEMENT — design the architecture, plan the pilot, build with governance from day one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MANAGE — measure against baseline, review, communicate, and feed new ideas back 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KEEPING IDEAS FLOWING</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Facilitating Stakeholder Information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Map the stakeholders</a:t>
            </a:r>
          </a:p>
          <a:p>
            <a:pPr algn="l">
              <a:spcAft>
                <a:spcPts val="300"/>
              </a:spcAft>
            </a:pPr>
            <a:r>
              <a:rPr sz="1200" b="0">
                <a:solidFill>
                  <a:srgbClr val="5B6372"/>
                </a:solidFill>
                <a:latin typeface="Arial"/>
              </a:rPr>
              <a:t>Plot influence against interest — sponsors, staff, IT, legal, customers.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Tailor the message</a:t>
            </a:r>
          </a:p>
          <a:p>
            <a:pPr algn="l">
              <a:spcAft>
                <a:spcPts val="300"/>
              </a:spcAft>
            </a:pPr>
            <a:r>
              <a:rPr sz="1200" b="0">
                <a:solidFill>
                  <a:srgbClr val="5B6372"/>
                </a:solidFill>
                <a:latin typeface="Arial"/>
              </a:rPr>
              <a:t>Executives need outcomes; affected staff need honesty about job impact.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Publish an AI use policy</a:t>
            </a:r>
          </a:p>
          <a:p>
            <a:pPr algn="l">
              <a:spcAft>
                <a:spcPts val="300"/>
              </a:spcAft>
            </a:pPr>
            <a:r>
              <a:rPr sz="1200" b="0">
                <a:solidFill>
                  <a:srgbClr val="5B6372"/>
                </a:solidFill>
                <a:latin typeface="Arial"/>
              </a:rPr>
              <a:t>Approved tools, prohibited data, disclosure rules and where to get help.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Build a community of practice</a:t>
            </a:r>
          </a:p>
          <a:p>
            <a:pPr algn="l">
              <a:spcAft>
                <a:spcPts val="300"/>
              </a:spcAft>
            </a:pPr>
            <a:r>
              <a:rPr sz="1200" b="0">
                <a:solidFill>
                  <a:srgbClr val="5B6372"/>
                </a:solidFill>
                <a:latin typeface="Arial"/>
              </a:rPr>
              <a:t>A channel and a monthly session where people share what worked.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Create an idea intake</a:t>
            </a:r>
          </a:p>
          <a:p>
            <a:pPr algn="l">
              <a:spcAft>
                <a:spcPts val="300"/>
              </a:spcAft>
            </a:pPr>
            <a:r>
              <a:rPr sz="1200" b="0">
                <a:solidFill>
                  <a:srgbClr val="5B6372"/>
                </a:solidFill>
                <a:latin typeface="Arial"/>
              </a:rPr>
              <a:t>A simple form so anyone can propose a use case.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Triage consistently</a:t>
            </a:r>
          </a:p>
          <a:p>
            <a:pPr algn="l">
              <a:spcAft>
                <a:spcPts val="300"/>
              </a:spcAft>
            </a:pPr>
            <a:r>
              <a:rPr sz="1200" b="0">
                <a:solidFill>
                  <a:srgbClr val="5B6372"/>
                </a:solidFill>
                <a:latin typeface="Arial"/>
              </a:rPr>
              <a:t>Score every submitted idea with the same rubric so the pipeline stays fair.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Hands-On Labs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146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74264" cy="548640"/>
          </a:xfrm>
          <a:prstGeom prst="rect">
            <a:avLst/>
          </a:prstGeom>
          <a:noFill/>
        </p:spPr>
        <p:txBody>
          <a:bodyPr wrap="square" anchor="t">
            <a:spAutoFit/>
          </a:bodyPr>
          <a:lstStyle/>
          <a:p>
            <a:pPr algn="l">
              <a:spcAft>
                <a:spcPts val="400"/>
              </a:spcAft>
            </a:pPr>
            <a:r>
              <a:rPr sz="1900" b="1">
                <a:solidFill>
                  <a:srgbClr val="1F6FEB"/>
                </a:solidFill>
                <a:latin typeface="Arial"/>
              </a:rPr>
              <a:t>Labs 13–14</a:t>
            </a:r>
          </a:p>
        </p:txBody>
      </p:sp>
      <p:sp>
        <p:nvSpPr>
          <p:cNvPr id="10" name="TextBox 9"/>
          <p:cNvSpPr txBox="1"/>
          <p:nvPr/>
        </p:nvSpPr>
        <p:spPr>
          <a:xfrm>
            <a:off x="1005840" y="2697480"/>
            <a:ext cx="2874264" cy="3108960"/>
          </a:xfrm>
          <a:prstGeom prst="rect">
            <a:avLst/>
          </a:prstGeom>
          <a:noFill/>
        </p:spPr>
        <p:txBody>
          <a:bodyPr wrap="square">
            <a:spAutoFit/>
          </a:bodyPr>
          <a:lstStyle/>
          <a:p>
            <a:pPr>
              <a:spcAft>
                <a:spcPts val="900"/>
              </a:spcAft>
            </a:pPr>
            <a:r>
              <a:rPr sz="1400" b="0">
                <a:solidFill>
                  <a:srgbClr val="161B26"/>
                </a:solidFill>
                <a:latin typeface="Arial"/>
              </a:rPr>
              <a:t>•  Risk-Assess Your Generative AI Pipeline</a:t>
            </a:r>
          </a:p>
          <a:p>
            <a:pPr>
              <a:spcAft>
                <a:spcPts val="900"/>
              </a:spcAft>
            </a:pPr>
            <a:r>
              <a:rPr sz="1400" b="0">
                <a:solidFill>
                  <a:srgbClr val="161B26"/>
                </a:solidFill>
                <a:latin typeface="Arial"/>
              </a:rPr>
              <a:t>•  Define Security Guardrails and AI Ethics Principles</a:t>
            </a:r>
          </a:p>
        </p:txBody>
      </p:sp>
      <p:sp>
        <p:nvSpPr>
          <p:cNvPr id="11" name="Rectangle 10"/>
          <p:cNvSpPr/>
          <p:nvPr/>
        </p:nvSpPr>
        <p:spPr>
          <a:xfrm>
            <a:off x="4428744"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8744" y="1783080"/>
            <a:ext cx="333146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7344" y="2011680"/>
            <a:ext cx="2874264" cy="548640"/>
          </a:xfrm>
          <a:prstGeom prst="rect">
            <a:avLst/>
          </a:prstGeom>
          <a:noFill/>
        </p:spPr>
        <p:txBody>
          <a:bodyPr wrap="square" anchor="t">
            <a:spAutoFit/>
          </a:bodyPr>
          <a:lstStyle/>
          <a:p>
            <a:pPr algn="l">
              <a:spcAft>
                <a:spcPts val="400"/>
              </a:spcAft>
            </a:pPr>
            <a:r>
              <a:rPr sz="1900" b="1">
                <a:solidFill>
                  <a:srgbClr val="10B981"/>
                </a:solidFill>
                <a:latin typeface="Arial"/>
              </a:rPr>
              <a:t>Labs 15–16</a:t>
            </a:r>
          </a:p>
        </p:txBody>
      </p:sp>
      <p:sp>
        <p:nvSpPr>
          <p:cNvPr id="14" name="TextBox 13"/>
          <p:cNvSpPr txBox="1"/>
          <p:nvPr/>
        </p:nvSpPr>
        <p:spPr>
          <a:xfrm>
            <a:off x="4657344" y="2697480"/>
            <a:ext cx="2874264" cy="3108960"/>
          </a:xfrm>
          <a:prstGeom prst="rect">
            <a:avLst/>
          </a:prstGeom>
          <a:noFill/>
        </p:spPr>
        <p:txBody>
          <a:bodyPr wrap="square">
            <a:spAutoFit/>
          </a:bodyPr>
          <a:lstStyle/>
          <a:p>
            <a:pPr>
              <a:spcAft>
                <a:spcPts val="900"/>
              </a:spcAft>
            </a:pPr>
            <a:r>
              <a:rPr sz="1400" b="0">
                <a:solidFill>
                  <a:srgbClr val="161B26"/>
                </a:solidFill>
                <a:latin typeface="Arial"/>
              </a:rPr>
              <a:t>•  Develop the Implementation Action Plan</a:t>
            </a:r>
          </a:p>
          <a:p>
            <a:pPr>
              <a:spcAft>
                <a:spcPts val="900"/>
              </a:spcAft>
            </a:pPr>
            <a:r>
              <a:rPr sz="1400" b="0">
                <a:solidFill>
                  <a:srgbClr val="161B26"/>
                </a:solidFill>
                <a:latin typeface="Arial"/>
              </a:rPr>
              <a:t>•  Measure and Review Innovation Success</a:t>
            </a:r>
          </a:p>
        </p:txBody>
      </p:sp>
      <p:sp>
        <p:nvSpPr>
          <p:cNvPr id="15" name="Rectangle 14"/>
          <p:cNvSpPr/>
          <p:nvPr/>
        </p:nvSpPr>
        <p:spPr>
          <a:xfrm>
            <a:off x="8080248" y="1783080"/>
            <a:ext cx="333146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0248" y="1783080"/>
            <a:ext cx="333146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8848" y="2011680"/>
            <a:ext cx="2874264" cy="548640"/>
          </a:xfrm>
          <a:prstGeom prst="rect">
            <a:avLst/>
          </a:prstGeom>
          <a:noFill/>
        </p:spPr>
        <p:txBody>
          <a:bodyPr wrap="square" anchor="t">
            <a:spAutoFit/>
          </a:bodyPr>
          <a:lstStyle/>
          <a:p>
            <a:pPr algn="l">
              <a:spcAft>
                <a:spcPts val="400"/>
              </a:spcAft>
            </a:pPr>
            <a:r>
              <a:rPr sz="1900" b="1">
                <a:solidFill>
                  <a:srgbClr val="7C3AED"/>
                </a:solidFill>
                <a:latin typeface="Arial"/>
              </a:rPr>
              <a:t>Labs 17–18</a:t>
            </a:r>
          </a:p>
        </p:txBody>
      </p:sp>
      <p:sp>
        <p:nvSpPr>
          <p:cNvPr id="18" name="TextBox 17"/>
          <p:cNvSpPr txBox="1"/>
          <p:nvPr/>
        </p:nvSpPr>
        <p:spPr>
          <a:xfrm>
            <a:off x="8308848" y="2697480"/>
            <a:ext cx="2874264" cy="3108960"/>
          </a:xfrm>
          <a:prstGeom prst="rect">
            <a:avLst/>
          </a:prstGeom>
          <a:noFill/>
        </p:spPr>
        <p:txBody>
          <a:bodyPr wrap="square">
            <a:spAutoFit/>
          </a:bodyPr>
          <a:lstStyle/>
          <a:p>
            <a:pPr>
              <a:spcAft>
                <a:spcPts val="900"/>
              </a:spcAft>
            </a:pPr>
            <a:r>
              <a:rPr sz="1400" b="0">
                <a:solidFill>
                  <a:srgbClr val="161B26"/>
                </a:solidFill>
                <a:latin typeface="Arial"/>
              </a:rPr>
              <a:t>•  Build the Stakeholder Communication and Idea-Sharing Plan</a:t>
            </a:r>
          </a:p>
          <a:p>
            <a:pPr>
              <a:spcAft>
                <a:spcPts val="900"/>
              </a:spcAft>
            </a:pPr>
            <a:r>
              <a:rPr sz="1400" b="0">
                <a:solidFill>
                  <a:srgbClr val="161B26"/>
                </a:solidFill>
                <a:latin typeface="Arial"/>
              </a:rPr>
              <a:t>•  CAPSTONE — Automate the Pipeline with an Agentic AI Workflow and Human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Risk-Assess Your Generative AI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Run a structured risk assessment over the ACTUAL pipeline you built in Labs 3-12 — the research, canvas, script, voice, music, video and deck — and turn every finding into a named, owned control.</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500" b="1">
                <a:solidFill>
                  <a:srgbClr val="161B26"/>
                </a:solidFill>
                <a:latin typeface="Arial"/>
              </a:rPr>
              <a:t>A risk register covering your own pipeline stage by stage: copyright, data protection, accuracy, disclosure and security, each with a specific control and an owner.</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Your Lab 3-11 artifacts, chat assistant, IMDA Model AI Governance Framework, PDPC guidelines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Risk-Assess Your Generative AI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pipeline stage has at least one identified risk with a specific owned control, your bias test is recorded with the actual prompts used, and you can state which of your generated assets are and are not safe to publish commercially.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Define Security Guardrails and AI Ethics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Convert the risks found in Lab 13 into a working governance layer: the ethics principles the organisation commits to, and the concrete guardrails that enforce them in practice.</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500" b="1">
                <a:solidFill>
                  <a:srgbClr val="161B26"/>
                </a:solidFill>
                <a:latin typeface="Arial"/>
              </a:rPr>
              <a:t>A one-page AI governance charter: eight ethics principles with what each means in practice, plus a guardrail table mapping each risk to an input, processing, output or human control.</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 assistant, IMDA Model AI Governance Framework, AI Verify, your Lab 13 risk register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Define Security Guardrails and AI Ethics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principle is written as an observable behaviour, every Lab 13 red or amber risk maps to a named guardrail with an owner, and your human-approval gates are specific about who approves what before publication.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 the Implementation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Convert the design and its governance into a costed, owned and sequenced 90-day plan a management team could approve and track.</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90-day action plan with phased milestones, owners, resources, dependencies, a risk register and numeric go/no-go criteria.</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or Google Sheets, chat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 the Implementation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milestone has a named owner role and date, the governance controls from Labs 13-14 appear as scheduled work, the risk register has five risks with mitigations, and the go/no-go criteria are numeric rather than subjective.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Measure and Review Innovation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Build the measurement system that shows whether the innovation actually worked, including the pre-AI baseline without which no improvement can be claimed.</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KPI dashboard defining baseline, target and review cadence across adoption, efficiency, quality, cost and business outcome, plus a counter-metric.</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or Google Sheets, chat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Measure and Review Innovation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KPI has a real baseline number and a data source, at least one counter-metric is present, and your review cadence names who meets, how often and what decision they can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Build the Stakeholder Communication and Idea-Sharing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Design how the innovation is communicated and how new ideas keep flowing after the pilot, so the initiative outlives its launch.</a:t>
            </a:r>
          </a:p>
        </p:txBody>
      </p:sp>
      <p:sp>
        <p:nvSpPr>
          <p:cNvPr id="10" name="Rectangle 9"/>
          <p:cNvSpPr/>
          <p:nvPr/>
        </p:nvSpPr>
        <p:spPr>
          <a:xfrm>
            <a:off x="777240" y="3950208"/>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621792"/>
          </a:xfrm>
          <a:prstGeom prst="rect">
            <a:avLst/>
          </a:prstGeom>
          <a:noFill/>
        </p:spPr>
        <p:txBody>
          <a:bodyPr wrap="square" anchor="t">
            <a:spAutoFit/>
          </a:bodyPr>
          <a:lstStyle/>
          <a:p>
            <a:pPr algn="l">
              <a:spcAft>
                <a:spcPts val="400"/>
              </a:spcAft>
            </a:pPr>
            <a:r>
              <a:rPr sz="1700" b="1">
                <a:solidFill>
                  <a:srgbClr val="161B26"/>
                </a:solidFill>
                <a:latin typeface="Arial"/>
              </a:rPr>
              <a:t>A stakeholder map, a tailored communication plan, the published one-page AI use policy, and a mechanism for capturing and triaging new ideas.</a:t>
            </a:r>
          </a:p>
        </p:txBody>
      </p:sp>
      <p:sp>
        <p:nvSpPr>
          <p:cNvPr id="13" name="TextBox 12"/>
          <p:cNvSpPr txBox="1"/>
          <p:nvPr/>
        </p:nvSpPr>
        <p:spPr>
          <a:xfrm>
            <a:off x="1005840" y="5120640"/>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 assistant, Gamma or Canva, Microsoft Teams or Slack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500" b="1">
                <a:solidFill>
                  <a:srgbClr val="161B26"/>
                </a:solidFill>
                <a:latin typeface="Arial"/>
              </a:rPr>
              <a:t>Build the Stakeholder Communication and Idea-Sharing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stakeholder group has a tailored message, channel, frequency and owner; the AI use policy fits one page and names prohibited data; and a submitted idea has a defined path to evaluation.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200" b="1">
                <a:solidFill>
                  <a:srgbClr val="161B26"/>
                </a:solidFill>
                <a:latin typeface="Arial"/>
              </a:rPr>
              <a:t>CAPSTONE — Automate the Pipeline with an Agentic AI Workflow and Human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capstone. Everything you did by hand in Labs 3-12 becomes an automated agentic workflow — research, canvas, script, assets and deck — with a HUMAN REVIEW GATE before anything is published, and the Lab 14 guardrails enforced in the flow.</a:t>
            </a:r>
          </a:p>
        </p:txBody>
      </p:sp>
      <p:sp>
        <p:nvSpPr>
          <p:cNvPr id="10" name="Rectangle 9"/>
          <p:cNvSpPr/>
          <p:nvPr/>
        </p:nvSpPr>
        <p:spPr>
          <a:xfrm>
            <a:off x="777240" y="3950208"/>
            <a:ext cx="10698480" cy="1892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932688"/>
          </a:xfrm>
          <a:prstGeom prst="rect">
            <a:avLst/>
          </a:prstGeom>
          <a:noFill/>
        </p:spPr>
        <p:txBody>
          <a:bodyPr wrap="square" anchor="t">
            <a:spAutoFit/>
          </a:bodyPr>
          <a:lstStyle/>
          <a:p>
            <a:pPr algn="l">
              <a:spcAft>
                <a:spcPts val="400"/>
              </a:spcAft>
            </a:pPr>
            <a:r>
              <a:rPr sz="1500" b="1">
                <a:solidFill>
                  <a:srgbClr val="161B26"/>
                </a:solidFill>
                <a:latin typeface="Arial"/>
              </a:rPr>
              <a:t>A working agentic workflow that takes a business idea as input, runs the research-to-content pipeline through AI agents, pauses for human approval, and delivers the finished asset set — with the run logged for audit.</a:t>
            </a:r>
          </a:p>
        </p:txBody>
      </p:sp>
      <p:sp>
        <p:nvSpPr>
          <p:cNvPr id="13" name="TextBox 12"/>
          <p:cNvSpPr txBox="1"/>
          <p:nvPr/>
        </p:nvSpPr>
        <p:spPr>
          <a:xfrm>
            <a:off x="1005840" y="5431536"/>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n8n (recommended), Make.com, Copilot Studio or Zapier; plus your Lab 3-11 tool accounts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200" b="1">
                <a:solidFill>
                  <a:srgbClr val="161B26"/>
                </a:solidFill>
                <a:latin typeface="Arial"/>
              </a:rPr>
              <a:t>CAPSTONE — Automate the Pipeline with an Agentic AI Workflow and Human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workflow runs from a submitted idea through research, evaluation, canvas and script; it PAUSES at the human review gate and only continues on approval; a rejection routes back without generating assets; every run is logged with the approver and timestamp; and you can point to where each Lab 14 guardrail is enforced.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6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06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1560" y="1912620"/>
            <a:ext cx="10515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12620"/>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1" name="TextBox 10"/>
          <p:cNvSpPr txBox="1"/>
          <p:nvPr/>
        </p:nvSpPr>
        <p:spPr>
          <a:xfrm>
            <a:off x="2331720" y="1783080"/>
            <a:ext cx="8869680" cy="606552"/>
          </a:xfrm>
          <a:prstGeom prst="rect">
            <a:avLst/>
          </a:prstGeom>
          <a:noFill/>
        </p:spPr>
        <p:txBody>
          <a:bodyPr wrap="square" anchor="ctr">
            <a:spAutoFit/>
          </a:bodyPr>
          <a:lstStyle/>
          <a:p>
            <a:pPr algn="l">
              <a:spcAft>
                <a:spcPts val="400"/>
              </a:spcAft>
            </a:pPr>
            <a:r>
              <a:rPr sz="1300" b="0">
                <a:solidFill>
                  <a:srgbClr val="161B26"/>
                </a:solidFill>
                <a:latin typeface="Arial"/>
              </a:rPr>
              <a:t>Identify and address legal, ethical and security issues in implementing business innovation with genai.</a:t>
            </a:r>
          </a:p>
        </p:txBody>
      </p:sp>
      <p:sp>
        <p:nvSpPr>
          <p:cNvPr id="12" name="Rectangle 11"/>
          <p:cNvSpPr/>
          <p:nvPr/>
        </p:nvSpPr>
        <p:spPr>
          <a:xfrm>
            <a:off x="777240" y="2535936"/>
            <a:ext cx="10634472" cy="606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5936"/>
            <a:ext cx="91440" cy="606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2665476"/>
            <a:ext cx="10515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665476"/>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6" name="TextBox 15"/>
          <p:cNvSpPr txBox="1"/>
          <p:nvPr/>
        </p:nvSpPr>
        <p:spPr>
          <a:xfrm>
            <a:off x="2331720" y="2535936"/>
            <a:ext cx="8869680" cy="606552"/>
          </a:xfrm>
          <a:prstGeom prst="rect">
            <a:avLst/>
          </a:prstGeom>
          <a:noFill/>
        </p:spPr>
        <p:txBody>
          <a:bodyPr wrap="square" anchor="ctr">
            <a:spAutoFit/>
          </a:bodyPr>
          <a:lstStyle/>
          <a:p>
            <a:pPr algn="l">
              <a:spcAft>
                <a:spcPts val="400"/>
              </a:spcAft>
            </a:pPr>
            <a:r>
              <a:rPr sz="1300" b="0">
                <a:solidFill>
                  <a:srgbClr val="161B26"/>
                </a:solidFill>
                <a:latin typeface="Arial"/>
              </a:rPr>
              <a:t>Establish the ethical principles and technical guardrails that govern generative ai use across the organisation.</a:t>
            </a:r>
          </a:p>
        </p:txBody>
      </p:sp>
      <p:sp>
        <p:nvSpPr>
          <p:cNvPr id="17" name="Rectangle 16"/>
          <p:cNvSpPr/>
          <p:nvPr/>
        </p:nvSpPr>
        <p:spPr>
          <a:xfrm>
            <a:off x="777240" y="3288792"/>
            <a:ext cx="10634472" cy="606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8792"/>
            <a:ext cx="91440" cy="606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1560" y="3418332"/>
            <a:ext cx="1051560" cy="347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418332"/>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TextBox 20"/>
          <p:cNvSpPr txBox="1"/>
          <p:nvPr/>
        </p:nvSpPr>
        <p:spPr>
          <a:xfrm>
            <a:off x="2331720" y="3288792"/>
            <a:ext cx="8869680" cy="606552"/>
          </a:xfrm>
          <a:prstGeom prst="rect">
            <a:avLst/>
          </a:prstGeom>
          <a:noFill/>
        </p:spPr>
        <p:txBody>
          <a:bodyPr wrap="square" anchor="ctr">
            <a:spAutoFit/>
          </a:bodyPr>
          <a:lstStyle/>
          <a:p>
            <a:pPr algn="l">
              <a:spcAft>
                <a:spcPts val="400"/>
              </a:spcAft>
            </a:pPr>
            <a:r>
              <a:rPr sz="1300" b="0">
                <a:solidFill>
                  <a:srgbClr val="161B26"/>
                </a:solidFill>
                <a:latin typeface="Arial"/>
              </a:rPr>
              <a:t>Apply best practices in the implementation process of business innovation, and develop a viable action plan in line with business strategy.</a:t>
            </a:r>
          </a:p>
        </p:txBody>
      </p:sp>
      <p:sp>
        <p:nvSpPr>
          <p:cNvPr id="22" name="Rectangle 21"/>
          <p:cNvSpPr/>
          <p:nvPr/>
        </p:nvSpPr>
        <p:spPr>
          <a:xfrm>
            <a:off x="777240" y="4041648"/>
            <a:ext cx="10634472" cy="606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41648"/>
            <a:ext cx="91440" cy="606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171188"/>
            <a:ext cx="1051560" cy="3474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71188"/>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6" name="TextBox 25"/>
          <p:cNvSpPr txBox="1"/>
          <p:nvPr/>
        </p:nvSpPr>
        <p:spPr>
          <a:xfrm>
            <a:off x="2331720" y="4041648"/>
            <a:ext cx="8869680" cy="606552"/>
          </a:xfrm>
          <a:prstGeom prst="rect">
            <a:avLst/>
          </a:prstGeom>
          <a:noFill/>
        </p:spPr>
        <p:txBody>
          <a:bodyPr wrap="square" anchor="ctr">
            <a:spAutoFit/>
          </a:bodyPr>
          <a:lstStyle/>
          <a:p>
            <a:pPr algn="l">
              <a:spcAft>
                <a:spcPts val="400"/>
              </a:spcAft>
            </a:pPr>
            <a:r>
              <a:rPr sz="1300" b="0">
                <a:solidFill>
                  <a:srgbClr val="161B26"/>
                </a:solidFill>
                <a:latin typeface="Arial"/>
              </a:rPr>
              <a:t>Manage business innovation and review the success of its integration with business strategy.</a:t>
            </a:r>
          </a:p>
        </p:txBody>
      </p:sp>
      <p:sp>
        <p:nvSpPr>
          <p:cNvPr id="27" name="Rectangle 26"/>
          <p:cNvSpPr/>
          <p:nvPr/>
        </p:nvSpPr>
        <p:spPr>
          <a:xfrm>
            <a:off x="777240" y="4794504"/>
            <a:ext cx="10634472" cy="606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94504"/>
            <a:ext cx="91440" cy="606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51560" y="4924044"/>
            <a:ext cx="10515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924044"/>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31" name="TextBox 30"/>
          <p:cNvSpPr txBox="1"/>
          <p:nvPr/>
        </p:nvSpPr>
        <p:spPr>
          <a:xfrm>
            <a:off x="2331720" y="4794504"/>
            <a:ext cx="8869680" cy="606552"/>
          </a:xfrm>
          <a:prstGeom prst="rect">
            <a:avLst/>
          </a:prstGeom>
          <a:noFill/>
        </p:spPr>
        <p:txBody>
          <a:bodyPr wrap="square" anchor="ctr">
            <a:spAutoFit/>
          </a:bodyPr>
          <a:lstStyle/>
          <a:p>
            <a:pPr algn="l">
              <a:spcAft>
                <a:spcPts val="400"/>
              </a:spcAft>
            </a:pPr>
            <a:r>
              <a:rPr sz="1300" b="0">
                <a:solidFill>
                  <a:srgbClr val="161B26"/>
                </a:solidFill>
                <a:latin typeface="Arial"/>
              </a:rPr>
              <a:t>Facilitate information flow among key stakeholders to empower sharing and development of innovative ideas.</a:t>
            </a:r>
          </a:p>
        </p:txBody>
      </p:sp>
      <p:sp>
        <p:nvSpPr>
          <p:cNvPr id="32" name="Rectangle 31"/>
          <p:cNvSpPr/>
          <p:nvPr/>
        </p:nvSpPr>
        <p:spPr>
          <a:xfrm>
            <a:off x="777240" y="5547360"/>
            <a:ext cx="10634472" cy="606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47360"/>
            <a:ext cx="91440" cy="606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51560" y="5676900"/>
            <a:ext cx="10515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76900"/>
            <a:ext cx="1051560" cy="34747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6" name="TextBox 35"/>
          <p:cNvSpPr txBox="1"/>
          <p:nvPr/>
        </p:nvSpPr>
        <p:spPr>
          <a:xfrm>
            <a:off x="2331720" y="5547360"/>
            <a:ext cx="8869680" cy="606552"/>
          </a:xfrm>
          <a:prstGeom prst="rect">
            <a:avLst/>
          </a:prstGeom>
          <a:noFill/>
        </p:spPr>
        <p:txBody>
          <a:bodyPr wrap="square" anchor="ctr">
            <a:spAutoFit/>
          </a:bodyPr>
          <a:lstStyle/>
          <a:p>
            <a:pPr algn="l">
              <a:spcAft>
                <a:spcPts val="400"/>
              </a:spcAft>
            </a:pPr>
            <a:r>
              <a:rPr sz="1300" b="0">
                <a:solidFill>
                  <a:srgbClr val="161B26"/>
                </a:solidFill>
                <a:latin typeface="Arial"/>
              </a:rPr>
              <a:t>Design and build an agentic workflow that automates the business innovation process end to end, with human review and governance built 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LO1 — Evaluated opportunities</a:t>
            </a:r>
          </a:p>
          <a:p>
            <a:pPr algn="l">
              <a:spcAft>
                <a:spcPts val="300"/>
              </a:spcAft>
            </a:pPr>
            <a:r>
              <a:rPr sz="1200" b="0">
                <a:solidFill>
                  <a:srgbClr val="5B6372"/>
                </a:solidFill>
                <a:latin typeface="Arial"/>
              </a:rPr>
              <a:t>Compared predictive and generative AI, mapped the tool landscape, researched real case studies and scored a prioritised opportunity register.</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LO2 — Designed and planned</a:t>
            </a:r>
          </a:p>
          <a:p>
            <a:pPr algn="l">
              <a:spcAft>
                <a:spcPts val="300"/>
              </a:spcAft>
            </a:pPr>
            <a:r>
              <a:rPr sz="1200" b="0">
                <a:solidFill>
                  <a:srgbClr val="5B6372"/>
                </a:solidFill>
                <a:latin typeface="Arial"/>
              </a:rPr>
              <a:t>Built an AI-powered Business Model Canvas, ran a Design Thinking sprint, designed a five-layer digital architecture, shipped an AI assistant and a GenAI video.</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LO3 — Implemented and managed</a:t>
            </a:r>
          </a:p>
          <a:p>
            <a:pPr algn="l">
              <a:spcAft>
                <a:spcPts val="300"/>
              </a:spcAft>
            </a:pPr>
            <a:r>
              <a:rPr sz="1200" b="0">
                <a:solidFill>
                  <a:srgbClr val="5B6372"/>
                </a:solidFill>
                <a:latin typeface="Arial"/>
              </a:rPr>
              <a:t>Produced a 90-day action plan, assessed legal/ethical/security risk, debated a real dilemma, built a KPI dashboard and a stakeholder communication plan.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TAKEAWAY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Start narrow. Measure the baseline. Govern from day one.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organisations that win with generative AI are not the ones with the most pilots — they are the ones that measured, governed and scaled the few that worked.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Your Next 30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Take your top-ranked opportunity from Lab 4 and socialise it with your sponsor.</a:t>
            </a:r>
          </a:p>
          <a:p>
            <a:pPr>
              <a:spcAft>
                <a:spcPts val="1000"/>
              </a:spcAft>
            </a:pPr>
            <a:r>
              <a:rPr sz="2000" b="0">
                <a:solidFill>
                  <a:srgbClr val="161B26"/>
                </a:solidFill>
                <a:latin typeface="Arial"/>
              </a:rPr>
              <a:t>•  Measure the pre-AI baseline for that task before you change anything.</a:t>
            </a:r>
          </a:p>
          <a:p>
            <a:pPr>
              <a:spcAft>
                <a:spcPts val="1000"/>
              </a:spcAft>
            </a:pPr>
            <a:r>
              <a:rPr sz="2000" b="0">
                <a:solidFill>
                  <a:srgbClr val="161B26"/>
                </a:solidFill>
                <a:latin typeface="Arial"/>
              </a:rPr>
              <a:t>•  Run the 90-day pilot plan from Lab 15 with the go/no-go criteria you defined.</a:t>
            </a:r>
          </a:p>
          <a:p>
            <a:pPr>
              <a:spcAft>
                <a:spcPts val="1000"/>
              </a:spcAft>
            </a:pPr>
            <a:r>
              <a:rPr sz="2000" b="0">
                <a:solidFill>
                  <a:srgbClr val="161B26"/>
                </a:solidFill>
                <a:latin typeface="Arial"/>
              </a:rPr>
              <a:t>•  Publish the one-page AI use policy from Lab 17 so staff know what is permitted.</a:t>
            </a:r>
          </a:p>
          <a:p>
            <a:pPr>
              <a:spcAft>
                <a:spcPts val="1000"/>
              </a:spcAft>
            </a:pPr>
            <a:r>
              <a:rPr sz="2000" b="0">
                <a:solidFill>
                  <a:srgbClr val="161B26"/>
                </a:solidFill>
                <a:latin typeface="Arial"/>
              </a:rPr>
              <a:t>•  Set up the idea intake and triage new use cases with the Lab 4 rubric.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CONTINUE YOUR LEARNING</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Recommended Follow-On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537667"/>
          </a:xfrm>
          <a:prstGeom prst="rect">
            <a:avLst/>
          </a:prstGeom>
          <a:noFill/>
        </p:spPr>
        <p:txBody>
          <a:bodyPr wrap="square" anchor="ctr">
            <a:spAutoFit/>
          </a:bodyPr>
          <a:lstStyle/>
          <a:p>
            <a:pPr algn="l">
              <a:spcAft>
                <a:spcPts val="400"/>
              </a:spcAft>
            </a:pPr>
            <a:r>
              <a:rPr sz="1400" b="0">
                <a:solidFill>
                  <a:srgbClr val="161B26"/>
                </a:solidFill>
                <a:latin typeface="Arial"/>
              </a:rPr>
              <a:t>Build Agentic AI and NLP Applications with Langflow</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796235"/>
            <a:ext cx="9427464" cy="537667"/>
          </a:xfrm>
          <a:prstGeom prst="rect">
            <a:avLst/>
          </a:prstGeom>
          <a:noFill/>
        </p:spPr>
        <p:txBody>
          <a:bodyPr wrap="square" anchor="ctr">
            <a:spAutoFit/>
          </a:bodyPr>
          <a:lstStyle/>
          <a:p>
            <a:pPr algn="l">
              <a:spcAft>
                <a:spcPts val="400"/>
              </a:spcAft>
            </a:pPr>
            <a:r>
              <a:rPr sz="1400" b="0">
                <a:solidFill>
                  <a:srgbClr val="161B26"/>
                </a:solidFill>
                <a:latin typeface="Arial"/>
              </a:rPr>
              <a:t>Build AI Agents and RAG Pipelines Without Code</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17950"/>
            <a:ext cx="9427464" cy="537667"/>
          </a:xfrm>
          <a:prstGeom prst="rect">
            <a:avLst/>
          </a:prstGeom>
          <a:noFill/>
        </p:spPr>
        <p:txBody>
          <a:bodyPr wrap="square" anchor="ctr">
            <a:spAutoFit/>
          </a:bodyPr>
          <a:lstStyle/>
          <a:p>
            <a:pPr algn="l">
              <a:spcAft>
                <a:spcPts val="400"/>
              </a:spcAft>
            </a:pPr>
            <a:r>
              <a:rPr sz="1400" b="0">
                <a:solidFill>
                  <a:srgbClr val="161B26"/>
                </a:solidFill>
                <a:latin typeface="Arial"/>
              </a:rPr>
              <a:t>Fundamentals of AI Ethics and Responsible AI</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39665"/>
            <a:ext cx="9427464" cy="537667"/>
          </a:xfrm>
          <a:prstGeom prst="rect">
            <a:avLst/>
          </a:prstGeom>
          <a:noFill/>
        </p:spPr>
        <p:txBody>
          <a:bodyPr wrap="square" anchor="ctr">
            <a:spAutoFit/>
          </a:bodyPr>
          <a:lstStyle/>
          <a:p>
            <a:pPr algn="l">
              <a:spcAft>
                <a:spcPts val="400"/>
              </a:spcAft>
            </a:pPr>
            <a:r>
              <a:rPr sz="1400" b="0">
                <a:solidFill>
                  <a:srgbClr val="161B26"/>
                </a:solidFill>
                <a:latin typeface="Arial"/>
              </a:rPr>
              <a:t>Mastering Prompt Engineering for Generative AI Content Creation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61380"/>
            <a:ext cx="9427464" cy="537667"/>
          </a:xfrm>
          <a:prstGeom prst="rect">
            <a:avLst/>
          </a:prstGeom>
          <a:noFill/>
        </p:spPr>
        <p:txBody>
          <a:bodyPr wrap="square" anchor="ctr">
            <a:spAutoFit/>
          </a:bodyPr>
          <a:lstStyle/>
          <a:p>
            <a:pPr algn="l">
              <a:spcAft>
                <a:spcPts val="400"/>
              </a:spcAft>
            </a:pPr>
            <a:r>
              <a:rPr sz="1400" b="0">
                <a:solidFill>
                  <a:srgbClr val="161B26"/>
                </a:solidFill>
                <a:latin typeface="Arial"/>
              </a:rPr>
              <a:t>Build LLM Applications Using Langchain and Flowise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WE'RE HERE TO HELP</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57200"/>
          </a:xfrm>
          <a:prstGeom prst="rect">
            <a:avLst/>
          </a:prstGeom>
          <a:noFill/>
        </p:spPr>
        <p:txBody>
          <a:bodyPr wrap="square" anchor="t">
            <a:spAutoFit/>
          </a:bodyPr>
          <a:lstStyle/>
          <a:p>
            <a:pPr algn="l">
              <a:spcAft>
                <a:spcPts val="400"/>
              </a:spcAft>
            </a:pPr>
            <a:r>
              <a:rPr sz="1700" b="0">
                <a:solidFill>
                  <a:srgbClr val="5B6372"/>
                </a:solidFill>
                <a:latin typeface="Arial"/>
              </a:rPr>
              <a:t>If you have any enquiries during or after the class, please contact us.</a:t>
            </a:r>
          </a:p>
        </p:txBody>
      </p:sp>
      <p:sp>
        <p:nvSpPr>
          <p:cNvPr id="8" name="Rectangle 7"/>
          <p:cNvSpPr/>
          <p:nvPr/>
        </p:nvSpPr>
        <p:spPr>
          <a:xfrm>
            <a:off x="777240" y="2514600"/>
            <a:ext cx="521208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51460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834640"/>
            <a:ext cx="4480560" cy="365760"/>
          </a:xfrm>
          <a:prstGeom prst="rect">
            <a:avLst/>
          </a:prstGeom>
          <a:noFill/>
        </p:spPr>
        <p:txBody>
          <a:bodyPr wrap="square" anchor="t">
            <a:spAutoFit/>
          </a:bodyPr>
          <a:lstStyle/>
          <a:p>
            <a:pPr algn="l">
              <a:spcAft>
                <a:spcPts val="400"/>
              </a:spcAft>
            </a:pPr>
            <a:r>
              <a:rPr sz="1200" b="1">
                <a:solidFill>
                  <a:srgbClr val="1F6FEB"/>
                </a:solidFill>
                <a:latin typeface="Arial"/>
              </a:rPr>
              <a:t>EMAIL</a:t>
            </a:r>
          </a:p>
        </p:txBody>
      </p:sp>
      <p:sp>
        <p:nvSpPr>
          <p:cNvPr id="11" name="TextBox 10"/>
          <p:cNvSpPr txBox="1"/>
          <p:nvPr/>
        </p:nvSpPr>
        <p:spPr>
          <a:xfrm>
            <a:off x="1143000" y="3246120"/>
            <a:ext cx="4480560" cy="640080"/>
          </a:xfrm>
          <a:prstGeom prst="rect">
            <a:avLst/>
          </a:prstGeom>
          <a:noFill/>
        </p:spPr>
        <p:txBody>
          <a:bodyPr wrap="square" anchor="t">
            <a:spAutoFit/>
          </a:bodyPr>
          <a:lstStyle/>
          <a:p>
            <a:pPr algn="l">
              <a:spcAft>
                <a:spcPts val="400"/>
              </a:spcAft>
            </a:pPr>
            <a:r>
              <a:rPr sz="1900" b="1">
                <a:solidFill>
                  <a:srgbClr val="161B26"/>
                </a:solidFill>
                <a:latin typeface="Arial"/>
              </a:rPr>
              <a:t>enquiry@tertiaryinfotech.com</a:t>
            </a:r>
          </a:p>
        </p:txBody>
      </p:sp>
      <p:sp>
        <p:nvSpPr>
          <p:cNvPr id="12" name="Rectangle 11"/>
          <p:cNvSpPr/>
          <p:nvPr/>
        </p:nvSpPr>
        <p:spPr>
          <a:xfrm>
            <a:off x="6199632" y="2514600"/>
            <a:ext cx="521208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51460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2834640"/>
            <a:ext cx="4480560" cy="365760"/>
          </a:xfrm>
          <a:prstGeom prst="rect">
            <a:avLst/>
          </a:prstGeom>
          <a:noFill/>
        </p:spPr>
        <p:txBody>
          <a:bodyPr wrap="square" anchor="t">
            <a:spAutoFit/>
          </a:bodyPr>
          <a:lstStyle/>
          <a:p>
            <a:pPr algn="l">
              <a:spcAft>
                <a:spcPts val="400"/>
              </a:spcAft>
            </a:pPr>
            <a:r>
              <a:rPr sz="1200" b="1">
                <a:solidFill>
                  <a:srgbClr val="10B981"/>
                </a:solidFill>
                <a:latin typeface="Arial"/>
              </a:rPr>
              <a:t>TELEPHONE</a:t>
            </a:r>
          </a:p>
        </p:txBody>
      </p:sp>
      <p:sp>
        <p:nvSpPr>
          <p:cNvPr id="15" name="TextBox 14"/>
          <p:cNvSpPr txBox="1"/>
          <p:nvPr/>
        </p:nvSpPr>
        <p:spPr>
          <a:xfrm>
            <a:off x="6565392" y="3246120"/>
            <a:ext cx="4480560" cy="640080"/>
          </a:xfrm>
          <a:prstGeom prst="rect">
            <a:avLst/>
          </a:prstGeom>
          <a:noFill/>
        </p:spPr>
        <p:txBody>
          <a:bodyPr wrap="square" anchor="t">
            <a:spAutoFit/>
          </a:bodyPr>
          <a:lstStyle/>
          <a:p>
            <a:pPr algn="l">
              <a:spcAft>
                <a:spcPts val="400"/>
              </a:spcAft>
            </a:pPr>
            <a:r>
              <a:rPr sz="1900" b="1">
                <a:solidFill>
                  <a:srgbClr val="161B26"/>
                </a:solidFill>
                <a:latin typeface="Arial"/>
              </a:rPr>
              <a:t>+65 6100 0613</a:t>
            </a:r>
          </a:p>
        </p:txBody>
      </p:sp>
      <p:sp>
        <p:nvSpPr>
          <p:cNvPr id="16" name="Rectangle 15"/>
          <p:cNvSpPr/>
          <p:nvPr/>
        </p:nvSpPr>
        <p:spPr>
          <a:xfrm>
            <a:off x="777240" y="4343400"/>
            <a:ext cx="521208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34340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663440"/>
            <a:ext cx="4480560" cy="365760"/>
          </a:xfrm>
          <a:prstGeom prst="rect">
            <a:avLst/>
          </a:prstGeom>
          <a:noFill/>
        </p:spPr>
        <p:txBody>
          <a:bodyPr wrap="square" anchor="t">
            <a:spAutoFit/>
          </a:bodyPr>
          <a:lstStyle/>
          <a:p>
            <a:pPr algn="l">
              <a:spcAft>
                <a:spcPts val="400"/>
              </a:spcAft>
            </a:pPr>
            <a:r>
              <a:rPr sz="1200" b="1">
                <a:solidFill>
                  <a:srgbClr val="7C3AED"/>
                </a:solidFill>
                <a:latin typeface="Arial"/>
              </a:rPr>
              <a:t>WEBSITE</a:t>
            </a:r>
          </a:p>
        </p:txBody>
      </p:sp>
      <p:sp>
        <p:nvSpPr>
          <p:cNvPr id="19" name="TextBox 18"/>
          <p:cNvSpPr txBox="1"/>
          <p:nvPr/>
        </p:nvSpPr>
        <p:spPr>
          <a:xfrm>
            <a:off x="1143000" y="5074920"/>
            <a:ext cx="4480560" cy="640080"/>
          </a:xfrm>
          <a:prstGeom prst="rect">
            <a:avLst/>
          </a:prstGeom>
          <a:noFill/>
        </p:spPr>
        <p:txBody>
          <a:bodyPr wrap="square" anchor="t">
            <a:spAutoFit/>
          </a:bodyPr>
          <a:lstStyle/>
          <a:p>
            <a:pPr algn="l">
              <a:spcAft>
                <a:spcPts val="400"/>
              </a:spcAft>
            </a:pPr>
            <a:r>
              <a:rPr sz="1900" b="1">
                <a:solidFill>
                  <a:srgbClr val="161B26"/>
                </a:solidFill>
                <a:latin typeface="Arial"/>
              </a:rPr>
              <a:t>www.tertiarycourses.com.sg</a:t>
            </a:r>
          </a:p>
        </p:txBody>
      </p:sp>
      <p:sp>
        <p:nvSpPr>
          <p:cNvPr id="20" name="Rectangle 19"/>
          <p:cNvSpPr/>
          <p:nvPr/>
        </p:nvSpPr>
        <p:spPr>
          <a:xfrm>
            <a:off x="6199632" y="4343400"/>
            <a:ext cx="521208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434340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663440"/>
            <a:ext cx="4480560" cy="365760"/>
          </a:xfrm>
          <a:prstGeom prst="rect">
            <a:avLst/>
          </a:prstGeom>
          <a:noFill/>
        </p:spPr>
        <p:txBody>
          <a:bodyPr wrap="square" anchor="t">
            <a:spAutoFit/>
          </a:bodyPr>
          <a:lstStyle/>
          <a:p>
            <a:pPr algn="l">
              <a:spcAft>
                <a:spcPts val="400"/>
              </a:spcAft>
            </a:pPr>
            <a:r>
              <a:rPr sz="1200" b="1">
                <a:solidFill>
                  <a:srgbClr val="F59E0B"/>
                </a:solidFill>
                <a:latin typeface="Arial"/>
              </a:rPr>
              <a:t>LMS / TMS</a:t>
            </a:r>
          </a:p>
        </p:txBody>
      </p:sp>
      <p:sp>
        <p:nvSpPr>
          <p:cNvPr id="23" name="TextBox 22"/>
          <p:cNvSpPr txBox="1"/>
          <p:nvPr/>
        </p:nvSpPr>
        <p:spPr>
          <a:xfrm>
            <a:off x="6565392" y="5074920"/>
            <a:ext cx="4480560" cy="640080"/>
          </a:xfrm>
          <a:prstGeom prst="rect">
            <a:avLst/>
          </a:prstGeom>
          <a:noFill/>
        </p:spPr>
        <p:txBody>
          <a:bodyPr wrap="square" anchor="t">
            <a:spAutoFit/>
          </a:bodyPr>
          <a:lstStyle/>
          <a:p>
            <a:pPr algn="l">
              <a:spcAft>
                <a:spcPts val="400"/>
              </a:spcAft>
            </a:pPr>
            <a:r>
              <a:rPr sz="1900" b="1">
                <a:solidFill>
                  <a:srgbClr val="161B26"/>
                </a:solidFill>
                <a:latin typeface="Arial"/>
              </a:rPr>
              <a:t>lms-tms.tertiaryinfotech.com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LEAVE</a:t>
            </a:r>
          </a:p>
        </p:txBody>
      </p:sp>
      <p:sp>
        <p:nvSpPr>
          <p:cNvPr id="5" name="TextBox 4"/>
          <p:cNvSpPr txBox="1"/>
          <p:nvPr/>
        </p:nvSpPr>
        <p:spPr>
          <a:xfrm>
            <a:off x="777240" y="786384"/>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20040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0040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17320" y="2240280"/>
            <a:ext cx="1920240" cy="1920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30680" y="2453640"/>
            <a:ext cx="640080" cy="64008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12036" y="2634996"/>
            <a:ext cx="277368" cy="277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10840" y="2453640"/>
            <a:ext cx="640080" cy="64008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92196" y="2634996"/>
            <a:ext cx="277368" cy="277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30680" y="3733800"/>
            <a:ext cx="640080" cy="64008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12036" y="3915156"/>
            <a:ext cx="277368" cy="277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84120" y="288036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80" y="309372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84120" y="330708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10840" y="330708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70760" y="352044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97480" y="352044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10840" y="373380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484120" y="373380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57400" y="330708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910840" y="288036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70760" y="309372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97480" y="394716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24200" y="352044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57400" y="373380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10840" y="416052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37560" y="373380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484120" y="4160520"/>
            <a:ext cx="213360" cy="2133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343400"/>
            <a:ext cx="3017520" cy="457200"/>
          </a:xfrm>
          <a:prstGeom prst="rect">
            <a:avLst/>
          </a:prstGeom>
          <a:noFill/>
        </p:spPr>
        <p:txBody>
          <a:bodyPr wrap="square" anchor="t">
            <a:spAutoFit/>
          </a:bodyPr>
          <a:lstStyle/>
          <a:p>
            <a:pPr algn="ctr">
              <a:spcAft>
                <a:spcPts val="400"/>
              </a:spcAft>
            </a:pPr>
            <a:r>
              <a:rPr sz="1500" b="1">
                <a:solidFill>
                  <a:srgbClr val="161B26"/>
                </a:solidFill>
                <a:latin typeface="Arial"/>
              </a:rPr>
              <a:t>Scan the feedback QR code</a:t>
            </a:r>
          </a:p>
        </p:txBody>
      </p:sp>
      <p:sp>
        <p:nvSpPr>
          <p:cNvPr id="34" name="TextBox 33"/>
          <p:cNvSpPr txBox="1"/>
          <p:nvPr/>
        </p:nvSpPr>
        <p:spPr>
          <a:xfrm>
            <a:off x="868680" y="4800600"/>
            <a:ext cx="3017520" cy="1097280"/>
          </a:xfrm>
          <a:prstGeom prst="rect">
            <a:avLst/>
          </a:prstGeom>
          <a:noFill/>
        </p:spPr>
        <p:txBody>
          <a:bodyPr wrap="square" anchor="t">
            <a:spAutoFit/>
          </a:bodyPr>
          <a:lstStyle/>
          <a:p>
            <a:pPr algn="ctr">
              <a:spcAft>
                <a:spcPts val="400"/>
              </a:spcAft>
            </a:pPr>
            <a:r>
              <a:rPr sz="1200" b="0">
                <a:solidFill>
                  <a:srgbClr val="5B6372"/>
                </a:solidFill>
                <a:latin typeface="Arial"/>
              </a:rPr>
              <a:t>Displayed by your trainer at the end of the course.</a:t>
            </a:r>
          </a:p>
        </p:txBody>
      </p:sp>
      <p:sp>
        <p:nvSpPr>
          <p:cNvPr id="35" name="Rectangle 34"/>
          <p:cNvSpPr/>
          <p:nvPr/>
        </p:nvSpPr>
        <p:spPr>
          <a:xfrm>
            <a:off x="4343400" y="1783080"/>
            <a:ext cx="7068312" cy="923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43400" y="1783080"/>
            <a:ext cx="91440" cy="923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17720" y="2043684"/>
            <a:ext cx="1417320" cy="402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17720" y="2043684"/>
            <a:ext cx="1417320" cy="402336"/>
          </a:xfrm>
          <a:prstGeom prst="rect">
            <a:avLst/>
          </a:prstGeom>
          <a:noFill/>
        </p:spPr>
        <p:txBody>
          <a:bodyPr wrap="square" anchor="ctr">
            <a:spAutoFit/>
          </a:bodyPr>
          <a:lstStyle/>
          <a:p>
            <a:pPr algn="ctr">
              <a:spcAft>
                <a:spcPts val="400"/>
              </a:spcAft>
            </a:pPr>
            <a:r>
              <a:rPr sz="1200" b="1">
                <a:solidFill>
                  <a:srgbClr val="FFFFFF"/>
                </a:solidFill>
                <a:latin typeface="Arial"/>
              </a:rPr>
              <a:t>LIKED</a:t>
            </a:r>
          </a:p>
        </p:txBody>
      </p:sp>
      <p:sp>
        <p:nvSpPr>
          <p:cNvPr id="39" name="TextBox 38"/>
          <p:cNvSpPr txBox="1"/>
          <p:nvPr/>
        </p:nvSpPr>
        <p:spPr>
          <a:xfrm>
            <a:off x="6263640" y="1783080"/>
            <a:ext cx="4828032" cy="923544"/>
          </a:xfrm>
          <a:prstGeom prst="rect">
            <a:avLst/>
          </a:prstGeom>
          <a:noFill/>
        </p:spPr>
        <p:txBody>
          <a:bodyPr wrap="square" anchor="ctr">
            <a:spAutoFit/>
          </a:bodyPr>
          <a:lstStyle/>
          <a:p>
            <a:pPr algn="l">
              <a:spcAft>
                <a:spcPts val="400"/>
              </a:spcAft>
            </a:pPr>
            <a:r>
              <a:rPr sz="1500" b="0">
                <a:solidFill>
                  <a:srgbClr val="161B26"/>
                </a:solidFill>
                <a:latin typeface="Arial"/>
              </a:rPr>
              <a:t>Tell us what worked well for you.</a:t>
            </a:r>
          </a:p>
        </p:txBody>
      </p:sp>
      <p:sp>
        <p:nvSpPr>
          <p:cNvPr id="40" name="Rectangle 39"/>
          <p:cNvSpPr/>
          <p:nvPr/>
        </p:nvSpPr>
        <p:spPr>
          <a:xfrm>
            <a:off x="4343400" y="2907792"/>
            <a:ext cx="7068312" cy="923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43400" y="2907792"/>
            <a:ext cx="91440" cy="923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17720" y="3168396"/>
            <a:ext cx="141732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17720" y="3168396"/>
            <a:ext cx="1417320" cy="402336"/>
          </a:xfrm>
          <a:prstGeom prst="rect">
            <a:avLst/>
          </a:prstGeom>
          <a:noFill/>
        </p:spPr>
        <p:txBody>
          <a:bodyPr wrap="square" anchor="ctr">
            <a:spAutoFit/>
          </a:bodyPr>
          <a:lstStyle/>
          <a:p>
            <a:pPr algn="ctr">
              <a:spcAft>
                <a:spcPts val="400"/>
              </a:spcAft>
            </a:pPr>
            <a:r>
              <a:rPr sz="1200" b="1">
                <a:solidFill>
                  <a:srgbClr val="FFFFFF"/>
                </a:solidFill>
                <a:latin typeface="Arial"/>
              </a:rPr>
              <a:t>IMPROVE</a:t>
            </a:r>
          </a:p>
        </p:txBody>
      </p:sp>
      <p:sp>
        <p:nvSpPr>
          <p:cNvPr id="44" name="TextBox 43"/>
          <p:cNvSpPr txBox="1"/>
          <p:nvPr/>
        </p:nvSpPr>
        <p:spPr>
          <a:xfrm>
            <a:off x="6263640" y="2907792"/>
            <a:ext cx="4828032" cy="923544"/>
          </a:xfrm>
          <a:prstGeom prst="rect">
            <a:avLst/>
          </a:prstGeom>
          <a:noFill/>
        </p:spPr>
        <p:txBody>
          <a:bodyPr wrap="square" anchor="ctr">
            <a:spAutoFit/>
          </a:bodyPr>
          <a:lstStyle/>
          <a:p>
            <a:pPr algn="l">
              <a:spcAft>
                <a:spcPts val="400"/>
              </a:spcAft>
            </a:pPr>
            <a:r>
              <a:rPr sz="1500" b="0">
                <a:solidFill>
                  <a:srgbClr val="161B26"/>
                </a:solidFill>
                <a:latin typeface="Arial"/>
              </a:rPr>
              <a:t>Tell us what we could do better.</a:t>
            </a:r>
          </a:p>
        </p:txBody>
      </p:sp>
      <p:sp>
        <p:nvSpPr>
          <p:cNvPr id="45" name="Rectangle 44"/>
          <p:cNvSpPr/>
          <p:nvPr/>
        </p:nvSpPr>
        <p:spPr>
          <a:xfrm>
            <a:off x="4343400" y="4032504"/>
            <a:ext cx="7068312" cy="923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343400" y="4032504"/>
            <a:ext cx="91440" cy="923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617720" y="4293108"/>
            <a:ext cx="1417320" cy="402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17720" y="4293108"/>
            <a:ext cx="1417320" cy="402336"/>
          </a:xfrm>
          <a:prstGeom prst="rect">
            <a:avLst/>
          </a:prstGeom>
          <a:noFill/>
        </p:spPr>
        <p:txBody>
          <a:bodyPr wrap="square" anchor="ctr">
            <a:spAutoFit/>
          </a:bodyPr>
          <a:lstStyle/>
          <a:p>
            <a:pPr algn="ctr">
              <a:spcAft>
                <a:spcPts val="400"/>
              </a:spcAft>
            </a:pPr>
            <a:r>
              <a:rPr sz="1200" b="1">
                <a:solidFill>
                  <a:srgbClr val="FFFFFF"/>
                </a:solidFill>
                <a:latin typeface="Arial"/>
              </a:rPr>
              <a:t>APPLY</a:t>
            </a:r>
          </a:p>
        </p:txBody>
      </p:sp>
      <p:sp>
        <p:nvSpPr>
          <p:cNvPr id="49" name="TextBox 48"/>
          <p:cNvSpPr txBox="1"/>
          <p:nvPr/>
        </p:nvSpPr>
        <p:spPr>
          <a:xfrm>
            <a:off x="6263640" y="4032504"/>
            <a:ext cx="4828032" cy="923544"/>
          </a:xfrm>
          <a:prstGeom prst="rect">
            <a:avLst/>
          </a:prstGeom>
          <a:noFill/>
        </p:spPr>
        <p:txBody>
          <a:bodyPr wrap="square" anchor="ctr">
            <a:spAutoFit/>
          </a:bodyPr>
          <a:lstStyle/>
          <a:p>
            <a:pPr algn="l">
              <a:spcAft>
                <a:spcPts val="400"/>
              </a:spcAft>
            </a:pPr>
            <a:r>
              <a:rPr sz="1500" b="0">
                <a:solidFill>
                  <a:srgbClr val="161B26"/>
                </a:solidFill>
                <a:latin typeface="Arial"/>
              </a:rPr>
              <a:t>Share how you will use AI agents at work.</a:t>
            </a:r>
          </a:p>
        </p:txBody>
      </p:sp>
      <p:sp>
        <p:nvSpPr>
          <p:cNvPr id="50" name="Rectangle 49"/>
          <p:cNvSpPr/>
          <p:nvPr/>
        </p:nvSpPr>
        <p:spPr>
          <a:xfrm>
            <a:off x="4343400" y="5157216"/>
            <a:ext cx="7068312" cy="923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43400" y="5157216"/>
            <a:ext cx="91440" cy="923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617720" y="5417820"/>
            <a:ext cx="141732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17720" y="5417820"/>
            <a:ext cx="1417320" cy="402336"/>
          </a:xfrm>
          <a:prstGeom prst="rect">
            <a:avLst/>
          </a:prstGeom>
          <a:noFill/>
        </p:spPr>
        <p:txBody>
          <a:bodyPr wrap="square" anchor="ctr">
            <a:spAutoFit/>
          </a:bodyPr>
          <a:lstStyle/>
          <a:p>
            <a:pPr algn="ctr">
              <a:spcAft>
                <a:spcPts val="400"/>
              </a:spcAft>
            </a:pPr>
            <a:r>
              <a:rPr sz="1200" b="1">
                <a:solidFill>
                  <a:srgbClr val="FFFFFF"/>
                </a:solidFill>
                <a:latin typeface="Arial"/>
              </a:rPr>
              <a:t>2 MIN</a:t>
            </a:r>
          </a:p>
        </p:txBody>
      </p:sp>
      <p:sp>
        <p:nvSpPr>
          <p:cNvPr id="54" name="TextBox 53"/>
          <p:cNvSpPr txBox="1"/>
          <p:nvPr/>
        </p:nvSpPr>
        <p:spPr>
          <a:xfrm>
            <a:off x="6263640" y="5157216"/>
            <a:ext cx="4828032" cy="923544"/>
          </a:xfrm>
          <a:prstGeom prst="rect">
            <a:avLst/>
          </a:prstGeom>
          <a:noFill/>
        </p:spPr>
        <p:txBody>
          <a:bodyPr wrap="square" anchor="ctr">
            <a:spAutoFit/>
          </a:bodyPr>
          <a:lstStyle/>
          <a:p>
            <a:pPr algn="l">
              <a:spcAft>
                <a:spcPts val="400"/>
              </a:spcAft>
            </a:pPr>
            <a:r>
              <a:rPr sz="1500" b="0">
                <a:solidFill>
                  <a:srgbClr val="161B26"/>
                </a:solidFill>
                <a:latin typeface="Arial"/>
              </a:rPr>
              <a:t>Your feedback shapes the next run of this course.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evaluate, design, implement and govern business innovation with generative AI in your own organisation.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Transformation with AI Agents  ·  C997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